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90"/>
  </p:notesMasterIdLst>
  <p:handoutMasterIdLst>
    <p:handoutMasterId r:id="rId91"/>
  </p:handoutMasterIdLst>
  <p:sldIdLst>
    <p:sldId id="833" r:id="rId2"/>
    <p:sldId id="990" r:id="rId3"/>
    <p:sldId id="1105" r:id="rId4"/>
    <p:sldId id="1153" r:id="rId5"/>
    <p:sldId id="1018" r:id="rId6"/>
    <p:sldId id="1152" r:id="rId7"/>
    <p:sldId id="1028" r:id="rId8"/>
    <p:sldId id="1050" r:id="rId9"/>
    <p:sldId id="1069" r:id="rId10"/>
    <p:sldId id="1052" r:id="rId11"/>
    <p:sldId id="1074" r:id="rId12"/>
    <p:sldId id="1053" r:id="rId13"/>
    <p:sldId id="1073" r:id="rId14"/>
    <p:sldId id="1026" r:id="rId15"/>
    <p:sldId id="1097" r:id="rId16"/>
    <p:sldId id="1106" r:id="rId17"/>
    <p:sldId id="1099" r:id="rId18"/>
    <p:sldId id="1107" r:id="rId19"/>
    <p:sldId id="1116" r:id="rId20"/>
    <p:sldId id="1096" r:id="rId21"/>
    <p:sldId id="1011" r:id="rId22"/>
    <p:sldId id="1067" r:id="rId23"/>
    <p:sldId id="1068" r:id="rId24"/>
    <p:sldId id="1075" r:id="rId25"/>
    <p:sldId id="1076" r:id="rId26"/>
    <p:sldId id="1071" r:id="rId27"/>
    <p:sldId id="1079" r:id="rId28"/>
    <p:sldId id="1061" r:id="rId29"/>
    <p:sldId id="1080" r:id="rId30"/>
    <p:sldId id="1083" r:id="rId31"/>
    <p:sldId id="1084" r:id="rId32"/>
    <p:sldId id="1081" r:id="rId33"/>
    <p:sldId id="1082" r:id="rId34"/>
    <p:sldId id="1086" r:id="rId35"/>
    <p:sldId id="1085" r:id="rId36"/>
    <p:sldId id="1087" r:id="rId37"/>
    <p:sldId id="1088" r:id="rId38"/>
    <p:sldId id="1161" r:id="rId39"/>
    <p:sldId id="1054" r:id="rId40"/>
    <p:sldId id="1148" r:id="rId41"/>
    <p:sldId id="1150" r:id="rId42"/>
    <p:sldId id="1155" r:id="rId43"/>
    <p:sldId id="1157" r:id="rId44"/>
    <p:sldId id="1151" r:id="rId45"/>
    <p:sldId id="1158" r:id="rId46"/>
    <p:sldId id="1160" r:id="rId47"/>
    <p:sldId id="1024" r:id="rId48"/>
    <p:sldId id="1138" r:id="rId49"/>
    <p:sldId id="1141" r:id="rId50"/>
    <p:sldId id="2147308509" r:id="rId51"/>
    <p:sldId id="1143" r:id="rId52"/>
    <p:sldId id="1142" r:id="rId53"/>
    <p:sldId id="1146" r:id="rId54"/>
    <p:sldId id="2147308510" r:id="rId55"/>
    <p:sldId id="1058" r:id="rId56"/>
    <p:sldId id="1040" r:id="rId57"/>
    <p:sldId id="1041" r:id="rId58"/>
    <p:sldId id="1043" r:id="rId59"/>
    <p:sldId id="1149" r:id="rId60"/>
    <p:sldId id="2147308508" r:id="rId61"/>
    <p:sldId id="1144" r:id="rId62"/>
    <p:sldId id="1154" r:id="rId63"/>
    <p:sldId id="1049" r:id="rId64"/>
    <p:sldId id="1044" r:id="rId65"/>
    <p:sldId id="1046" r:id="rId66"/>
    <p:sldId id="1047" r:id="rId67"/>
    <p:sldId id="1119" r:id="rId68"/>
    <p:sldId id="1123" r:id="rId69"/>
    <p:sldId id="1120" r:id="rId70"/>
    <p:sldId id="1122" r:id="rId71"/>
    <p:sldId id="1121" r:id="rId72"/>
    <p:sldId id="1039" r:id="rId73"/>
    <p:sldId id="1124" r:id="rId74"/>
    <p:sldId id="1125" r:id="rId75"/>
    <p:sldId id="1037" r:id="rId76"/>
    <p:sldId id="1048" r:id="rId77"/>
    <p:sldId id="1102" r:id="rId78"/>
    <p:sldId id="1126" r:id="rId79"/>
    <p:sldId id="1098" r:id="rId80"/>
    <p:sldId id="1100" r:id="rId81"/>
    <p:sldId id="1129" r:id="rId82"/>
    <p:sldId id="1127" r:id="rId83"/>
    <p:sldId id="1101" r:id="rId84"/>
    <p:sldId id="1128" r:id="rId85"/>
    <p:sldId id="1131" r:id="rId86"/>
    <p:sldId id="1132" r:id="rId87"/>
    <p:sldId id="1139" r:id="rId88"/>
    <p:sldId id="1147" r:id="rId89"/>
  </p:sldIdLst>
  <p:sldSz cx="12192000" cy="6858000"/>
  <p:notesSz cx="6858000" cy="9144000"/>
  <p:defaultTex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B2B3"/>
    <a:srgbClr val="5FB990"/>
    <a:srgbClr val="87CAAC"/>
    <a:srgbClr val="12B3C4"/>
    <a:srgbClr val="FF6600"/>
    <a:srgbClr val="28AECF"/>
    <a:srgbClr val="13C3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1071" autoAdjust="0"/>
  </p:normalViewPr>
  <p:slideViewPr>
    <p:cSldViewPr snapToGrid="0">
      <p:cViewPr varScale="1">
        <p:scale>
          <a:sx n="95" d="100"/>
          <a:sy n="95" d="100"/>
        </p:scale>
        <p:origin x="372" y="33"/>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98" d="100"/>
          <a:sy n="98" d="100"/>
        </p:scale>
        <p:origin x="-3648" y="-102"/>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ea typeface="新細明體" pitchFamily="18" charset="-120"/>
              </a:defRPr>
            </a:lvl1pPr>
          </a:lstStyle>
          <a:p>
            <a:pPr>
              <a:defRPr/>
            </a:pPr>
            <a:endParaRPr lang="en-US" altLang="zh-TW"/>
          </a:p>
        </p:txBody>
      </p:sp>
      <p:sp>
        <p:nvSpPr>
          <p:cNvPr id="11878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新細明體" pitchFamily="18" charset="-120"/>
              </a:defRPr>
            </a:lvl1pPr>
          </a:lstStyle>
          <a:p>
            <a:pPr>
              <a:defRPr/>
            </a:pPr>
            <a:endParaRPr lang="en-US" altLang="zh-TW"/>
          </a:p>
        </p:txBody>
      </p:sp>
      <p:sp>
        <p:nvSpPr>
          <p:cNvPr id="11878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ea typeface="新細明體" pitchFamily="18" charset="-120"/>
              </a:defRPr>
            </a:lvl1pPr>
          </a:lstStyle>
          <a:p>
            <a:pPr>
              <a:defRPr/>
            </a:pPr>
            <a:endParaRPr lang="en-US" altLang="zh-TW"/>
          </a:p>
        </p:txBody>
      </p:sp>
      <p:sp>
        <p:nvSpPr>
          <p:cNvPr id="11878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AF5D5BE-96CC-49F4-A2FA-B612DEBAE2B8}" type="slidenum">
              <a:rPr lang="en-US" altLang="zh-TW"/>
              <a:pPr>
                <a:defRPr/>
              </a:pPr>
              <a:t>‹#›</a:t>
            </a:fld>
            <a:endParaRPr lang="en-US" altLang="zh-TW"/>
          </a:p>
        </p:txBody>
      </p:sp>
    </p:spTree>
    <p:extLst>
      <p:ext uri="{BB962C8B-B14F-4D97-AF65-F5344CB8AC3E}">
        <p14:creationId xmlns:p14="http://schemas.microsoft.com/office/powerpoint/2010/main" val="574246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D7091F1A-C011-4FC9-80A4-160DA1E190C9}" type="datetimeFigureOut">
              <a:rPr lang="zh-TW" altLang="en-US"/>
              <a:pPr>
                <a:defRPr/>
              </a:pPr>
              <a:t>2026/4/28</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TW" altLang="en-US" noProof="0"/>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A41761D4-A34B-4715-8896-94A3EB7486F3}" type="slidenum">
              <a:rPr lang="zh-TW" altLang="en-US"/>
              <a:pPr>
                <a:defRPr/>
              </a:pPr>
              <a:t>‹#›</a:t>
            </a:fld>
            <a:endParaRPr lang="zh-TW" altLang="en-US"/>
          </a:p>
        </p:txBody>
      </p:sp>
    </p:spTree>
    <p:extLst>
      <p:ext uri="{BB962C8B-B14F-4D97-AF65-F5344CB8AC3E}">
        <p14:creationId xmlns:p14="http://schemas.microsoft.com/office/powerpoint/2010/main" val="28299003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TW" altLang="en-US" b="0" i="0" dirty="0">
                <a:solidFill>
                  <a:srgbClr val="404040"/>
                </a:solidFill>
                <a:effectLst/>
                <a:latin typeface="Poppins" panose="00000500000000000000" pitchFamily="2" charset="0"/>
              </a:rPr>
              <a:t>在</a:t>
            </a:r>
            <a:r>
              <a:rPr lang="en-US" altLang="zh-TW" b="0" i="0" dirty="0">
                <a:solidFill>
                  <a:srgbClr val="404040"/>
                </a:solidFill>
                <a:effectLst/>
                <a:latin typeface="Poppins" panose="00000500000000000000" pitchFamily="2" charset="0"/>
              </a:rPr>
              <a:t>AMD</a:t>
            </a:r>
            <a:r>
              <a:rPr lang="zh-TW" altLang="en-US" b="0" i="0" dirty="0">
                <a:solidFill>
                  <a:srgbClr val="404040"/>
                </a:solidFill>
                <a:effectLst/>
                <a:latin typeface="Poppins" panose="00000500000000000000" pitchFamily="2" charset="0"/>
              </a:rPr>
              <a:t>平台打造您的大型語言模型</a:t>
            </a:r>
            <a:r>
              <a:rPr lang="en-US" altLang="zh-TW" b="0" i="0" dirty="0">
                <a:solidFill>
                  <a:srgbClr val="404040"/>
                </a:solidFill>
                <a:effectLst/>
                <a:latin typeface="Poppins" panose="00000500000000000000" pitchFamily="2" charset="0"/>
              </a:rPr>
              <a:t>(LLM)</a:t>
            </a:r>
            <a:r>
              <a:rPr lang="zh-TW" altLang="en-US" b="0" i="0" dirty="0">
                <a:solidFill>
                  <a:srgbClr val="404040"/>
                </a:solidFill>
                <a:effectLst/>
                <a:latin typeface="Poppins" panose="00000500000000000000" pitchFamily="2" charset="0"/>
              </a:rPr>
              <a:t>應用</a:t>
            </a:r>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1</a:t>
            </a:fld>
            <a:endParaRPr lang="zh-TW" altLang="en-US"/>
          </a:p>
        </p:txBody>
      </p:sp>
    </p:spTree>
    <p:extLst>
      <p:ext uri="{BB962C8B-B14F-4D97-AF65-F5344CB8AC3E}">
        <p14:creationId xmlns:p14="http://schemas.microsoft.com/office/powerpoint/2010/main" val="3078286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457200" rtl="0">
              <a:spcBef>
                <a:spcPts val="0"/>
              </a:spcBef>
              <a:spcAft>
                <a:spcPts val="1200"/>
              </a:spcAft>
            </a:pPr>
            <a:endParaRPr lang="zh-TW" altLang="zh-TW" sz="1200" b="0" i="0" u="none" strike="noStrike" dirty="0">
              <a:effectLst/>
              <a:latin typeface="+mn-lt"/>
            </a:endParaRPr>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2</a:t>
            </a:fld>
            <a:endParaRPr lang="zh-TW" altLang="en-US"/>
          </a:p>
        </p:txBody>
      </p:sp>
    </p:spTree>
    <p:extLst>
      <p:ext uri="{BB962C8B-B14F-4D97-AF65-F5344CB8AC3E}">
        <p14:creationId xmlns:p14="http://schemas.microsoft.com/office/powerpoint/2010/main" val="2504444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5</a:t>
            </a:fld>
            <a:endParaRPr lang="zh-TW" altLang="en-US"/>
          </a:p>
        </p:txBody>
      </p:sp>
    </p:spTree>
    <p:extLst>
      <p:ext uri="{BB962C8B-B14F-4D97-AF65-F5344CB8AC3E}">
        <p14:creationId xmlns:p14="http://schemas.microsoft.com/office/powerpoint/2010/main" val="3078286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Tokenizer set during training; if you use a tokenizer for one model on a different model, the output will break</a:t>
            </a:r>
          </a:p>
        </p:txBody>
      </p:sp>
      <p:sp>
        <p:nvSpPr>
          <p:cNvPr id="4" name="Slide Number Placeholder 3"/>
          <p:cNvSpPr>
            <a:spLocks noGrp="1"/>
          </p:cNvSpPr>
          <p:nvPr>
            <p:ph type="sldNum" sz="quarter" idx="5"/>
          </p:nvPr>
        </p:nvSpPr>
        <p:spPr/>
        <p:txBody>
          <a:bodyPr/>
          <a:lstStyle/>
          <a:p>
            <a:fld id="{89140EA3-97AA-4C4D-B124-24E1FF345ED1}" type="slidenum">
              <a:rPr lang="zh-TW" altLang="en-US" smtClean="0"/>
              <a:t>7</a:t>
            </a:fld>
            <a:endParaRPr lang="zh-TW" altLang="en-US"/>
          </a:p>
        </p:txBody>
      </p:sp>
    </p:spTree>
    <p:extLst>
      <p:ext uri="{BB962C8B-B14F-4D97-AF65-F5344CB8AC3E}">
        <p14:creationId xmlns:p14="http://schemas.microsoft.com/office/powerpoint/2010/main" val="3466693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10</a:t>
            </a:fld>
            <a:endParaRPr lang="zh-TW" altLang="en-US"/>
          </a:p>
        </p:txBody>
      </p:sp>
    </p:spTree>
    <p:extLst>
      <p:ext uri="{BB962C8B-B14F-4D97-AF65-F5344CB8AC3E}">
        <p14:creationId xmlns:p14="http://schemas.microsoft.com/office/powerpoint/2010/main" val="1664633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363737"/>
                </a:solidFill>
                <a:effectLst/>
                <a:latin typeface="Spectral"/>
              </a:rPr>
              <a:t>initialize </a:t>
            </a:r>
            <a:r>
              <a:rPr lang="en-US" altLang="zh-TW" dirty="0"/>
              <a:t>A</a:t>
            </a:r>
            <a:r>
              <a:rPr lang="en-US" altLang="zh-TW" b="0" i="0" dirty="0">
                <a:solidFill>
                  <a:srgbClr val="363737"/>
                </a:solidFill>
                <a:effectLst/>
                <a:latin typeface="Spectral"/>
              </a:rPr>
              <a:t> with random, small values, while </a:t>
            </a:r>
            <a:r>
              <a:rPr lang="en-US" altLang="zh-TW" dirty="0"/>
              <a:t>B</a:t>
            </a:r>
            <a:r>
              <a:rPr lang="en-US" altLang="zh-TW" b="0" i="0" dirty="0">
                <a:solidFill>
                  <a:srgbClr val="363737"/>
                </a:solidFill>
                <a:effectLst/>
                <a:latin typeface="Spectral"/>
              </a:rPr>
              <a:t> is initialized as zero, ensuring that we begin the finetuning process with the model’s original, pretrained weights</a:t>
            </a:r>
            <a:endParaRPr lang="zh-TW" altLang="en-US" dirty="0"/>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12</a:t>
            </a:fld>
            <a:endParaRPr lang="zh-TW" altLang="en-US"/>
          </a:p>
        </p:txBody>
      </p:sp>
    </p:spTree>
    <p:extLst>
      <p:ext uri="{BB962C8B-B14F-4D97-AF65-F5344CB8AC3E}">
        <p14:creationId xmlns:p14="http://schemas.microsoft.com/office/powerpoint/2010/main" val="3152721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13</a:t>
            </a:fld>
            <a:endParaRPr lang="zh-TW" altLang="en-US"/>
          </a:p>
        </p:txBody>
      </p:sp>
    </p:spTree>
    <p:extLst>
      <p:ext uri="{BB962C8B-B14F-4D97-AF65-F5344CB8AC3E}">
        <p14:creationId xmlns:p14="http://schemas.microsoft.com/office/powerpoint/2010/main" val="1642860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14</a:t>
            </a:fld>
            <a:endParaRPr lang="zh-TW" altLang="en-US"/>
          </a:p>
        </p:txBody>
      </p:sp>
    </p:spTree>
    <p:extLst>
      <p:ext uri="{BB962C8B-B14F-4D97-AF65-F5344CB8AC3E}">
        <p14:creationId xmlns:p14="http://schemas.microsoft.com/office/powerpoint/2010/main" val="3929805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20</a:t>
            </a:fld>
            <a:endParaRPr lang="zh-TW" altLang="en-US"/>
          </a:p>
        </p:txBody>
      </p:sp>
    </p:spTree>
    <p:extLst>
      <p:ext uri="{BB962C8B-B14F-4D97-AF65-F5344CB8AC3E}">
        <p14:creationId xmlns:p14="http://schemas.microsoft.com/office/powerpoint/2010/main" val="1341314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You can do anything you want if you fine tune the model</a:t>
            </a:r>
            <a:endParaRPr lang="zh-TW" altLang="en-US" dirty="0"/>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23</a:t>
            </a:fld>
            <a:endParaRPr lang="zh-TW" altLang="en-US"/>
          </a:p>
        </p:txBody>
      </p:sp>
    </p:spTree>
    <p:extLst>
      <p:ext uri="{BB962C8B-B14F-4D97-AF65-F5344CB8AC3E}">
        <p14:creationId xmlns:p14="http://schemas.microsoft.com/office/powerpoint/2010/main" val="291735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latitude</a:t>
            </a:r>
            <a:endParaRPr lang="zh-TW" altLang="en-US" dirty="0"/>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27</a:t>
            </a:fld>
            <a:endParaRPr lang="zh-TW" altLang="en-US"/>
          </a:p>
        </p:txBody>
      </p:sp>
    </p:spTree>
    <p:extLst>
      <p:ext uri="{BB962C8B-B14F-4D97-AF65-F5344CB8AC3E}">
        <p14:creationId xmlns:p14="http://schemas.microsoft.com/office/powerpoint/2010/main" val="12186831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39</a:t>
            </a:fld>
            <a:endParaRPr lang="zh-TW" altLang="en-US"/>
          </a:p>
        </p:txBody>
      </p:sp>
    </p:spTree>
    <p:extLst>
      <p:ext uri="{BB962C8B-B14F-4D97-AF65-F5344CB8AC3E}">
        <p14:creationId xmlns:p14="http://schemas.microsoft.com/office/powerpoint/2010/main" val="1960055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a:defRPr/>
            </a:pPr>
            <a:fld id="{A41761D4-A34B-4715-8896-94A3EB7486F3}" type="slidenum">
              <a:rPr lang="zh-TW" altLang="en-US" smtClean="0"/>
              <a:pPr>
                <a:defRPr/>
              </a:pPr>
              <a:t>40</a:t>
            </a:fld>
            <a:endParaRPr lang="zh-TW" altLang="en-US"/>
          </a:p>
        </p:txBody>
      </p:sp>
    </p:spTree>
    <p:extLst>
      <p:ext uri="{BB962C8B-B14F-4D97-AF65-F5344CB8AC3E}">
        <p14:creationId xmlns:p14="http://schemas.microsoft.com/office/powerpoint/2010/main" val="3084380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42</a:t>
            </a:fld>
            <a:endParaRPr lang="zh-TW" altLang="en-US"/>
          </a:p>
        </p:txBody>
      </p:sp>
    </p:spTree>
    <p:extLst>
      <p:ext uri="{BB962C8B-B14F-4D97-AF65-F5344CB8AC3E}">
        <p14:creationId xmlns:p14="http://schemas.microsoft.com/office/powerpoint/2010/main" val="23367222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err="1"/>
              <a:t>vllm</a:t>
            </a:r>
            <a:r>
              <a:rPr lang="en-US" altLang="zh-TW" sz="1200" dirty="0"/>
              <a:t> serve </a:t>
            </a:r>
            <a:r>
              <a:rPr lang="en-US" altLang="zh-TW" sz="1200" dirty="0" err="1"/>
              <a:t>Qwen</a:t>
            </a:r>
            <a:r>
              <a:rPr lang="en-US" altLang="zh-TW" sz="1200" dirty="0"/>
              <a:t>/Qwen3.5-122B-A10B-FP8 --port 8000 --tensor-parallel-size 1 --max-model-</a:t>
            </a:r>
            <a:r>
              <a:rPr lang="en-US" altLang="zh-TW" sz="1200" dirty="0" err="1"/>
              <a:t>len</a:t>
            </a:r>
            <a:r>
              <a:rPr lang="en-US" altLang="zh-TW" sz="1200" dirty="0"/>
              <a:t> 16384 --reasoning-parser qwen3 --enable-auto-tool-choice --</a:t>
            </a:r>
            <a:r>
              <a:rPr lang="en-US" altLang="zh-TW" sz="1200" dirty="0" err="1"/>
              <a:t>tl</a:t>
            </a:r>
            <a:r>
              <a:rPr lang="en-US" altLang="zh-TW" sz="1200" dirty="0"/>
              <a:t>-call-parser qwen3_coder</a:t>
            </a:r>
          </a:p>
          <a:p>
            <a:r>
              <a:rPr lang="en-US" altLang="zh-TW" sz="1200" dirty="0" err="1"/>
              <a:t>vllm</a:t>
            </a:r>
            <a:r>
              <a:rPr lang="en-US" altLang="zh-TW" sz="1200" dirty="0"/>
              <a:t> serve </a:t>
            </a:r>
            <a:r>
              <a:rPr lang="en-US" altLang="zh-TW" sz="1200" dirty="0" err="1"/>
              <a:t>Qwen</a:t>
            </a:r>
            <a:r>
              <a:rPr lang="en-US" altLang="zh-TW" sz="1200" dirty="0"/>
              <a:t>/Qwen3-30B-A3B --port 8000 --tensor-parallel-size 1 --max-model-</a:t>
            </a:r>
            <a:r>
              <a:rPr lang="en-US" altLang="zh-TW" sz="1200" dirty="0" err="1"/>
              <a:t>len</a:t>
            </a:r>
            <a:r>
              <a:rPr lang="en-US" altLang="zh-TW" sz="1200" dirty="0"/>
              <a:t> 16384 --reasoning-parser qwen3 --enable-auto-tool-choice --tool-call-parser </a:t>
            </a:r>
            <a:r>
              <a:rPr lang="en-US" altLang="zh-TW" sz="1200" dirty="0" err="1"/>
              <a:t>hermes</a:t>
            </a:r>
            <a:endParaRPr lang="en-US" altLang="zh-TW" sz="1200" dirty="0"/>
          </a:p>
          <a:p>
            <a:endParaRPr lang="zh-TW" altLang="en-US" dirty="0"/>
          </a:p>
        </p:txBody>
      </p:sp>
      <p:sp>
        <p:nvSpPr>
          <p:cNvPr id="4" name="投影片編號版面配置區 3"/>
          <p:cNvSpPr>
            <a:spLocks noGrp="1"/>
          </p:cNvSpPr>
          <p:nvPr>
            <p:ph type="sldNum" sz="quarter" idx="5"/>
          </p:nvPr>
        </p:nvSpPr>
        <p:spPr/>
        <p:txBody>
          <a:bodyPr/>
          <a:lstStyle/>
          <a:p>
            <a:pPr>
              <a:defRPr/>
            </a:pPr>
            <a:fld id="{A41761D4-A34B-4715-8896-94A3EB7486F3}" type="slidenum">
              <a:rPr lang="zh-TW" altLang="en-US" smtClean="0"/>
              <a:pPr>
                <a:defRPr/>
              </a:pPr>
              <a:t>43</a:t>
            </a:fld>
            <a:endParaRPr lang="zh-TW" altLang="en-US"/>
          </a:p>
        </p:txBody>
      </p:sp>
    </p:spTree>
    <p:extLst>
      <p:ext uri="{BB962C8B-B14F-4D97-AF65-F5344CB8AC3E}">
        <p14:creationId xmlns:p14="http://schemas.microsoft.com/office/powerpoint/2010/main" val="1759020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47</a:t>
            </a:fld>
            <a:endParaRPr lang="zh-TW" altLang="en-US"/>
          </a:p>
        </p:txBody>
      </p:sp>
    </p:spTree>
    <p:extLst>
      <p:ext uri="{BB962C8B-B14F-4D97-AF65-F5344CB8AC3E}">
        <p14:creationId xmlns:p14="http://schemas.microsoft.com/office/powerpoint/2010/main" val="21769968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55</a:t>
            </a:fld>
            <a:endParaRPr lang="zh-TW" altLang="en-US"/>
          </a:p>
        </p:txBody>
      </p:sp>
    </p:spTree>
    <p:extLst>
      <p:ext uri="{BB962C8B-B14F-4D97-AF65-F5344CB8AC3E}">
        <p14:creationId xmlns:p14="http://schemas.microsoft.com/office/powerpoint/2010/main" val="32170470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56</a:t>
            </a:fld>
            <a:endParaRPr lang="zh-TW" altLang="en-US"/>
          </a:p>
        </p:txBody>
      </p:sp>
    </p:spTree>
    <p:extLst>
      <p:ext uri="{BB962C8B-B14F-4D97-AF65-F5344CB8AC3E}">
        <p14:creationId xmlns:p14="http://schemas.microsoft.com/office/powerpoint/2010/main" val="691750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a:t> </a:t>
            </a:r>
            <a:endParaRPr lang="zh-TW" altLang="en-US"/>
          </a:p>
        </p:txBody>
      </p:sp>
      <p:sp>
        <p:nvSpPr>
          <p:cNvPr id="4" name="投影片編號版面配置區 3"/>
          <p:cNvSpPr>
            <a:spLocks noGrp="1"/>
          </p:cNvSpPr>
          <p:nvPr>
            <p:ph type="sldNum" sz="quarter" idx="5"/>
          </p:nvPr>
        </p:nvSpPr>
        <p:spPr/>
        <p:txBody>
          <a:bodyPr/>
          <a:lstStyle/>
          <a:p>
            <a:pPr>
              <a:defRPr/>
            </a:pPr>
            <a:fld id="{A41761D4-A34B-4715-8896-94A3EB7486F3}" type="slidenum">
              <a:rPr lang="zh-TW" altLang="en-US" smtClean="0"/>
              <a:pPr>
                <a:defRPr/>
              </a:pPr>
              <a:t>59</a:t>
            </a:fld>
            <a:endParaRPr lang="zh-TW" altLang="en-US"/>
          </a:p>
        </p:txBody>
      </p:sp>
    </p:spTree>
    <p:extLst>
      <p:ext uri="{BB962C8B-B14F-4D97-AF65-F5344CB8AC3E}">
        <p14:creationId xmlns:p14="http://schemas.microsoft.com/office/powerpoint/2010/main" val="2515578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62</a:t>
            </a:fld>
            <a:endParaRPr lang="zh-TW" altLang="en-US"/>
          </a:p>
        </p:txBody>
      </p:sp>
    </p:spTree>
    <p:extLst>
      <p:ext uri="{BB962C8B-B14F-4D97-AF65-F5344CB8AC3E}">
        <p14:creationId xmlns:p14="http://schemas.microsoft.com/office/powerpoint/2010/main" val="17041952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https://huggingface.co/docs/hub/security-tokens</a:t>
            </a:r>
            <a:endParaRPr lang="zh-TW" altLang="en-US" dirty="0"/>
          </a:p>
        </p:txBody>
      </p:sp>
      <p:sp>
        <p:nvSpPr>
          <p:cNvPr id="4" name="投影片編號版面配置區 3"/>
          <p:cNvSpPr>
            <a:spLocks noGrp="1"/>
          </p:cNvSpPr>
          <p:nvPr>
            <p:ph type="sldNum" sz="quarter" idx="5"/>
          </p:nvPr>
        </p:nvSpPr>
        <p:spPr/>
        <p:txBody>
          <a:bodyPr/>
          <a:lstStyle/>
          <a:p>
            <a:pPr>
              <a:defRPr/>
            </a:pPr>
            <a:fld id="{A41761D4-A34B-4715-8896-94A3EB7486F3}" type="slidenum">
              <a:rPr lang="zh-TW" altLang="en-US" smtClean="0"/>
              <a:pPr>
                <a:defRPr/>
              </a:pPr>
              <a:t>71</a:t>
            </a:fld>
            <a:endParaRPr lang="zh-TW" altLang="en-US"/>
          </a:p>
        </p:txBody>
      </p:sp>
    </p:spTree>
    <p:extLst>
      <p:ext uri="{BB962C8B-B14F-4D97-AF65-F5344CB8AC3E}">
        <p14:creationId xmlns:p14="http://schemas.microsoft.com/office/powerpoint/2010/main" val="520814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73</a:t>
            </a:fld>
            <a:endParaRPr lang="zh-TW" altLang="en-US"/>
          </a:p>
        </p:txBody>
      </p:sp>
    </p:spTree>
    <p:extLst>
      <p:ext uri="{BB962C8B-B14F-4D97-AF65-F5344CB8AC3E}">
        <p14:creationId xmlns:p14="http://schemas.microsoft.com/office/powerpoint/2010/main" val="2968300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num_beams</a:t>
            </a:r>
            <a:r>
              <a:rPr lang="en-US" altLang="zh-TW" dirty="0"/>
              <a:t> controls how </a:t>
            </a:r>
            <a:r>
              <a:rPr lang="en-US" altLang="zh-TW" b="1" dirty="0"/>
              <a:t>many candidate sequences</a:t>
            </a:r>
            <a:r>
              <a:rPr lang="en-US" altLang="zh-TW" dirty="0"/>
              <a:t> the model keeps track of during </a:t>
            </a:r>
            <a:r>
              <a:rPr lang="en-US" altLang="zh-TW" b="1" dirty="0"/>
              <a:t>beam search decoding</a:t>
            </a:r>
            <a:r>
              <a:rPr lang="en-US" altLang="zh-TW" dirty="0"/>
              <a:t>.</a:t>
            </a:r>
            <a:endParaRPr lang="en-US" altLang="zh-TW" b="1" dirty="0"/>
          </a:p>
          <a:p>
            <a:endParaRPr lang="en-US" altLang="zh-TW" b="1" dirty="0"/>
          </a:p>
          <a:p>
            <a:r>
              <a:rPr lang="en-US" altLang="zh-TW" b="1" dirty="0"/>
              <a:t>When to use </a:t>
            </a:r>
            <a:r>
              <a:rPr lang="en-US" altLang="zh-TW" b="1" dirty="0" err="1"/>
              <a:t>num_beams</a:t>
            </a:r>
            <a:endParaRPr lang="en-US" altLang="zh-TW" b="1" dirty="0"/>
          </a:p>
          <a:p>
            <a:r>
              <a:rPr lang="en-US" altLang="zh-TW" dirty="0"/>
              <a:t>Use beam search (i.e., </a:t>
            </a:r>
            <a:r>
              <a:rPr lang="en-US" altLang="zh-TW" dirty="0" err="1"/>
              <a:t>num_beams</a:t>
            </a:r>
            <a:r>
              <a:rPr lang="en-US" altLang="zh-TW" dirty="0"/>
              <a:t> &gt; 1) for tasks like:</a:t>
            </a:r>
          </a:p>
          <a:p>
            <a:pPr>
              <a:buFont typeface="Arial" panose="020B0604020202020204" pitchFamily="34" charset="0"/>
              <a:buChar char="•"/>
            </a:pPr>
            <a:r>
              <a:rPr lang="en-US" altLang="zh-TW" dirty="0"/>
              <a:t>Summarization</a:t>
            </a:r>
          </a:p>
          <a:p>
            <a:pPr>
              <a:buFont typeface="Arial" panose="020B0604020202020204" pitchFamily="34" charset="0"/>
              <a:buChar char="•"/>
            </a:pPr>
            <a:r>
              <a:rPr lang="en-US" altLang="zh-TW" dirty="0"/>
              <a:t>Translation</a:t>
            </a:r>
          </a:p>
          <a:p>
            <a:pPr>
              <a:buFont typeface="Arial" panose="020B0604020202020204" pitchFamily="34" charset="0"/>
              <a:buChar char="•"/>
            </a:pPr>
            <a:r>
              <a:rPr lang="en-US" altLang="zh-TW" dirty="0"/>
              <a:t>QA (when deterministic output is better)</a:t>
            </a:r>
          </a:p>
          <a:p>
            <a:pPr>
              <a:buFont typeface="Arial" panose="020B0604020202020204" pitchFamily="34" charset="0"/>
              <a:buChar char="•"/>
            </a:pPr>
            <a:r>
              <a:rPr lang="en-US" altLang="zh-TW" dirty="0"/>
              <a:t>When you want </a:t>
            </a:r>
            <a:r>
              <a:rPr lang="en-US" altLang="zh-TW" b="1" dirty="0"/>
              <a:t>higher-quality, less random</a:t>
            </a:r>
            <a:r>
              <a:rPr lang="en-US" altLang="zh-TW" dirty="0"/>
              <a:t> outputs</a:t>
            </a:r>
          </a:p>
          <a:p>
            <a:r>
              <a:rPr lang="en-US" altLang="zh-TW" b="1" dirty="0"/>
              <a:t>Don’t</a:t>
            </a:r>
            <a:r>
              <a:rPr lang="en-US" altLang="zh-TW" dirty="0"/>
              <a:t> use it when you want:</a:t>
            </a:r>
          </a:p>
          <a:p>
            <a:pPr>
              <a:buFont typeface="Arial" panose="020B0604020202020204" pitchFamily="34" charset="0"/>
              <a:buChar char="•"/>
            </a:pPr>
            <a:r>
              <a:rPr lang="en-US" altLang="zh-TW" dirty="0"/>
              <a:t>Randomness/creativity → use </a:t>
            </a:r>
            <a:r>
              <a:rPr lang="en-US" altLang="zh-TW" dirty="0" err="1"/>
              <a:t>do_sample</a:t>
            </a:r>
            <a:r>
              <a:rPr lang="en-US" altLang="zh-TW" dirty="0"/>
              <a:t>=True instead</a:t>
            </a:r>
          </a:p>
          <a:p>
            <a:endParaRPr lang="en-US" altLang="zh-TW" dirty="0"/>
          </a:p>
          <a:p>
            <a:r>
              <a:rPr lang="en-US" altLang="zh-TW" dirty="0"/>
              <a:t>If you use </a:t>
            </a:r>
            <a:r>
              <a:rPr lang="en-US" altLang="zh-TW" dirty="0" err="1"/>
              <a:t>num_beams</a:t>
            </a:r>
            <a:r>
              <a:rPr lang="en-US" altLang="zh-TW" dirty="0"/>
              <a:t> &gt; 1, make sure: </a:t>
            </a:r>
            <a:r>
              <a:rPr lang="en-US" altLang="zh-TW" dirty="0" err="1"/>
              <a:t>do_sample</a:t>
            </a:r>
            <a:r>
              <a:rPr lang="en-US" altLang="zh-TW" dirty="0"/>
              <a:t> = False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TW" dirty="0"/>
              <a:t>Otherwise the sampling randomness conflicts with beam search logic.</a:t>
            </a:r>
          </a:p>
          <a:p>
            <a:endParaRPr lang="zh-TW" altLang="en-US" dirty="0"/>
          </a:p>
        </p:txBody>
      </p:sp>
      <p:sp>
        <p:nvSpPr>
          <p:cNvPr id="4" name="投影片編號版面配置區 3"/>
          <p:cNvSpPr>
            <a:spLocks noGrp="1"/>
          </p:cNvSpPr>
          <p:nvPr>
            <p:ph type="sldNum" sz="quarter" idx="5"/>
          </p:nvPr>
        </p:nvSpPr>
        <p:spPr/>
        <p:txBody>
          <a:bodyPr/>
          <a:lstStyle/>
          <a:p>
            <a:pPr>
              <a:defRPr/>
            </a:pPr>
            <a:fld id="{A41761D4-A34B-4715-8896-94A3EB7486F3}" type="slidenum">
              <a:rPr lang="zh-TW" altLang="en-US" smtClean="0"/>
              <a:pPr>
                <a:defRPr/>
              </a:pPr>
              <a:t>75</a:t>
            </a:fld>
            <a:endParaRPr lang="zh-TW" altLang="en-US"/>
          </a:p>
        </p:txBody>
      </p:sp>
    </p:spTree>
    <p:extLst>
      <p:ext uri="{BB962C8B-B14F-4D97-AF65-F5344CB8AC3E}">
        <p14:creationId xmlns:p14="http://schemas.microsoft.com/office/powerpoint/2010/main" val="5216940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0721BC11-F499-44A9-B58D-92F48B28D12B}" type="slidenum">
              <a:rPr lang="zh-TW" altLang="en-US" smtClean="0"/>
              <a:pPr/>
              <a:t>77</a:t>
            </a:fld>
            <a:endParaRPr lang="zh-TW" altLang="en-US"/>
          </a:p>
        </p:txBody>
      </p:sp>
    </p:spTree>
    <p:extLst>
      <p:ext uri="{BB962C8B-B14F-4D97-AF65-F5344CB8AC3E}">
        <p14:creationId xmlns:p14="http://schemas.microsoft.com/office/powerpoint/2010/main" val="18367233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78</a:t>
            </a:fld>
            <a:endParaRPr lang="zh-TW" altLang="en-US"/>
          </a:p>
        </p:txBody>
      </p:sp>
    </p:spTree>
    <p:extLst>
      <p:ext uri="{BB962C8B-B14F-4D97-AF65-F5344CB8AC3E}">
        <p14:creationId xmlns:p14="http://schemas.microsoft.com/office/powerpoint/2010/main" val="38806135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Benefits of locally hosting </a:t>
            </a:r>
            <a:r>
              <a:rPr lang="en-US" altLang="zh-TW" dirty="0" err="1"/>
              <a:t>llms</a:t>
            </a:r>
            <a:endParaRPr lang="zh-TW" altLang="en-US" dirty="0"/>
          </a:p>
        </p:txBody>
      </p:sp>
      <p:sp>
        <p:nvSpPr>
          <p:cNvPr id="4" name="投影片編號版面配置區 3"/>
          <p:cNvSpPr>
            <a:spLocks noGrp="1"/>
          </p:cNvSpPr>
          <p:nvPr>
            <p:ph type="sldNum" sz="quarter" idx="5"/>
          </p:nvPr>
        </p:nvSpPr>
        <p:spPr/>
        <p:txBody>
          <a:bodyPr/>
          <a:lstStyle/>
          <a:p>
            <a:fld id="{89140EA3-97AA-4C4D-B124-24E1FF345ED1}" type="slidenum">
              <a:rPr lang="zh-TW" altLang="en-US" smtClean="0"/>
              <a:t>79</a:t>
            </a:fld>
            <a:endParaRPr lang="zh-TW" altLang="en-US"/>
          </a:p>
        </p:txBody>
      </p:sp>
    </p:spTree>
    <p:extLst>
      <p:ext uri="{BB962C8B-B14F-4D97-AF65-F5344CB8AC3E}">
        <p14:creationId xmlns:p14="http://schemas.microsoft.com/office/powerpoint/2010/main" val="38626979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spTree>
      <p:nvGrpSpPr>
        <p:cNvPr id="1" name=""/>
        <p:cNvGrpSpPr/>
        <p:nvPr/>
      </p:nvGrpSpPr>
      <p:grpSpPr>
        <a:xfrm>
          <a:off x="0" y="0"/>
          <a:ext cx="0" cy="0"/>
          <a:chOff x="0" y="0"/>
          <a:chExt cx="0" cy="0"/>
        </a:xfrm>
      </p:grpSpPr>
      <p:sp>
        <p:nvSpPr>
          <p:cNvPr id="10" name="Rectangle 27"/>
          <p:cNvSpPr>
            <a:spLocks noChangeArrowheads="1"/>
          </p:cNvSpPr>
          <p:nvPr userDrawn="1"/>
        </p:nvSpPr>
        <p:spPr bwMode="auto">
          <a:xfrm>
            <a:off x="0" y="6618288"/>
            <a:ext cx="12192000" cy="239712"/>
          </a:xfrm>
          <a:prstGeom prst="rect">
            <a:avLst/>
          </a:prstGeom>
          <a:solidFill>
            <a:srgbClr val="009FE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algn="ctr"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algn="ctr"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algn="ctr"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algn="ctr" eaLnBrk="0" fontAlgn="base" hangingPunct="0">
              <a:spcBef>
                <a:spcPct val="0"/>
              </a:spcBef>
              <a:spcAft>
                <a:spcPct val="0"/>
              </a:spcAft>
              <a:defRPr kumimoji="1">
                <a:solidFill>
                  <a:schemeClr val="tx1"/>
                </a:solidFill>
                <a:latin typeface="Arial" charset="0"/>
                <a:ea typeface="新細明體" pitchFamily="18" charset="-120"/>
              </a:defRPr>
            </a:lvl9pPr>
          </a:lstStyle>
          <a:p>
            <a:pPr algn="ctr" eaLnBrk="1" hangingPunct="1">
              <a:defRPr/>
            </a:pPr>
            <a:endParaRPr lang="zh-TW" altLang="en-US"/>
          </a:p>
        </p:txBody>
      </p:sp>
      <p:sp>
        <p:nvSpPr>
          <p:cNvPr id="16" name="Rectangle 21"/>
          <p:cNvSpPr>
            <a:spLocks noGrp="1" noChangeArrowheads="1"/>
          </p:cNvSpPr>
          <p:nvPr>
            <p:ph type="ctrTitle" hasCustomPrompt="1"/>
          </p:nvPr>
        </p:nvSpPr>
        <p:spPr>
          <a:xfrm>
            <a:off x="789982" y="2584703"/>
            <a:ext cx="6596065" cy="1219201"/>
          </a:xfrm>
        </p:spPr>
        <p:txBody>
          <a:bodyPr anchor="t" anchorCtr="0"/>
          <a:lstStyle>
            <a:lvl1pPr>
              <a:defRPr sz="4400" b="1">
                <a:solidFill>
                  <a:schemeClr val="tx1">
                    <a:lumMod val="75000"/>
                    <a:lumOff val="25000"/>
                  </a:schemeClr>
                </a:solidFill>
              </a:defRPr>
            </a:lvl1pPr>
          </a:lstStyle>
          <a:p>
            <a:r>
              <a:rPr lang="en-US" altLang="zh-TW" dirty="0"/>
              <a:t>Presentation Title</a:t>
            </a:r>
            <a:endParaRPr lang="zh-TW" altLang="en-US" dirty="0"/>
          </a:p>
        </p:txBody>
      </p:sp>
      <p:sp>
        <p:nvSpPr>
          <p:cNvPr id="17" name="Rectangle 22"/>
          <p:cNvSpPr>
            <a:spLocks noGrp="1" noChangeArrowheads="1"/>
          </p:cNvSpPr>
          <p:nvPr>
            <p:ph type="subTitle" idx="1" hasCustomPrompt="1"/>
          </p:nvPr>
        </p:nvSpPr>
        <p:spPr>
          <a:xfrm>
            <a:off x="816110" y="5059680"/>
            <a:ext cx="6770872" cy="755904"/>
          </a:xfrm>
          <a:prstGeom prst="rect">
            <a:avLst/>
          </a:prstGeom>
        </p:spPr>
        <p:txBody>
          <a:bodyPr anchor="b" anchorCtr="0"/>
          <a:lstStyle>
            <a:lvl1pPr marL="0" indent="0" eaLnBrk="1" hangingPunct="1">
              <a:lnSpc>
                <a:spcPct val="80000"/>
              </a:lnSpc>
              <a:spcBef>
                <a:spcPct val="0"/>
              </a:spcBef>
              <a:buFontTx/>
              <a:buNone/>
              <a:defRPr sz="2000">
                <a:solidFill>
                  <a:schemeClr val="tx1"/>
                </a:solidFill>
                <a:latin typeface="+mj-lt"/>
                <a:ea typeface="+mn-ea"/>
              </a:defRPr>
            </a:lvl1pPr>
          </a:lstStyle>
          <a:p>
            <a:pPr eaLnBrk="1" hangingPunct="1">
              <a:lnSpc>
                <a:spcPct val="80000"/>
              </a:lnSpc>
              <a:spcBef>
                <a:spcPct val="0"/>
              </a:spcBef>
              <a:buFontTx/>
              <a:buNone/>
            </a:pPr>
            <a:r>
              <a:rPr lang="en-US" altLang="zh-TW" sz="2000" dirty="0"/>
              <a:t>Presentation Dept., Presenter Name, Title</a:t>
            </a:r>
          </a:p>
        </p:txBody>
      </p:sp>
      <p:sp>
        <p:nvSpPr>
          <p:cNvPr id="18" name="投影片編號版面配置區 3"/>
          <p:cNvSpPr>
            <a:spLocks noGrp="1"/>
          </p:cNvSpPr>
          <p:nvPr>
            <p:ph type="sldNum" sz="quarter" idx="11"/>
          </p:nvPr>
        </p:nvSpPr>
        <p:spPr>
          <a:xfrm>
            <a:off x="11610916" y="6619875"/>
            <a:ext cx="571500" cy="238125"/>
          </a:xfrm>
        </p:spPr>
        <p:txBody>
          <a:bodyPr/>
          <a:lstStyle/>
          <a:p>
            <a:pPr>
              <a:defRPr/>
            </a:pPr>
            <a:fld id="{1A71FFAD-F905-4792-971B-681FA4F61CA8}" type="slidenum">
              <a:rPr lang="en-US" altLang="zh-TW" smtClean="0"/>
              <a:pPr>
                <a:defRPr/>
              </a:pPr>
              <a:t>‹#›</a:t>
            </a:fld>
            <a:endParaRPr lang="en-US" altLang="zh-TW"/>
          </a:p>
        </p:txBody>
      </p:sp>
      <p:sp>
        <p:nvSpPr>
          <p:cNvPr id="19" name="文字版面配置區 8"/>
          <p:cNvSpPr>
            <a:spLocks noGrp="1"/>
          </p:cNvSpPr>
          <p:nvPr>
            <p:ph type="body" sz="quarter" idx="12" hasCustomPrompt="1"/>
          </p:nvPr>
        </p:nvSpPr>
        <p:spPr>
          <a:xfrm>
            <a:off x="816109" y="5902262"/>
            <a:ext cx="2788603" cy="432303"/>
          </a:xfrm>
          <a:prstGeom prst="rect">
            <a:avLst/>
          </a:prstGeom>
        </p:spPr>
        <p:txBody>
          <a:bodyPr/>
          <a:lstStyle>
            <a:lvl1pPr marL="0" indent="0">
              <a:buNone/>
              <a:defRPr sz="1600"/>
            </a:lvl1pPr>
          </a:lstStyle>
          <a:p>
            <a:pPr lvl="0"/>
            <a:r>
              <a:rPr lang="en-US" altLang="zh-TW" dirty="0"/>
              <a:t>Presentation Date</a:t>
            </a:r>
            <a:endParaRPr lang="zh-TW" altLang="en-US" dirty="0"/>
          </a:p>
        </p:txBody>
      </p:sp>
      <p:pic>
        <p:nvPicPr>
          <p:cNvPr id="11" name="圖片 10"/>
          <p:cNvPicPr>
            <a:picLocks noChangeAspect="1"/>
          </p:cNvPicPr>
          <p:nvPr userDrawn="1"/>
        </p:nvPicPr>
        <p:blipFill>
          <a:blip r:embed="rId2"/>
          <a:stretch>
            <a:fillRect/>
          </a:stretch>
        </p:blipFill>
        <p:spPr>
          <a:xfrm>
            <a:off x="784225" y="352075"/>
            <a:ext cx="1917786" cy="611192"/>
          </a:xfrm>
          <a:prstGeom prst="rect">
            <a:avLst/>
          </a:prstGeom>
        </p:spPr>
      </p:pic>
      <p:sp>
        <p:nvSpPr>
          <p:cNvPr id="12" name="Text Box 48"/>
          <p:cNvSpPr txBox="1">
            <a:spLocks noChangeArrowheads="1"/>
          </p:cNvSpPr>
          <p:nvPr userDrawn="1"/>
        </p:nvSpPr>
        <p:spPr bwMode="auto">
          <a:xfrm>
            <a:off x="-2" y="6616092"/>
            <a:ext cx="100742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algn="l" eaLnBrk="1" hangingPunct="1">
              <a:defRPr/>
            </a:pPr>
            <a:r>
              <a:rPr lang="en-US" altLang="zh-TW" sz="1000" dirty="0">
                <a:solidFill>
                  <a:schemeClr val="bg1"/>
                </a:solidFill>
                <a:ea typeface="微軟正黑體" panose="020B0604030504040204" pitchFamily="34" charset="-120"/>
              </a:rPr>
              <a:t>©Industrial Technology Research Institute.  All rights reserved.</a:t>
            </a:r>
            <a:endParaRPr lang="zh-TW" altLang="en-US" sz="1000" dirty="0">
              <a:solidFill>
                <a:schemeClr val="bg1"/>
              </a:solidFill>
              <a:ea typeface="微軟正黑體" panose="020B0604030504040204" pitchFamily="34" charset="-120"/>
            </a:endParaRPr>
          </a:p>
        </p:txBody>
      </p:sp>
    </p:spTree>
    <p:extLst>
      <p:ext uri="{BB962C8B-B14F-4D97-AF65-F5344CB8AC3E}">
        <p14:creationId xmlns:p14="http://schemas.microsoft.com/office/powerpoint/2010/main" val="2202423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hasCustomPrompt="1"/>
          </p:nvPr>
        </p:nvSpPr>
        <p:spPr/>
        <p:txBody>
          <a:bodyPr/>
          <a:lstStyle/>
          <a:p>
            <a:r>
              <a:rPr lang="en-US" altLang="zh-TW" dirty="0"/>
              <a:t>Heading Level One</a:t>
            </a:r>
            <a:endParaRPr lang="zh-TW" altLang="en-US" dirty="0"/>
          </a:p>
        </p:txBody>
      </p:sp>
      <p:sp>
        <p:nvSpPr>
          <p:cNvPr id="3" name="內容版面配置區 2"/>
          <p:cNvSpPr>
            <a:spLocks noGrp="1"/>
          </p:cNvSpPr>
          <p:nvPr>
            <p:ph idx="1" hasCustomPrompt="1"/>
          </p:nvPr>
        </p:nvSpPr>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 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Tree>
    <p:extLst>
      <p:ext uri="{BB962C8B-B14F-4D97-AF65-F5344CB8AC3E}">
        <p14:creationId xmlns:p14="http://schemas.microsoft.com/office/powerpoint/2010/main" val="2549699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01133" y="297951"/>
            <a:ext cx="10991099" cy="908548"/>
          </a:xfrm>
        </p:spPr>
        <p:txBody>
          <a:bodyPr/>
          <a:lstStyle/>
          <a:p>
            <a:r>
              <a:rPr lang="en-US" altLang="zh-TW" dirty="0"/>
              <a:t>Heading Level One</a:t>
            </a:r>
            <a:endParaRPr lang="zh-TW" altLang="en-US" dirty="0"/>
          </a:p>
        </p:txBody>
      </p:sp>
      <p:sp>
        <p:nvSpPr>
          <p:cNvPr id="3" name="內容版面配置區 2"/>
          <p:cNvSpPr>
            <a:spLocks noGrp="1"/>
          </p:cNvSpPr>
          <p:nvPr>
            <p:ph idx="1" hasCustomPrompt="1"/>
          </p:nvPr>
        </p:nvSpPr>
        <p:spPr>
          <a:xfrm>
            <a:off x="609602" y="1439864"/>
            <a:ext cx="7900217" cy="4757737"/>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5" name="圖片版面配置區 2"/>
          <p:cNvSpPr>
            <a:spLocks noGrp="1"/>
          </p:cNvSpPr>
          <p:nvPr>
            <p:ph type="pic" idx="11" hasCustomPrompt="1"/>
          </p:nvPr>
        </p:nvSpPr>
        <p:spPr>
          <a:xfrm>
            <a:off x="8745794" y="1439863"/>
            <a:ext cx="2846439" cy="475773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TW" dirty="0"/>
              <a:t>Photo</a:t>
            </a:r>
            <a:endParaRPr lang="zh-TW" altLang="en-US" dirty="0"/>
          </a:p>
        </p:txBody>
      </p:sp>
    </p:spTree>
    <p:extLst>
      <p:ext uri="{BB962C8B-B14F-4D97-AF65-F5344CB8AC3E}">
        <p14:creationId xmlns:p14="http://schemas.microsoft.com/office/powerpoint/2010/main" val="2610748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01134" y="297951"/>
            <a:ext cx="11045924" cy="908548"/>
          </a:xfrm>
        </p:spPr>
        <p:txBody>
          <a:bodyPr/>
          <a:lstStyle/>
          <a:p>
            <a:r>
              <a:rPr lang="en-US" altLang="zh-TW" dirty="0"/>
              <a:t>Heading Level One</a:t>
            </a:r>
            <a:endParaRPr lang="zh-TW" altLang="en-US" dirty="0"/>
          </a:p>
        </p:txBody>
      </p:sp>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5" name="圖片版面配置區 2"/>
          <p:cNvSpPr>
            <a:spLocks noGrp="1"/>
          </p:cNvSpPr>
          <p:nvPr>
            <p:ph type="pic" idx="11" hasCustomPrompt="1"/>
          </p:nvPr>
        </p:nvSpPr>
        <p:spPr>
          <a:xfrm>
            <a:off x="609601" y="4444409"/>
            <a:ext cx="11037456" cy="1753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TW" dirty="0"/>
              <a:t>Photo</a:t>
            </a:r>
            <a:endParaRPr lang="zh-TW" altLang="en-US" dirty="0"/>
          </a:p>
        </p:txBody>
      </p:sp>
      <p:sp>
        <p:nvSpPr>
          <p:cNvPr id="6" name="內容版面配置區 2"/>
          <p:cNvSpPr>
            <a:spLocks noGrp="1"/>
          </p:cNvSpPr>
          <p:nvPr>
            <p:ph idx="1" hasCustomPrompt="1"/>
          </p:nvPr>
        </p:nvSpPr>
        <p:spPr>
          <a:xfrm>
            <a:off x="609602" y="1439865"/>
            <a:ext cx="11037455" cy="2822420"/>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Tree>
    <p:extLst>
      <p:ext uri="{BB962C8B-B14F-4D97-AF65-F5344CB8AC3E}">
        <p14:creationId xmlns:p14="http://schemas.microsoft.com/office/powerpoint/2010/main" val="4083389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區段標題">
    <p:spTree>
      <p:nvGrpSpPr>
        <p:cNvPr id="1" name=""/>
        <p:cNvGrpSpPr/>
        <p:nvPr/>
      </p:nvGrpSpPr>
      <p:grpSpPr>
        <a:xfrm>
          <a:off x="0" y="0"/>
          <a:ext cx="0" cy="0"/>
          <a:chOff x="0" y="0"/>
          <a:chExt cx="0" cy="0"/>
        </a:xfrm>
      </p:grpSpPr>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8" name="標題 1"/>
          <p:cNvSpPr>
            <a:spLocks noGrp="1"/>
          </p:cNvSpPr>
          <p:nvPr>
            <p:ph type="ctrTitle" hasCustomPrompt="1"/>
          </p:nvPr>
        </p:nvSpPr>
        <p:spPr>
          <a:xfrm>
            <a:off x="2174355" y="2564904"/>
            <a:ext cx="7772400" cy="1035546"/>
          </a:xfrm>
        </p:spPr>
        <p:txBody>
          <a:bodyPr anchor="t" anchorCtr="0">
            <a:noAutofit/>
          </a:bodyPr>
          <a:lstStyle>
            <a:lvl1pPr algn="ctr">
              <a:defRPr/>
            </a:lvl1pPr>
          </a:lstStyle>
          <a:p>
            <a:r>
              <a:rPr lang="en-US" altLang="zh-TW" dirty="0"/>
              <a:t>Heading Level One</a:t>
            </a:r>
            <a:endParaRPr lang="zh-TW" altLang="en-US" dirty="0"/>
          </a:p>
        </p:txBody>
      </p:sp>
      <p:sp>
        <p:nvSpPr>
          <p:cNvPr id="9" name="副標題 2"/>
          <p:cNvSpPr>
            <a:spLocks noGrp="1"/>
          </p:cNvSpPr>
          <p:nvPr>
            <p:ph type="subTitle" idx="1" hasCustomPrompt="1"/>
          </p:nvPr>
        </p:nvSpPr>
        <p:spPr>
          <a:xfrm>
            <a:off x="2860155"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TW" dirty="0"/>
              <a:t>Text Area</a:t>
            </a:r>
            <a:endParaRPr lang="zh-TW" altLang="en-US" dirty="0"/>
          </a:p>
        </p:txBody>
      </p:sp>
    </p:spTree>
    <p:extLst>
      <p:ext uri="{BB962C8B-B14F-4D97-AF65-F5344CB8AC3E}">
        <p14:creationId xmlns:p14="http://schemas.microsoft.com/office/powerpoint/2010/main" val="658020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1_區段標題">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963084" y="4406901"/>
            <a:ext cx="10363200" cy="1362075"/>
          </a:xfrm>
        </p:spPr>
        <p:txBody>
          <a:bodyPr anchor="t"/>
          <a:lstStyle>
            <a:lvl1pPr algn="l">
              <a:defRPr sz="4000" b="1" cap="all"/>
            </a:lvl1pPr>
          </a:lstStyle>
          <a:p>
            <a:r>
              <a:rPr lang="en-US" altLang="zh-TW" dirty="0"/>
              <a:t>Heading Level One</a:t>
            </a:r>
            <a:endParaRPr lang="zh-TW" altLang="en-US" dirty="0"/>
          </a:p>
        </p:txBody>
      </p:sp>
      <p:sp>
        <p:nvSpPr>
          <p:cNvPr id="3" name="文字版面配置區 2"/>
          <p:cNvSpPr>
            <a:spLocks noGrp="1"/>
          </p:cNvSpPr>
          <p:nvPr>
            <p:ph type="body" idx="1" hasCustomPrompt="1"/>
          </p:nvPr>
        </p:nvSpPr>
        <p:spPr>
          <a:xfrm>
            <a:off x="963084" y="2906713"/>
            <a:ext cx="10363200" cy="1500187"/>
          </a:xfrm>
        </p:spPr>
        <p:txBody>
          <a:bodyPr anchor="b"/>
          <a:lstStyle>
            <a:lvl1pPr marL="0" indent="0">
              <a:buNone/>
              <a:defRPr sz="2000" baseline="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dirty="0"/>
              <a:t>Text Area</a:t>
            </a:r>
            <a:endParaRPr lang="zh-TW" altLang="en-US" dirty="0"/>
          </a:p>
        </p:txBody>
      </p:sp>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Tree>
    <p:extLst>
      <p:ext uri="{BB962C8B-B14F-4D97-AF65-F5344CB8AC3E}">
        <p14:creationId xmlns:p14="http://schemas.microsoft.com/office/powerpoint/2010/main" val="3573238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兩項物件">
    <p:spTree>
      <p:nvGrpSpPr>
        <p:cNvPr id="1" name=""/>
        <p:cNvGrpSpPr/>
        <p:nvPr/>
      </p:nvGrpSpPr>
      <p:grpSpPr>
        <a:xfrm>
          <a:off x="0" y="0"/>
          <a:ext cx="0" cy="0"/>
          <a:chOff x="0" y="0"/>
          <a:chExt cx="0" cy="0"/>
        </a:xfrm>
      </p:grpSpPr>
      <p:sp>
        <p:nvSpPr>
          <p:cNvPr id="2" name="標題 1"/>
          <p:cNvSpPr>
            <a:spLocks noGrp="1"/>
          </p:cNvSpPr>
          <p:nvPr>
            <p:ph type="title" hasCustomPrompt="1"/>
          </p:nvPr>
        </p:nvSpPr>
        <p:spPr/>
        <p:txBody>
          <a:bodyPr/>
          <a:lstStyle/>
          <a:p>
            <a:r>
              <a:rPr lang="en-US" altLang="zh-TW" dirty="0"/>
              <a:t>Heading Level One</a:t>
            </a:r>
            <a:endParaRPr lang="zh-TW" altLang="en-US" dirty="0"/>
          </a:p>
        </p:txBody>
      </p:sp>
      <p:sp>
        <p:nvSpPr>
          <p:cNvPr id="8" name="投影片編號版面配置區 7"/>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9" name="內容版面配置區 2"/>
          <p:cNvSpPr>
            <a:spLocks noGrp="1"/>
          </p:cNvSpPr>
          <p:nvPr>
            <p:ph idx="1" hasCustomPrompt="1"/>
          </p:nvPr>
        </p:nvSpPr>
        <p:spPr>
          <a:xfrm>
            <a:off x="609603" y="1439864"/>
            <a:ext cx="5422488" cy="4757737"/>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
        <p:nvSpPr>
          <p:cNvPr id="11" name="內容版面配置區 2"/>
          <p:cNvSpPr>
            <a:spLocks noGrp="1"/>
          </p:cNvSpPr>
          <p:nvPr>
            <p:ph idx="11" hasCustomPrompt="1"/>
          </p:nvPr>
        </p:nvSpPr>
        <p:spPr>
          <a:xfrm>
            <a:off x="6337712" y="1439864"/>
            <a:ext cx="5422488" cy="4757737"/>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Tree>
    <p:extLst>
      <p:ext uri="{BB962C8B-B14F-4D97-AF65-F5344CB8AC3E}">
        <p14:creationId xmlns:p14="http://schemas.microsoft.com/office/powerpoint/2010/main" val="1358875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09600" y="274638"/>
            <a:ext cx="10972800" cy="1143000"/>
          </a:xfrm>
        </p:spPr>
        <p:txBody>
          <a:bodyPr/>
          <a:lstStyle>
            <a:lvl1pPr>
              <a:defRPr/>
            </a:lvl1pPr>
          </a:lstStyle>
          <a:p>
            <a:r>
              <a:rPr lang="en-US" altLang="zh-TW" dirty="0"/>
              <a:t>Heading Level One</a:t>
            </a:r>
            <a:endParaRPr lang="zh-TW" altLang="en-US" dirty="0"/>
          </a:p>
        </p:txBody>
      </p:sp>
      <p:sp>
        <p:nvSpPr>
          <p:cNvPr id="3" name="文字版面配置區 2"/>
          <p:cNvSpPr>
            <a:spLocks noGrp="1"/>
          </p:cNvSpPr>
          <p:nvPr>
            <p:ph type="body" idx="1" hasCustomPrompt="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dirty="0"/>
              <a:t>Text Area</a:t>
            </a:r>
            <a:endParaRPr lang="zh-TW" altLang="en-US" dirty="0"/>
          </a:p>
        </p:txBody>
      </p:sp>
      <p:sp>
        <p:nvSpPr>
          <p:cNvPr id="5" name="文字版面配置區 4"/>
          <p:cNvSpPr>
            <a:spLocks noGrp="1"/>
          </p:cNvSpPr>
          <p:nvPr>
            <p:ph type="body" sz="quarter" idx="3" hasCustomPrompt="1"/>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dirty="0"/>
              <a:t>Text Area</a:t>
            </a:r>
            <a:endParaRPr lang="zh-TW" altLang="en-US" dirty="0"/>
          </a:p>
        </p:txBody>
      </p:sp>
      <p:sp>
        <p:nvSpPr>
          <p:cNvPr id="10" name="投影片編號版面配置區 9"/>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11" name="內容版面配置區 2"/>
          <p:cNvSpPr>
            <a:spLocks noGrp="1"/>
          </p:cNvSpPr>
          <p:nvPr>
            <p:ph idx="11" hasCustomPrompt="1"/>
          </p:nvPr>
        </p:nvSpPr>
        <p:spPr>
          <a:xfrm>
            <a:off x="609603" y="2174876"/>
            <a:ext cx="5386914" cy="4022726"/>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
        <p:nvSpPr>
          <p:cNvPr id="13" name="內容版面配置區 2"/>
          <p:cNvSpPr>
            <a:spLocks noGrp="1"/>
          </p:cNvSpPr>
          <p:nvPr>
            <p:ph idx="12" hasCustomPrompt="1"/>
          </p:nvPr>
        </p:nvSpPr>
        <p:spPr>
          <a:xfrm>
            <a:off x="6193368" y="2174875"/>
            <a:ext cx="5386914" cy="4022726"/>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Tree>
    <p:extLst>
      <p:ext uri="{BB962C8B-B14F-4D97-AF65-F5344CB8AC3E}">
        <p14:creationId xmlns:p14="http://schemas.microsoft.com/office/powerpoint/2010/main" val="1773506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hasCustomPrompt="1"/>
          </p:nvPr>
        </p:nvSpPr>
        <p:spPr/>
        <p:txBody>
          <a:bodyPr/>
          <a:lstStyle/>
          <a:p>
            <a:r>
              <a:rPr lang="en-US" altLang="zh-TW" dirty="0"/>
              <a:t>Heading Level One</a:t>
            </a:r>
            <a:endParaRPr lang="zh-TW" altLang="en-US" dirty="0"/>
          </a:p>
        </p:txBody>
      </p:sp>
      <p:sp>
        <p:nvSpPr>
          <p:cNvPr id="6" name="投影片編號版面配置區 5"/>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Tree>
    <p:extLst>
      <p:ext uri="{BB962C8B-B14F-4D97-AF65-F5344CB8AC3E}">
        <p14:creationId xmlns:p14="http://schemas.microsoft.com/office/powerpoint/2010/main" val="516007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投影片編號版面配置區 4"/>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Tree>
    <p:extLst>
      <p:ext uri="{BB962C8B-B14F-4D97-AF65-F5344CB8AC3E}">
        <p14:creationId xmlns:p14="http://schemas.microsoft.com/office/powerpoint/2010/main" val="4237134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含標題的內容">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09601" y="273050"/>
            <a:ext cx="4011084" cy="1162050"/>
          </a:xfrm>
        </p:spPr>
        <p:txBody>
          <a:bodyPr anchor="b"/>
          <a:lstStyle>
            <a:lvl1pPr algn="l">
              <a:defRPr sz="2000" b="1"/>
            </a:lvl1pPr>
          </a:lstStyle>
          <a:p>
            <a:r>
              <a:rPr lang="en-US" altLang="zh-TW" dirty="0"/>
              <a:t>Heading Level One</a:t>
            </a:r>
            <a:endParaRPr lang="zh-TW" altLang="en-US" dirty="0"/>
          </a:p>
        </p:txBody>
      </p:sp>
      <p:sp>
        <p:nvSpPr>
          <p:cNvPr id="4" name="文字版面配置區 3"/>
          <p:cNvSpPr>
            <a:spLocks noGrp="1"/>
          </p:cNvSpPr>
          <p:nvPr>
            <p:ph type="body" sz="half" idx="2" hasCustomPrompt="1"/>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dirty="0"/>
              <a:t>Text Area</a:t>
            </a:r>
            <a:endParaRPr lang="zh-TW" altLang="en-US" dirty="0"/>
          </a:p>
        </p:txBody>
      </p:sp>
      <p:sp>
        <p:nvSpPr>
          <p:cNvPr id="8" name="投影片編號版面配置區 7"/>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9" name="內容版面配置區 2"/>
          <p:cNvSpPr>
            <a:spLocks noGrp="1"/>
          </p:cNvSpPr>
          <p:nvPr>
            <p:ph idx="11" hasCustomPrompt="1"/>
          </p:nvPr>
        </p:nvSpPr>
        <p:spPr>
          <a:xfrm>
            <a:off x="4766733" y="273050"/>
            <a:ext cx="6840248" cy="5853114"/>
          </a:xfrm>
        </p:spPr>
        <p:txBody>
          <a:bodyPr/>
          <a:lstStyle>
            <a:lvl1pPr>
              <a:defRPr/>
            </a:lvl1pPr>
            <a:lvl2pPr>
              <a:defRPr baseline="0"/>
            </a:lvl2pPr>
            <a:lvl3pPr>
              <a:defRPr baseline="0"/>
            </a:lvl3pPr>
            <a:lvl4pPr>
              <a:defRPr baseline="0"/>
            </a:lvl4pPr>
            <a:lvl5pPr>
              <a:defRPr baseline="0"/>
            </a:lvl5pPr>
          </a:lstStyle>
          <a:p>
            <a:pPr lvl="0"/>
            <a:r>
              <a:rPr lang="en-US" altLang="zh-TW" dirty="0"/>
              <a:t>Text Level One</a:t>
            </a:r>
            <a:endParaRPr lang="zh-TW" altLang="en-US" dirty="0"/>
          </a:p>
          <a:p>
            <a:pPr lvl="1"/>
            <a:r>
              <a:rPr lang="en-US" altLang="zh-TW" dirty="0"/>
              <a:t>Text</a:t>
            </a:r>
            <a:r>
              <a:rPr lang="zh-TW" altLang="en-US" dirty="0"/>
              <a:t> </a:t>
            </a:r>
            <a:r>
              <a:rPr lang="en-US" altLang="zh-TW" dirty="0"/>
              <a:t>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Tree>
    <p:extLst>
      <p:ext uri="{BB962C8B-B14F-4D97-AF65-F5344CB8AC3E}">
        <p14:creationId xmlns:p14="http://schemas.microsoft.com/office/powerpoint/2010/main" val="203933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2389717" y="4800600"/>
            <a:ext cx="7315200" cy="566738"/>
          </a:xfrm>
        </p:spPr>
        <p:txBody>
          <a:bodyPr anchor="b"/>
          <a:lstStyle>
            <a:lvl1pPr algn="l">
              <a:defRPr sz="2000" b="1"/>
            </a:lvl1pPr>
          </a:lstStyle>
          <a:p>
            <a:r>
              <a:rPr lang="en-US" altLang="zh-TW" dirty="0"/>
              <a:t>Heading Level One</a:t>
            </a:r>
            <a:endParaRPr lang="zh-TW" altLang="en-US" dirty="0"/>
          </a:p>
        </p:txBody>
      </p:sp>
      <p:sp>
        <p:nvSpPr>
          <p:cNvPr id="3" name="圖片版面配置區 2"/>
          <p:cNvSpPr>
            <a:spLocks noGrp="1"/>
          </p:cNvSpPr>
          <p:nvPr>
            <p:ph type="pic" idx="1" hasCustomPrompt="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dirty="0"/>
              <a:t>Photo</a:t>
            </a:r>
            <a:endParaRPr lang="zh-TW" altLang="en-US" noProof="0" dirty="0"/>
          </a:p>
        </p:txBody>
      </p:sp>
      <p:sp>
        <p:nvSpPr>
          <p:cNvPr id="4" name="文字版面配置區 3"/>
          <p:cNvSpPr>
            <a:spLocks noGrp="1"/>
          </p:cNvSpPr>
          <p:nvPr>
            <p:ph type="body" sz="half" idx="2" hasCustomPrompt="1"/>
          </p:nvPr>
        </p:nvSpPr>
        <p:spPr>
          <a:xfrm>
            <a:off x="2389717" y="5367338"/>
            <a:ext cx="7315200" cy="804862"/>
          </a:xfrm>
        </p:spPr>
        <p:txBody>
          <a:bodyPr/>
          <a:lstStyle>
            <a:lvl1pPr marL="0" indent="0">
              <a:buNone/>
              <a:defRPr sz="1400"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dirty="0"/>
              <a:t>Text Area</a:t>
            </a:r>
            <a:endParaRPr lang="zh-TW" altLang="en-US" dirty="0"/>
          </a:p>
        </p:txBody>
      </p:sp>
      <p:sp>
        <p:nvSpPr>
          <p:cNvPr id="8" name="投影片編號版面配置區 7"/>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Tree>
    <p:extLst>
      <p:ext uri="{BB962C8B-B14F-4D97-AF65-F5344CB8AC3E}">
        <p14:creationId xmlns:p14="http://schemas.microsoft.com/office/powerpoint/2010/main" val="3098354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hasCustomPrompt="1"/>
          </p:nvPr>
        </p:nvSpPr>
        <p:spPr/>
        <p:txBody>
          <a:bodyPr/>
          <a:lstStyle/>
          <a:p>
            <a:r>
              <a:rPr lang="en-US" altLang="zh-TW" dirty="0"/>
              <a:t>Heading Level One</a:t>
            </a:r>
            <a:endParaRPr lang="zh-TW" altLang="en-US" dirty="0"/>
          </a:p>
        </p:txBody>
      </p:sp>
      <p:sp>
        <p:nvSpPr>
          <p:cNvPr id="3" name="直排文字版面配置區 2"/>
          <p:cNvSpPr>
            <a:spLocks noGrp="1"/>
          </p:cNvSpPr>
          <p:nvPr>
            <p:ph type="body" orient="vert" idx="1" hasCustomPrompt="1"/>
          </p:nvPr>
        </p:nvSpPr>
        <p:spPr/>
        <p:txBody>
          <a:bodyPr vert="eaVert"/>
          <a:lstStyle>
            <a:lvl1pPr>
              <a:defRPr/>
            </a:lvl1pPr>
            <a:lvl2pPr>
              <a:defRPr/>
            </a:lvl2pPr>
            <a:lvl3pPr>
              <a:defRPr/>
            </a:lvl3pPr>
            <a:lvl4pPr>
              <a:defRPr/>
            </a:lvl4pPr>
            <a:lvl5pPr>
              <a:defRPr baseline="0"/>
            </a:lvl5pPr>
          </a:lstStyle>
          <a:p>
            <a:pPr lvl="0"/>
            <a:r>
              <a:rPr lang="en-US" altLang="zh-TW" dirty="0"/>
              <a:t>Text Level One</a:t>
            </a:r>
            <a:endParaRPr lang="zh-TW" altLang="en-US" dirty="0"/>
          </a:p>
          <a:p>
            <a:pPr lvl="1"/>
            <a:r>
              <a:rPr lang="en-US" altLang="zh-TW" dirty="0"/>
              <a:t>Text 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Tree>
    <p:extLst>
      <p:ext uri="{BB962C8B-B14F-4D97-AF65-F5344CB8AC3E}">
        <p14:creationId xmlns:p14="http://schemas.microsoft.com/office/powerpoint/2010/main" val="2254992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hasCustomPrompt="1"/>
          </p:nvPr>
        </p:nvSpPr>
        <p:spPr>
          <a:xfrm>
            <a:off x="8972551" y="308224"/>
            <a:ext cx="2789767" cy="5889375"/>
          </a:xfrm>
        </p:spPr>
        <p:txBody>
          <a:bodyPr vert="eaVert"/>
          <a:lstStyle/>
          <a:p>
            <a:r>
              <a:rPr lang="en-US" altLang="zh-TW" dirty="0"/>
              <a:t>Heading Level One</a:t>
            </a:r>
            <a:endParaRPr lang="zh-TW" altLang="en-US" dirty="0"/>
          </a:p>
        </p:txBody>
      </p:sp>
      <p:sp>
        <p:nvSpPr>
          <p:cNvPr id="7" name="投影片編號版面配置區 6"/>
          <p:cNvSpPr>
            <a:spLocks noGrp="1"/>
          </p:cNvSpPr>
          <p:nvPr>
            <p:ph type="sldNum" sz="quarter" idx="10"/>
          </p:nvPr>
        </p:nvSpPr>
        <p:spPr/>
        <p:txBody>
          <a:bodyPr/>
          <a:lstStyle/>
          <a:p>
            <a:pPr>
              <a:defRPr/>
            </a:pPr>
            <a:fld id="{CF627BE3-1269-44D5-A349-82FD5D94EBD8}" type="slidenum">
              <a:rPr lang="en-US" altLang="zh-TW" smtClean="0"/>
              <a:pPr>
                <a:defRPr/>
              </a:pPr>
              <a:t>‹#›</a:t>
            </a:fld>
            <a:endParaRPr lang="en-US" altLang="zh-TW"/>
          </a:p>
        </p:txBody>
      </p:sp>
      <p:sp>
        <p:nvSpPr>
          <p:cNvPr id="9" name="直排文字版面配置區 2"/>
          <p:cNvSpPr>
            <a:spLocks noGrp="1"/>
          </p:cNvSpPr>
          <p:nvPr>
            <p:ph type="body" orient="vert" idx="1" hasCustomPrompt="1"/>
          </p:nvPr>
        </p:nvSpPr>
        <p:spPr>
          <a:xfrm>
            <a:off x="609601" y="308224"/>
            <a:ext cx="8165690" cy="5889377"/>
          </a:xfrm>
        </p:spPr>
        <p:txBody>
          <a:bodyPr vert="eaVert"/>
          <a:lstStyle>
            <a:lvl1pPr>
              <a:defRPr/>
            </a:lvl1pPr>
            <a:lvl2pPr>
              <a:defRPr/>
            </a:lvl2pPr>
            <a:lvl3pPr>
              <a:defRPr/>
            </a:lvl3pPr>
            <a:lvl4pPr>
              <a:defRPr/>
            </a:lvl4pPr>
            <a:lvl5pPr>
              <a:defRPr baseline="0"/>
            </a:lvl5pPr>
          </a:lstStyle>
          <a:p>
            <a:pPr lvl="0"/>
            <a:r>
              <a:rPr lang="en-US" altLang="zh-TW" dirty="0"/>
              <a:t>Text Level One</a:t>
            </a:r>
            <a:endParaRPr lang="zh-TW" altLang="en-US" dirty="0"/>
          </a:p>
          <a:p>
            <a:pPr lvl="1"/>
            <a:r>
              <a:rPr lang="en-US" altLang="zh-TW" dirty="0"/>
              <a:t>Text 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Tree>
    <p:extLst>
      <p:ext uri="{BB962C8B-B14F-4D97-AF65-F5344CB8AC3E}">
        <p14:creationId xmlns:p14="http://schemas.microsoft.com/office/powerpoint/2010/main" val="2736825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Rectangle 27"/>
          <p:cNvSpPr>
            <a:spLocks noChangeArrowheads="1"/>
          </p:cNvSpPr>
          <p:nvPr userDrawn="1"/>
        </p:nvSpPr>
        <p:spPr bwMode="auto">
          <a:xfrm>
            <a:off x="0" y="6618288"/>
            <a:ext cx="12192000" cy="239712"/>
          </a:xfrm>
          <a:prstGeom prst="rect">
            <a:avLst/>
          </a:prstGeom>
          <a:solidFill>
            <a:srgbClr val="009FE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algn="ctr"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algn="ctr"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algn="ctr"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algn="ctr" eaLnBrk="0" fontAlgn="base" hangingPunct="0">
              <a:spcBef>
                <a:spcPct val="0"/>
              </a:spcBef>
              <a:spcAft>
                <a:spcPct val="0"/>
              </a:spcAft>
              <a:defRPr kumimoji="1">
                <a:solidFill>
                  <a:schemeClr val="tx1"/>
                </a:solidFill>
                <a:latin typeface="Arial" charset="0"/>
                <a:ea typeface="新細明體" pitchFamily="18" charset="-120"/>
              </a:defRPr>
            </a:lvl9pPr>
          </a:lstStyle>
          <a:p>
            <a:pPr algn="ctr" eaLnBrk="1" hangingPunct="1">
              <a:defRPr/>
            </a:pPr>
            <a:endParaRPr lang="zh-TW" altLang="en-US"/>
          </a:p>
        </p:txBody>
      </p:sp>
      <p:sp>
        <p:nvSpPr>
          <p:cNvPr id="1027" name="Rectangle 43"/>
          <p:cNvSpPr>
            <a:spLocks noGrp="1" noChangeArrowheads="1"/>
          </p:cNvSpPr>
          <p:nvPr>
            <p:ph type="title"/>
          </p:nvPr>
        </p:nvSpPr>
        <p:spPr bwMode="auto">
          <a:xfrm>
            <a:off x="601133" y="297951"/>
            <a:ext cx="11159067" cy="908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dirty="0"/>
              <a:t>Heading Level One</a:t>
            </a:r>
            <a:endParaRPr lang="zh-TW" altLang="en-US" dirty="0"/>
          </a:p>
        </p:txBody>
      </p:sp>
      <p:sp>
        <p:nvSpPr>
          <p:cNvPr id="1028" name="Rectangle 44"/>
          <p:cNvSpPr>
            <a:spLocks noGrp="1" noChangeArrowheads="1"/>
          </p:cNvSpPr>
          <p:nvPr>
            <p:ph type="body" idx="1"/>
          </p:nvPr>
        </p:nvSpPr>
        <p:spPr bwMode="auto">
          <a:xfrm>
            <a:off x="609600" y="1439864"/>
            <a:ext cx="11152717"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dirty="0"/>
              <a:t>Text Level One</a:t>
            </a:r>
            <a:endParaRPr lang="zh-TW" altLang="en-US" dirty="0"/>
          </a:p>
          <a:p>
            <a:pPr lvl="1"/>
            <a:r>
              <a:rPr lang="en-US" altLang="zh-TW" dirty="0"/>
              <a:t>Text Level Two</a:t>
            </a:r>
            <a:endParaRPr lang="zh-TW" altLang="en-US" dirty="0"/>
          </a:p>
          <a:p>
            <a:pPr lvl="2"/>
            <a:r>
              <a:rPr lang="en-US" altLang="zh-TW" dirty="0"/>
              <a:t>Text Level Three</a:t>
            </a:r>
            <a:endParaRPr lang="zh-TW" altLang="en-US" dirty="0"/>
          </a:p>
          <a:p>
            <a:pPr lvl="3"/>
            <a:r>
              <a:rPr lang="en-US" altLang="zh-TW" dirty="0"/>
              <a:t>Text Level Four</a:t>
            </a:r>
            <a:endParaRPr lang="zh-TW" altLang="en-US" dirty="0"/>
          </a:p>
          <a:p>
            <a:pPr lvl="4"/>
            <a:r>
              <a:rPr lang="en-US" altLang="zh-TW" dirty="0"/>
              <a:t>Text Level Five</a:t>
            </a:r>
            <a:endParaRPr lang="zh-TW" altLang="en-US" dirty="0"/>
          </a:p>
        </p:txBody>
      </p:sp>
      <p:sp>
        <p:nvSpPr>
          <p:cNvPr id="29743" name="Rectangle 47"/>
          <p:cNvSpPr>
            <a:spLocks noGrp="1" noChangeArrowheads="1"/>
          </p:cNvSpPr>
          <p:nvPr>
            <p:ph type="sldNum" sz="quarter" idx="4"/>
          </p:nvPr>
        </p:nvSpPr>
        <p:spPr bwMode="auto">
          <a:xfrm>
            <a:off x="11430000" y="6619876"/>
            <a:ext cx="762000" cy="2381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fontAlgn="ctr" hangingPunct="1">
              <a:defRPr sz="1200">
                <a:solidFill>
                  <a:schemeClr val="bg1"/>
                </a:solidFill>
                <a:ea typeface="微軟正黑體" panose="020B0604030504040204" pitchFamily="34" charset="-120"/>
              </a:defRPr>
            </a:lvl1pPr>
          </a:lstStyle>
          <a:p>
            <a:pPr>
              <a:defRPr/>
            </a:pPr>
            <a:fld id="{CF627BE3-1269-44D5-A349-82FD5D94EBD8}" type="slidenum">
              <a:rPr lang="en-US" altLang="zh-TW"/>
              <a:pPr>
                <a:defRPr/>
              </a:pPr>
              <a:t>‹#›</a:t>
            </a:fld>
            <a:endParaRPr lang="en-US" altLang="zh-TW"/>
          </a:p>
        </p:txBody>
      </p:sp>
      <p:sp>
        <p:nvSpPr>
          <p:cNvPr id="1036" name="Text Box 52"/>
          <p:cNvSpPr txBox="1">
            <a:spLocks noChangeArrowheads="1"/>
          </p:cNvSpPr>
          <p:nvPr/>
        </p:nvSpPr>
        <p:spPr bwMode="auto">
          <a:xfrm>
            <a:off x="0" y="7200900"/>
            <a:ext cx="721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kumimoji="1">
                <a:solidFill>
                  <a:schemeClr val="tx1"/>
                </a:solidFill>
                <a:latin typeface="Arial" panose="020B0604020202020204" pitchFamily="34" charset="0"/>
                <a:ea typeface="新細明體" panose="02020500000000000000" pitchFamily="18" charset="-120"/>
              </a:defRPr>
            </a:lvl1pPr>
            <a:lvl2pPr marL="742950" indent="-285750" algn="ctr">
              <a:defRPr kumimoji="1">
                <a:solidFill>
                  <a:schemeClr val="tx1"/>
                </a:solidFill>
                <a:latin typeface="Arial" panose="020B0604020202020204" pitchFamily="34" charset="0"/>
                <a:ea typeface="新細明體" panose="02020500000000000000" pitchFamily="18" charset="-120"/>
              </a:defRPr>
            </a:lvl2pPr>
            <a:lvl3pPr marL="1143000" indent="-228600" algn="ctr">
              <a:defRPr kumimoji="1">
                <a:solidFill>
                  <a:schemeClr val="tx1"/>
                </a:solidFill>
                <a:latin typeface="Arial" panose="020B0604020202020204" pitchFamily="34" charset="0"/>
                <a:ea typeface="新細明體" panose="02020500000000000000" pitchFamily="18" charset="-120"/>
              </a:defRPr>
            </a:lvl3pPr>
            <a:lvl4pPr marL="1600200" indent="-228600" algn="ctr">
              <a:defRPr kumimoji="1">
                <a:solidFill>
                  <a:schemeClr val="tx1"/>
                </a:solidFill>
                <a:latin typeface="Arial" panose="020B0604020202020204" pitchFamily="34" charset="0"/>
                <a:ea typeface="新細明體" panose="02020500000000000000" pitchFamily="18" charset="-120"/>
              </a:defRPr>
            </a:lvl4pPr>
            <a:lvl5pPr marL="2057400" indent="-228600" algn="ctr">
              <a:defRPr kumimoji="1">
                <a:solidFill>
                  <a:schemeClr val="tx1"/>
                </a:solidFill>
                <a:latin typeface="Arial" panose="020B0604020202020204" pitchFamily="34" charset="0"/>
                <a:ea typeface="新細明體" panose="02020500000000000000" pitchFamily="18" charset="-120"/>
              </a:defRPr>
            </a:lvl5pPr>
            <a:lvl6pPr marL="2514600" indent="-228600" algn="ctr"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algn="ctr"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algn="ctr"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algn="ctr"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l" eaLnBrk="1" hangingPunct="1">
              <a:spcBef>
                <a:spcPct val="50000"/>
              </a:spcBef>
              <a:defRPr/>
            </a:pPr>
            <a:r>
              <a:rPr lang="zh-TW" altLang="en-US" sz="2400">
                <a:ea typeface="微軟正黑體" panose="020B0604030504040204" pitchFamily="34" charset="-120"/>
              </a:rPr>
              <a:t>建議字型：中文微軟正黑體，英文</a:t>
            </a:r>
            <a:r>
              <a:rPr lang="en-US" altLang="zh-TW" sz="2400">
                <a:ea typeface="微軟正黑體" panose="020B0604030504040204" pitchFamily="34" charset="-120"/>
              </a:rPr>
              <a:t>Arial</a:t>
            </a:r>
          </a:p>
        </p:txBody>
      </p:sp>
      <p:pic>
        <p:nvPicPr>
          <p:cNvPr id="14" name="圖片 13"/>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0968037" y="6223795"/>
            <a:ext cx="92392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8"/>
          <p:cNvSpPr txBox="1">
            <a:spLocks noChangeArrowheads="1"/>
          </p:cNvSpPr>
          <p:nvPr userDrawn="1"/>
        </p:nvSpPr>
        <p:spPr bwMode="auto">
          <a:xfrm>
            <a:off x="-2" y="6616092"/>
            <a:ext cx="100742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algn="l" eaLnBrk="1" hangingPunct="1">
              <a:defRPr/>
            </a:pPr>
            <a:r>
              <a:rPr lang="en-US" altLang="zh-TW" sz="1000" dirty="0">
                <a:solidFill>
                  <a:schemeClr val="bg1"/>
                </a:solidFill>
                <a:ea typeface="微軟正黑體" panose="020B0604030504040204" pitchFamily="34" charset="-120"/>
              </a:rPr>
              <a:t>©Industrial Technology Research Institute.  All rights reserved.</a:t>
            </a:r>
            <a:endParaRPr lang="zh-TW" altLang="en-US" sz="1000" dirty="0">
              <a:solidFill>
                <a:schemeClr val="bg1"/>
              </a:solidFill>
              <a:ea typeface="微軟正黑體" panose="020B0604030504040204" pitchFamily="34" charset="-120"/>
            </a:endParaRPr>
          </a:p>
        </p:txBody>
      </p:sp>
    </p:spTree>
  </p:cSld>
  <p:clrMap bg1="lt1" tx1="dk1" bg2="lt2" tx2="dk2" accent1="accent1" accent2="accent2" accent3="accent3" accent4="accent4" accent5="accent5" accent6="accent6" hlink="hlink" folHlink="folHlink"/>
  <p:sldLayoutIdLst>
    <p:sldLayoutId id="2147483889" r:id="rId1"/>
    <p:sldLayoutId id="2147483879" r:id="rId2"/>
    <p:sldLayoutId id="2147483891" r:id="rId3"/>
    <p:sldLayoutId id="2147483890" r:id="rId4"/>
    <p:sldLayoutId id="2147483880" r:id="rId5"/>
    <p:sldLayoutId id="2147483892"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Lst>
  <p:hf hdr="0" ftr="0" dt="0"/>
  <p:txStyles>
    <p:titleStyle>
      <a:lvl1pPr algn="l" rtl="0" eaLnBrk="0" fontAlgn="base" hangingPunct="0">
        <a:spcBef>
          <a:spcPct val="0"/>
        </a:spcBef>
        <a:spcAft>
          <a:spcPct val="0"/>
        </a:spcAft>
        <a:defRPr kumimoji="1" sz="4000">
          <a:solidFill>
            <a:schemeClr val="tx1">
              <a:lumMod val="75000"/>
              <a:lumOff val="25000"/>
            </a:schemeClr>
          </a:solidFill>
          <a:latin typeface="+mj-lt"/>
          <a:ea typeface="+mj-ea"/>
          <a:cs typeface="+mj-cs"/>
        </a:defRPr>
      </a:lvl1pPr>
      <a:lvl2pPr algn="l" rtl="0" eaLnBrk="0" fontAlgn="base" hangingPunct="0">
        <a:spcBef>
          <a:spcPct val="0"/>
        </a:spcBef>
        <a:spcAft>
          <a:spcPct val="0"/>
        </a:spcAft>
        <a:defRPr kumimoji="1" sz="4600">
          <a:solidFill>
            <a:schemeClr val="tx2"/>
          </a:solidFill>
          <a:latin typeface="Arial" charset="0"/>
          <a:ea typeface="微軟正黑體" pitchFamily="34" charset="-120"/>
        </a:defRPr>
      </a:lvl2pPr>
      <a:lvl3pPr algn="l" rtl="0" eaLnBrk="0" fontAlgn="base" hangingPunct="0">
        <a:spcBef>
          <a:spcPct val="0"/>
        </a:spcBef>
        <a:spcAft>
          <a:spcPct val="0"/>
        </a:spcAft>
        <a:defRPr kumimoji="1" sz="4600">
          <a:solidFill>
            <a:schemeClr val="tx2"/>
          </a:solidFill>
          <a:latin typeface="Arial" charset="0"/>
          <a:ea typeface="微軟正黑體" pitchFamily="34" charset="-120"/>
        </a:defRPr>
      </a:lvl3pPr>
      <a:lvl4pPr algn="l" rtl="0" eaLnBrk="0" fontAlgn="base" hangingPunct="0">
        <a:spcBef>
          <a:spcPct val="0"/>
        </a:spcBef>
        <a:spcAft>
          <a:spcPct val="0"/>
        </a:spcAft>
        <a:defRPr kumimoji="1" sz="4600">
          <a:solidFill>
            <a:schemeClr val="tx2"/>
          </a:solidFill>
          <a:latin typeface="Arial" charset="0"/>
          <a:ea typeface="微軟正黑體" pitchFamily="34" charset="-120"/>
        </a:defRPr>
      </a:lvl4pPr>
      <a:lvl5pPr algn="l" rtl="0" eaLnBrk="0" fontAlgn="base" hangingPunct="0">
        <a:spcBef>
          <a:spcPct val="0"/>
        </a:spcBef>
        <a:spcAft>
          <a:spcPct val="0"/>
        </a:spcAft>
        <a:defRPr kumimoji="1" sz="4600">
          <a:solidFill>
            <a:schemeClr val="tx2"/>
          </a:solidFill>
          <a:latin typeface="Arial" charset="0"/>
          <a:ea typeface="微軟正黑體" pitchFamily="34" charset="-120"/>
        </a:defRPr>
      </a:lvl5pPr>
      <a:lvl6pPr marL="457200" algn="l" rtl="0" fontAlgn="base">
        <a:spcBef>
          <a:spcPct val="0"/>
        </a:spcBef>
        <a:spcAft>
          <a:spcPct val="0"/>
        </a:spcAft>
        <a:defRPr kumimoji="1" sz="4600">
          <a:solidFill>
            <a:schemeClr val="tx2"/>
          </a:solidFill>
          <a:latin typeface="Arial" charset="0"/>
          <a:ea typeface="微軟正黑體" pitchFamily="34" charset="-120"/>
        </a:defRPr>
      </a:lvl6pPr>
      <a:lvl7pPr marL="914400" algn="l" rtl="0" fontAlgn="base">
        <a:spcBef>
          <a:spcPct val="0"/>
        </a:spcBef>
        <a:spcAft>
          <a:spcPct val="0"/>
        </a:spcAft>
        <a:defRPr kumimoji="1" sz="4600">
          <a:solidFill>
            <a:schemeClr val="tx2"/>
          </a:solidFill>
          <a:latin typeface="Arial" charset="0"/>
          <a:ea typeface="微軟正黑體" pitchFamily="34" charset="-120"/>
        </a:defRPr>
      </a:lvl7pPr>
      <a:lvl8pPr marL="1371600" algn="l" rtl="0" fontAlgn="base">
        <a:spcBef>
          <a:spcPct val="0"/>
        </a:spcBef>
        <a:spcAft>
          <a:spcPct val="0"/>
        </a:spcAft>
        <a:defRPr kumimoji="1" sz="4600">
          <a:solidFill>
            <a:schemeClr val="tx2"/>
          </a:solidFill>
          <a:latin typeface="Arial" charset="0"/>
          <a:ea typeface="微軟正黑體" pitchFamily="34" charset="-120"/>
        </a:defRPr>
      </a:lvl8pPr>
      <a:lvl9pPr marL="1828800" algn="l" rtl="0" fontAlgn="base">
        <a:spcBef>
          <a:spcPct val="0"/>
        </a:spcBef>
        <a:spcAft>
          <a:spcPct val="0"/>
        </a:spcAft>
        <a:defRPr kumimoji="1" sz="4600">
          <a:solidFill>
            <a:schemeClr val="tx2"/>
          </a:solidFill>
          <a:latin typeface="Arial" charset="0"/>
          <a:ea typeface="微軟正黑體" pitchFamily="34" charset="-120"/>
        </a:defRPr>
      </a:lvl9pPr>
    </p:titleStyle>
    <p:bodyStyle>
      <a:lvl1pPr marL="342900" indent="-342900" algn="l" rtl="0" eaLnBrk="0" fontAlgn="base" hangingPunct="0">
        <a:spcBef>
          <a:spcPct val="20000"/>
        </a:spcBef>
        <a:spcAft>
          <a:spcPct val="0"/>
        </a:spcAft>
        <a:buChar char="•"/>
        <a:defRPr kumimoji="1"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baseline="0">
          <a:solidFill>
            <a:schemeClr val="tx1"/>
          </a:solidFill>
          <a:latin typeface="+mn-lt"/>
          <a:ea typeface="+mn-ea"/>
        </a:defRPr>
      </a:lvl2pPr>
      <a:lvl3pPr marL="1143000" indent="-228600" algn="l" rtl="0" eaLnBrk="0" fontAlgn="base" hangingPunct="0">
        <a:spcBef>
          <a:spcPct val="20000"/>
        </a:spcBef>
        <a:spcAft>
          <a:spcPct val="0"/>
        </a:spcAft>
        <a:buChar char="•"/>
        <a:defRPr kumimoji="1" sz="2400" baseline="0">
          <a:solidFill>
            <a:schemeClr val="tx1"/>
          </a:solidFill>
          <a:latin typeface="+mn-lt"/>
          <a:ea typeface="+mn-ea"/>
        </a:defRPr>
      </a:lvl3pPr>
      <a:lvl4pPr marL="1600200" indent="-228600" algn="l" rtl="0" eaLnBrk="0" fontAlgn="base" hangingPunct="0">
        <a:spcBef>
          <a:spcPct val="20000"/>
        </a:spcBef>
        <a:spcAft>
          <a:spcPct val="0"/>
        </a:spcAft>
        <a:buChar char="–"/>
        <a:defRPr kumimoji="1" sz="2000" baseline="0">
          <a:solidFill>
            <a:schemeClr val="tx1"/>
          </a:solidFill>
          <a:latin typeface="+mn-lt"/>
          <a:ea typeface="+mn-ea"/>
        </a:defRPr>
      </a:lvl4pPr>
      <a:lvl5pPr marL="2057400" indent="-228600" algn="l" rtl="0" eaLnBrk="0" fontAlgn="base" hangingPunct="0">
        <a:spcBef>
          <a:spcPct val="20000"/>
        </a:spcBef>
        <a:spcAft>
          <a:spcPct val="0"/>
        </a:spcAft>
        <a:buChar char="»"/>
        <a:defRPr kumimoji="1" sz="2000" baseline="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github.com/jonathansimple/intro-to-llms"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www.amd.com/en/developer/ai-dev-program.html?utm_source=Academic&amp;utm_campaign=ITRI&amp;utm_id=AUP"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hyperlink" Target="https://github.com/jonathansimple/intro-to-llms" TargetMode="External"/></Relationships>
</file>

<file path=ppt/slides/_rels/slide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huggingface.co/" TargetMode="Externa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hyperlink" Target="http://localhost:11434/v1"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4000" dirty="0">
                <a:effectLst/>
                <a:latin typeface="Arial" panose="020B0604020202020204" pitchFamily="34" charset="0"/>
                <a:ea typeface="新細明體" panose="02020500000000000000" pitchFamily="18" charset="-120"/>
              </a:rPr>
              <a:t>Introduction to </a:t>
            </a:r>
            <a:r>
              <a:rPr lang="en-US" altLang="zh-TW" sz="4000" dirty="0"/>
              <a:t>LLM (Large Language Model) Applications on AMD Platforms</a:t>
            </a:r>
            <a:endParaRPr lang="zh-TW" altLang="en-US" sz="4000" dirty="0"/>
          </a:p>
        </p:txBody>
      </p:sp>
      <p:sp>
        <p:nvSpPr>
          <p:cNvPr id="3" name="副標題 2"/>
          <p:cNvSpPr>
            <a:spLocks noGrp="1"/>
          </p:cNvSpPr>
          <p:nvPr>
            <p:ph type="subTitle" idx="1"/>
          </p:nvPr>
        </p:nvSpPr>
        <p:spPr/>
        <p:txBody>
          <a:bodyPr/>
          <a:lstStyle/>
          <a:p>
            <a:r>
              <a:rPr lang="zh-TW" altLang="en-US" dirty="0"/>
              <a:t>黃彥勲</a:t>
            </a:r>
            <a:endParaRPr lang="en-US" altLang="zh-TW" dirty="0"/>
          </a:p>
          <a:p>
            <a:endParaRPr lang="en-US" altLang="zh-TW" dirty="0"/>
          </a:p>
          <a:p>
            <a:r>
              <a:rPr lang="en-US" altLang="zh-TW" dirty="0"/>
              <a:t>Sean Huang</a:t>
            </a:r>
            <a:endParaRPr lang="zh-TW" altLang="en-US" dirty="0"/>
          </a:p>
        </p:txBody>
      </p:sp>
    </p:spTree>
    <p:extLst>
      <p:ext uri="{BB962C8B-B14F-4D97-AF65-F5344CB8AC3E}">
        <p14:creationId xmlns:p14="http://schemas.microsoft.com/office/powerpoint/2010/main" val="3529789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38809E-4714-4734-B649-E4D39425142C}"/>
              </a:ext>
            </a:extLst>
          </p:cNvPr>
          <p:cNvSpPr>
            <a:spLocks noGrp="1"/>
          </p:cNvSpPr>
          <p:nvPr>
            <p:ph type="title"/>
          </p:nvPr>
        </p:nvSpPr>
        <p:spPr/>
        <p:txBody>
          <a:bodyPr/>
          <a:lstStyle/>
          <a:p>
            <a:r>
              <a:rPr lang="en-US" altLang="zh-TW" sz="4000" dirty="0"/>
              <a:t>Lesson Outline</a:t>
            </a:r>
          </a:p>
        </p:txBody>
      </p:sp>
      <p:sp>
        <p:nvSpPr>
          <p:cNvPr id="3" name="內容版面配置區 2">
            <a:extLst>
              <a:ext uri="{FF2B5EF4-FFF2-40B4-BE49-F238E27FC236}">
                <a16:creationId xmlns:a16="http://schemas.microsoft.com/office/drawing/2014/main" id="{2F4D1E6E-1D20-4E8F-AA86-85FEEEF40A3C}"/>
              </a:ext>
            </a:extLst>
          </p:cNvPr>
          <p:cNvSpPr>
            <a:spLocks noGrp="1"/>
          </p:cNvSpPr>
          <p:nvPr>
            <p:ph idx="1"/>
          </p:nvPr>
        </p:nvSpPr>
        <p:spPr>
          <a:xfrm>
            <a:off x="609600" y="1206499"/>
            <a:ext cx="11152717" cy="4757737"/>
          </a:xfrm>
        </p:spPr>
        <p:txBody>
          <a:bodyPr/>
          <a:lstStyle/>
          <a:p>
            <a:pPr marL="0" indent="0">
              <a:buNone/>
            </a:pPr>
            <a:r>
              <a:rPr lang="en-US" altLang="zh-TW" sz="1800" b="0" i="0" dirty="0">
                <a:solidFill>
                  <a:srgbClr val="000000"/>
                </a:solidFill>
                <a:effectLst/>
                <a:latin typeface="Arial" panose="020B0604020202020204" pitchFamily="34" charset="0"/>
              </a:rPr>
              <a:t>Theoretical Component</a:t>
            </a:r>
          </a:p>
          <a:p>
            <a:pPr marL="914400" lvl="1" indent="-514350">
              <a:buFont typeface="+mj-lt"/>
              <a:buAutoNum type="arabicPeriod"/>
            </a:pPr>
            <a:r>
              <a:rPr lang="en-US" altLang="zh-TW" sz="1600" b="0" i="0" dirty="0">
                <a:solidFill>
                  <a:srgbClr val="000000"/>
                </a:solidFill>
                <a:effectLst/>
                <a:latin typeface="Arial" panose="020B0604020202020204" pitchFamily="34" charset="0"/>
              </a:rPr>
              <a:t>Foundations of LLMs</a:t>
            </a:r>
          </a:p>
          <a:p>
            <a:pPr marL="914400" lvl="1" indent="-514350">
              <a:buFont typeface="+mj-lt"/>
              <a:buAutoNum type="arabicPeriod"/>
            </a:pPr>
            <a:r>
              <a:rPr lang="en-US" altLang="zh-TW" sz="1600" dirty="0">
                <a:solidFill>
                  <a:srgbClr val="000000"/>
                </a:solidFill>
                <a:latin typeface="Arial" panose="020B0604020202020204" pitchFamily="34" charset="0"/>
              </a:rPr>
              <a:t>Basics of LLM Fine Tuning</a:t>
            </a:r>
          </a:p>
          <a:p>
            <a:pPr marL="914400" lvl="1" indent="-514350">
              <a:buFont typeface="+mj-lt"/>
              <a:buAutoNum type="arabicPeriod"/>
            </a:pPr>
            <a:r>
              <a:rPr lang="en-US" altLang="zh-TW" sz="1600" b="0" i="0" dirty="0">
                <a:solidFill>
                  <a:srgbClr val="000000"/>
                </a:solidFill>
                <a:effectLst/>
                <a:latin typeface="Arial" panose="020B0604020202020204" pitchFamily="34" charset="0"/>
              </a:rPr>
              <a:t>Retrieval-Augmented Generation (RAG)</a:t>
            </a:r>
          </a:p>
          <a:p>
            <a:pPr marL="914400" lvl="1" indent="-514350">
              <a:buFont typeface="+mj-lt"/>
              <a:buAutoNum type="arabicPeriod"/>
            </a:pPr>
            <a:r>
              <a:rPr lang="en-US" altLang="zh-TW" sz="1600" b="0" i="0" dirty="0">
                <a:solidFill>
                  <a:srgbClr val="000000"/>
                </a:solidFill>
                <a:effectLst/>
                <a:latin typeface="Arial" panose="020B0604020202020204" pitchFamily="34" charset="0"/>
              </a:rPr>
              <a:t>Function Calling Implementation</a:t>
            </a:r>
          </a:p>
          <a:p>
            <a:pPr marL="0" indent="0">
              <a:buNone/>
            </a:pPr>
            <a:endParaRPr lang="en-US" altLang="zh-TW" sz="1800" b="0" i="0" dirty="0">
              <a:solidFill>
                <a:srgbClr val="000000"/>
              </a:solidFill>
              <a:effectLst/>
              <a:latin typeface="Arial" panose="020B0604020202020204" pitchFamily="34" charset="0"/>
            </a:endParaRPr>
          </a:p>
          <a:p>
            <a:pPr marL="0" indent="0">
              <a:buNone/>
            </a:pPr>
            <a:r>
              <a:rPr lang="en-US" altLang="zh-TW" sz="1800" b="0" i="0" dirty="0">
                <a:solidFill>
                  <a:srgbClr val="000000"/>
                </a:solidFill>
                <a:effectLst/>
                <a:latin typeface="Arial" panose="020B0604020202020204" pitchFamily="34" charset="0"/>
              </a:rPr>
              <a:t>Practical Component</a:t>
            </a:r>
          </a:p>
          <a:p>
            <a:pPr marL="914400" lvl="1" indent="-514350">
              <a:buFont typeface="+mj-lt"/>
              <a:buAutoNum type="arabicPeriod"/>
            </a:pPr>
            <a:r>
              <a:rPr lang="en-US" altLang="zh-TW" sz="1600" b="0" i="0" dirty="0">
                <a:solidFill>
                  <a:srgbClr val="000000"/>
                </a:solidFill>
                <a:effectLst/>
                <a:latin typeface="Arial" panose="020B0604020202020204" pitchFamily="34" charset="0"/>
              </a:rPr>
              <a:t>Difference Between Nvidia/CUDA and AMD/ROCm Platforms</a:t>
            </a:r>
          </a:p>
          <a:p>
            <a:pPr marL="914400" lvl="1" indent="-514350">
              <a:buFont typeface="+mj-lt"/>
              <a:buAutoNum type="arabicPeriod"/>
            </a:pPr>
            <a:r>
              <a:rPr lang="en-US" altLang="zh-TW" sz="1600" dirty="0">
                <a:solidFill>
                  <a:srgbClr val="000000"/>
                </a:solidFill>
                <a:latin typeface="Arial" panose="020B0604020202020204" pitchFamily="34" charset="0"/>
              </a:rPr>
              <a:t>Interfacing with the MI300 Server</a:t>
            </a:r>
          </a:p>
          <a:p>
            <a:pPr marL="914400" lvl="1" indent="-514350">
              <a:buFont typeface="+mj-lt"/>
              <a:buAutoNum type="arabicPeriod"/>
            </a:pPr>
            <a:r>
              <a:rPr lang="en-US" altLang="zh-TW" sz="1600" b="0" i="0" dirty="0">
                <a:solidFill>
                  <a:srgbClr val="000000"/>
                </a:solidFill>
                <a:effectLst/>
                <a:latin typeface="Arial" panose="020B0604020202020204" pitchFamily="34" charset="0"/>
              </a:rPr>
              <a:t>RAG Using MI300 Generator and Local Data</a:t>
            </a:r>
          </a:p>
          <a:p>
            <a:pPr marL="914400" lvl="1" indent="-514350">
              <a:buFont typeface="+mj-lt"/>
              <a:buAutoNum type="arabicPeriod"/>
            </a:pPr>
            <a:r>
              <a:rPr lang="en-US" altLang="zh-TW" sz="1600" b="0" i="0" dirty="0">
                <a:solidFill>
                  <a:srgbClr val="000000"/>
                </a:solidFill>
                <a:effectLst/>
                <a:latin typeface="Arial" panose="020B0604020202020204" pitchFamily="34" charset="0"/>
              </a:rPr>
              <a:t>Function Calling Implementation</a:t>
            </a:r>
          </a:p>
          <a:p>
            <a:pPr marL="914400" lvl="1" indent="-514350">
              <a:buFont typeface="+mj-lt"/>
              <a:buAutoNum type="arabicPeriod"/>
            </a:pPr>
            <a:r>
              <a:rPr lang="en-US" altLang="zh-TW" sz="1600" i="0" dirty="0">
                <a:solidFill>
                  <a:srgbClr val="000000"/>
                </a:solidFill>
                <a:effectLst/>
                <a:latin typeface="Arial" panose="020B0604020202020204" pitchFamily="34" charset="0"/>
              </a:rPr>
              <a:t>AMD Programmer Certification</a:t>
            </a:r>
          </a:p>
          <a:p>
            <a:pPr marL="0" indent="0">
              <a:buNone/>
            </a:pPr>
            <a:endParaRPr lang="en-US" altLang="zh-TW" sz="2000" b="0" i="0" dirty="0">
              <a:solidFill>
                <a:srgbClr val="000000"/>
              </a:solidFill>
              <a:effectLst/>
              <a:latin typeface="Arial" panose="020B0604020202020204" pitchFamily="34" charset="0"/>
            </a:endParaRPr>
          </a:p>
          <a:p>
            <a:pPr marL="0" indent="0">
              <a:buNone/>
            </a:pPr>
            <a:r>
              <a:rPr lang="en-US" altLang="zh-TW" sz="2000" b="0" i="0" dirty="0">
                <a:solidFill>
                  <a:srgbClr val="000000"/>
                </a:solidFill>
                <a:effectLst/>
                <a:latin typeface="Arial" panose="020B0604020202020204" pitchFamily="34" charset="0"/>
              </a:rPr>
              <a:t>Appendix</a:t>
            </a:r>
          </a:p>
          <a:p>
            <a:pPr marL="914400" lvl="1" indent="-514350">
              <a:buFont typeface="+mj-lt"/>
              <a:buAutoNum type="arabicPeriod"/>
            </a:pPr>
            <a:r>
              <a:rPr lang="en-US" altLang="zh-TW" sz="1600" dirty="0"/>
              <a:t>Preparations for Working With LLMs</a:t>
            </a:r>
          </a:p>
          <a:p>
            <a:pPr marL="914400" lvl="1" indent="-514350">
              <a:buFont typeface="+mj-lt"/>
              <a:buAutoNum type="arabicPeriod"/>
            </a:pPr>
            <a:r>
              <a:rPr lang="en-US" altLang="zh-TW" sz="1600" b="0" i="0" dirty="0">
                <a:solidFill>
                  <a:srgbClr val="000000"/>
                </a:solidFill>
                <a:effectLst/>
                <a:latin typeface="Arial" panose="020B0604020202020204" pitchFamily="34" charset="0"/>
              </a:rPr>
              <a:t>LLM Deployment Using Transformers</a:t>
            </a:r>
          </a:p>
          <a:p>
            <a:pPr marL="914400" lvl="1" indent="-514350">
              <a:buFont typeface="+mj-lt"/>
              <a:buAutoNum type="arabicPeriod"/>
            </a:pPr>
            <a:r>
              <a:rPr lang="en-US" altLang="zh-TW" sz="1600" i="0" dirty="0">
                <a:solidFill>
                  <a:srgbClr val="000000"/>
                </a:solidFill>
                <a:effectLst/>
                <a:latin typeface="Arial" panose="020B0604020202020204" pitchFamily="34" charset="0"/>
              </a:rPr>
              <a:t>LLM Deployment Alternatives</a:t>
            </a:r>
          </a:p>
          <a:p>
            <a:pPr marL="914400" lvl="1" indent="-514350">
              <a:buFont typeface="+mj-lt"/>
              <a:buAutoNum type="arabicPeriod"/>
            </a:pPr>
            <a:endParaRPr lang="en-US" altLang="zh-TW" sz="1600" b="1" i="0" dirty="0">
              <a:solidFill>
                <a:srgbClr val="000000"/>
              </a:solidFill>
              <a:effectLst/>
              <a:latin typeface="Arial" panose="020B0604020202020204" pitchFamily="34" charset="0"/>
            </a:endParaRPr>
          </a:p>
        </p:txBody>
      </p:sp>
      <p:sp>
        <p:nvSpPr>
          <p:cNvPr id="4" name="投影片編號版面配置區 3">
            <a:extLst>
              <a:ext uri="{FF2B5EF4-FFF2-40B4-BE49-F238E27FC236}">
                <a16:creationId xmlns:a16="http://schemas.microsoft.com/office/drawing/2014/main" id="{077D410D-7EF9-4504-A530-D91317B07BCE}"/>
              </a:ext>
            </a:extLst>
          </p:cNvPr>
          <p:cNvSpPr>
            <a:spLocks noGrp="1"/>
          </p:cNvSpPr>
          <p:nvPr>
            <p:ph type="sldNum" sz="quarter" idx="10"/>
          </p:nvPr>
        </p:nvSpPr>
        <p:spPr/>
        <p:txBody>
          <a:bodyPr/>
          <a:lstStyle/>
          <a:p>
            <a:pPr>
              <a:defRPr/>
            </a:pPr>
            <a:fld id="{CF627BE3-1269-44D5-A349-82FD5D94EBD8}" type="slidenum">
              <a:rPr lang="en-US" altLang="zh-TW" smtClean="0"/>
              <a:pPr>
                <a:defRPr/>
              </a:pPr>
              <a:t>2</a:t>
            </a:fld>
            <a:endParaRPr lang="en-US" altLang="zh-TW"/>
          </a:p>
        </p:txBody>
      </p:sp>
    </p:spTree>
    <p:extLst>
      <p:ext uri="{BB962C8B-B14F-4D97-AF65-F5344CB8AC3E}">
        <p14:creationId xmlns:p14="http://schemas.microsoft.com/office/powerpoint/2010/main" val="4208502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A9C803-7350-47ED-89ED-04DF32B9E339}"/>
              </a:ext>
            </a:extLst>
          </p:cNvPr>
          <p:cNvSpPr>
            <a:spLocks noGrp="1"/>
          </p:cNvSpPr>
          <p:nvPr>
            <p:ph type="title"/>
          </p:nvPr>
        </p:nvSpPr>
        <p:spPr/>
        <p:txBody>
          <a:bodyPr/>
          <a:lstStyle/>
          <a:p>
            <a:r>
              <a:rPr lang="en-US" altLang="zh-TW" dirty="0"/>
              <a:t>Goals</a:t>
            </a:r>
            <a:endParaRPr lang="zh-TW" altLang="en-US" dirty="0"/>
          </a:p>
        </p:txBody>
      </p:sp>
      <p:sp>
        <p:nvSpPr>
          <p:cNvPr id="3" name="內容版面配置區 2">
            <a:extLst>
              <a:ext uri="{FF2B5EF4-FFF2-40B4-BE49-F238E27FC236}">
                <a16:creationId xmlns:a16="http://schemas.microsoft.com/office/drawing/2014/main" id="{9AB325C8-5728-4498-916D-E1A99E03D718}"/>
              </a:ext>
            </a:extLst>
          </p:cNvPr>
          <p:cNvSpPr>
            <a:spLocks noGrp="1"/>
          </p:cNvSpPr>
          <p:nvPr>
            <p:ph idx="1"/>
          </p:nvPr>
        </p:nvSpPr>
        <p:spPr/>
        <p:txBody>
          <a:bodyPr/>
          <a:lstStyle/>
          <a:p>
            <a:r>
              <a:rPr lang="en-US" altLang="zh-TW" sz="2400" dirty="0"/>
              <a:t>There are two primary goals for today’s panel:</a:t>
            </a:r>
          </a:p>
          <a:p>
            <a:pPr marL="971550" lvl="1" indent="-514350">
              <a:buFont typeface="+mj-lt"/>
              <a:buAutoNum type="arabicPeriod"/>
            </a:pPr>
            <a:r>
              <a:rPr lang="en-US" altLang="zh-TW" sz="2000" dirty="0"/>
              <a:t>We want to instruct a LLM to interact with external APIs to perform a task for us (via function calling) – this is the foundation of creating an AI agent</a:t>
            </a:r>
          </a:p>
          <a:p>
            <a:pPr marL="971550" lvl="1" indent="-514350">
              <a:buFont typeface="+mj-lt"/>
              <a:buAutoNum type="arabicPeriod"/>
            </a:pPr>
            <a:r>
              <a:rPr lang="en-US" altLang="zh-TW" sz="2000" dirty="0"/>
              <a:t>We want to update a LLM's existing knowledge with and without using fine tuning</a:t>
            </a:r>
          </a:p>
          <a:p>
            <a:pPr lvl="1"/>
            <a:r>
              <a:rPr lang="en-US" altLang="zh-TW" sz="2000" dirty="0"/>
              <a:t>As you will find out, there are many ways to do this</a:t>
            </a:r>
          </a:p>
          <a:p>
            <a:r>
              <a:rPr lang="en-US" altLang="zh-TW" sz="2400" dirty="0"/>
              <a:t>To accomplish this, we will be discussing a series of LLM related concepts and tools</a:t>
            </a:r>
            <a:endParaRPr lang="zh-TW" altLang="en-US" sz="2400" dirty="0"/>
          </a:p>
        </p:txBody>
      </p:sp>
      <p:sp>
        <p:nvSpPr>
          <p:cNvPr id="4" name="投影片編號版面配置區 3">
            <a:extLst>
              <a:ext uri="{FF2B5EF4-FFF2-40B4-BE49-F238E27FC236}">
                <a16:creationId xmlns:a16="http://schemas.microsoft.com/office/drawing/2014/main" id="{83B9720E-8DD5-4010-99AC-C7D49C18F678}"/>
              </a:ext>
            </a:extLst>
          </p:cNvPr>
          <p:cNvSpPr>
            <a:spLocks noGrp="1"/>
          </p:cNvSpPr>
          <p:nvPr>
            <p:ph type="sldNum" sz="quarter" idx="10"/>
          </p:nvPr>
        </p:nvSpPr>
        <p:spPr/>
        <p:txBody>
          <a:bodyPr/>
          <a:lstStyle/>
          <a:p>
            <a:pPr>
              <a:defRPr/>
            </a:pPr>
            <a:fld id="{CF627BE3-1269-44D5-A349-82FD5D94EBD8}" type="slidenum">
              <a:rPr lang="en-US" altLang="zh-TW" smtClean="0"/>
              <a:pPr>
                <a:defRPr/>
              </a:pPr>
              <a:t>3</a:t>
            </a:fld>
            <a:endParaRPr lang="en-US" altLang="zh-TW"/>
          </a:p>
        </p:txBody>
      </p:sp>
    </p:spTree>
    <p:extLst>
      <p:ext uri="{BB962C8B-B14F-4D97-AF65-F5344CB8AC3E}">
        <p14:creationId xmlns:p14="http://schemas.microsoft.com/office/powerpoint/2010/main" val="2902923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EB825E-8BEE-425E-96F1-5B664C4878CD}"/>
              </a:ext>
            </a:extLst>
          </p:cNvPr>
          <p:cNvSpPr>
            <a:spLocks noGrp="1"/>
          </p:cNvSpPr>
          <p:nvPr>
            <p:ph type="title"/>
          </p:nvPr>
        </p:nvSpPr>
        <p:spPr/>
        <p:txBody>
          <a:bodyPr/>
          <a:lstStyle/>
          <a:p>
            <a:r>
              <a:rPr lang="en-US" altLang="zh-TW" dirty="0"/>
              <a:t>Speaker Introduction</a:t>
            </a:r>
            <a:endParaRPr lang="zh-TW" altLang="en-US" dirty="0"/>
          </a:p>
        </p:txBody>
      </p:sp>
      <p:sp>
        <p:nvSpPr>
          <p:cNvPr id="4" name="投影片編號版面配置區 3">
            <a:extLst>
              <a:ext uri="{FF2B5EF4-FFF2-40B4-BE49-F238E27FC236}">
                <a16:creationId xmlns:a16="http://schemas.microsoft.com/office/drawing/2014/main" id="{9AB58E00-236E-417F-99E8-313CEEC4F65D}"/>
              </a:ext>
            </a:extLst>
          </p:cNvPr>
          <p:cNvSpPr>
            <a:spLocks noGrp="1"/>
          </p:cNvSpPr>
          <p:nvPr>
            <p:ph type="sldNum" sz="quarter" idx="10"/>
          </p:nvPr>
        </p:nvSpPr>
        <p:spPr/>
        <p:txBody>
          <a:bodyPr/>
          <a:lstStyle/>
          <a:p>
            <a:pPr>
              <a:defRPr/>
            </a:pPr>
            <a:fld id="{CF627BE3-1269-44D5-A349-82FD5D94EBD8}" type="slidenum">
              <a:rPr lang="en-US" altLang="zh-TW" smtClean="0"/>
              <a:pPr>
                <a:defRPr/>
              </a:pPr>
              <a:t>4</a:t>
            </a:fld>
            <a:endParaRPr lang="en-US" altLang="zh-TW"/>
          </a:p>
        </p:txBody>
      </p:sp>
      <p:pic>
        <p:nvPicPr>
          <p:cNvPr id="5" name="內容版面配置區 4" descr="一張含有 個人, 室內, 直立的 的圖片&#10;&#10;自動產生的描述">
            <a:extLst>
              <a:ext uri="{FF2B5EF4-FFF2-40B4-BE49-F238E27FC236}">
                <a16:creationId xmlns:a16="http://schemas.microsoft.com/office/drawing/2014/main" id="{119D4EF8-3148-4F65-B537-F29F1E823B35}"/>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9505" r="9174" b="3"/>
          <a:stretch/>
        </p:blipFill>
        <p:spPr>
          <a:xfrm>
            <a:off x="8978770" y="1050131"/>
            <a:ext cx="2901866" cy="4757737"/>
          </a:xfrm>
          <a:prstGeom prst="rect">
            <a:avLst/>
          </a:prstGeom>
        </p:spPr>
      </p:pic>
      <p:sp>
        <p:nvSpPr>
          <p:cNvPr id="6" name="文字方塊 5">
            <a:extLst>
              <a:ext uri="{FF2B5EF4-FFF2-40B4-BE49-F238E27FC236}">
                <a16:creationId xmlns:a16="http://schemas.microsoft.com/office/drawing/2014/main" id="{7890FEC9-5594-45D1-9F65-E7E2AACA813F}"/>
              </a:ext>
            </a:extLst>
          </p:cNvPr>
          <p:cNvSpPr txBox="1"/>
          <p:nvPr/>
        </p:nvSpPr>
        <p:spPr>
          <a:xfrm>
            <a:off x="601133" y="1443840"/>
            <a:ext cx="8067323" cy="3970318"/>
          </a:xfrm>
          <a:prstGeom prst="rect">
            <a:avLst/>
          </a:prstGeom>
          <a:noFill/>
        </p:spPr>
        <p:txBody>
          <a:bodyPr wrap="square" rtlCol="0">
            <a:spAutoFit/>
          </a:bodyPr>
          <a:lstStyle/>
          <a:p>
            <a:r>
              <a:rPr lang="en-US" altLang="zh-TW" b="1" u="sng" dirty="0"/>
              <a:t>Name:</a:t>
            </a:r>
            <a:r>
              <a:rPr lang="en-US" altLang="zh-TW" dirty="0"/>
              <a:t> Sean Huang (</a:t>
            </a:r>
            <a:r>
              <a:rPr lang="zh-TW" altLang="en-US" dirty="0"/>
              <a:t>黃彥勲</a:t>
            </a:r>
            <a:r>
              <a:rPr lang="en-US" altLang="zh-TW" dirty="0"/>
              <a:t>)</a:t>
            </a:r>
            <a:endParaRPr lang="en-US" altLang="zh-TW" b="1" u="sng" dirty="0"/>
          </a:p>
          <a:p>
            <a:endParaRPr lang="en-US" altLang="zh-TW" b="1" u="sng" dirty="0"/>
          </a:p>
          <a:p>
            <a:endParaRPr lang="en-US" altLang="zh-TW" b="1" u="sng" dirty="0"/>
          </a:p>
          <a:p>
            <a:r>
              <a:rPr lang="en-US" altLang="zh-TW" b="1" u="sng" dirty="0"/>
              <a:t>Profession:</a:t>
            </a:r>
            <a:r>
              <a:rPr lang="en-US" altLang="zh-TW" dirty="0"/>
              <a:t> </a:t>
            </a:r>
            <a:r>
              <a:rPr lang="en-US" altLang="zh-TW" sz="1800" dirty="0"/>
              <a:t>Software Engineer (ITRI)</a:t>
            </a:r>
            <a:endParaRPr lang="en-US" altLang="zh-TW" dirty="0"/>
          </a:p>
          <a:p>
            <a:endParaRPr lang="en-US" altLang="zh-TW" dirty="0"/>
          </a:p>
          <a:p>
            <a:endParaRPr lang="en-US" altLang="zh-TW" dirty="0"/>
          </a:p>
          <a:p>
            <a:r>
              <a:rPr lang="en-US" altLang="zh-TW" b="1" u="sng" dirty="0"/>
              <a:t>Research Interests:</a:t>
            </a:r>
            <a:r>
              <a:rPr lang="en-US" altLang="zh-TW" dirty="0"/>
              <a:t> LLMs and AI safety in agentic systems</a:t>
            </a:r>
          </a:p>
          <a:p>
            <a:endParaRPr lang="en-US" altLang="zh-TW" dirty="0"/>
          </a:p>
          <a:p>
            <a:endParaRPr lang="en-US" altLang="zh-TW" dirty="0"/>
          </a:p>
          <a:p>
            <a:r>
              <a:rPr lang="en-US" altLang="zh-TW" b="1" u="sng" dirty="0"/>
              <a:t>Education:</a:t>
            </a:r>
          </a:p>
          <a:p>
            <a:pPr marL="285750" indent="-285750">
              <a:buFont typeface="Arial" panose="020B0604020202020204" pitchFamily="34" charset="0"/>
              <a:buChar char="•"/>
            </a:pPr>
            <a:r>
              <a:rPr lang="en-US" altLang="zh-TW" sz="1800" b="1" dirty="0"/>
              <a:t>PhD in Computer Science </a:t>
            </a:r>
            <a:r>
              <a:rPr lang="en-US" altLang="zh-TW" sz="1800" dirty="0"/>
              <a:t>(2025 - Present) - </a:t>
            </a:r>
            <a:r>
              <a:rPr lang="en-US" altLang="zh-TW" sz="1800" i="1" dirty="0"/>
              <a:t>National Yang Ming Chiao Tung University</a:t>
            </a:r>
          </a:p>
          <a:p>
            <a:pPr marL="285750" indent="-285750">
              <a:buFont typeface="Arial" panose="020B0604020202020204" pitchFamily="34" charset="0"/>
              <a:buChar char="•"/>
            </a:pPr>
            <a:r>
              <a:rPr lang="en-US" altLang="zh-TW" sz="1800" b="1" dirty="0"/>
              <a:t>MS in Computer Science </a:t>
            </a:r>
            <a:r>
              <a:rPr lang="en-US" altLang="zh-TW" sz="1800" dirty="0"/>
              <a:t>(2021 - 2022) - </a:t>
            </a:r>
            <a:r>
              <a:rPr lang="en-US" altLang="zh-TW" sz="1800" i="1" dirty="0"/>
              <a:t>Georgia Institute of Technology</a:t>
            </a:r>
          </a:p>
          <a:p>
            <a:pPr marL="285750" indent="-285750">
              <a:buFont typeface="Arial" panose="020B0604020202020204" pitchFamily="34" charset="0"/>
              <a:buChar char="•"/>
            </a:pPr>
            <a:r>
              <a:rPr lang="en-US" altLang="zh-TW" sz="1800" b="1" dirty="0"/>
              <a:t>BSE in Computer Engineering </a:t>
            </a:r>
            <a:r>
              <a:rPr lang="en-US" altLang="zh-TW" sz="1800" dirty="0"/>
              <a:t>(2016 - 2020) - </a:t>
            </a:r>
            <a:r>
              <a:rPr lang="en-US" altLang="zh-TW" sz="1800" i="1" dirty="0"/>
              <a:t>University of Michigan</a:t>
            </a:r>
            <a:endParaRPr lang="zh-TW" altLang="en-US" dirty="0"/>
          </a:p>
        </p:txBody>
      </p:sp>
    </p:spTree>
    <p:extLst>
      <p:ext uri="{BB962C8B-B14F-4D97-AF65-F5344CB8AC3E}">
        <p14:creationId xmlns:p14="http://schemas.microsoft.com/office/powerpoint/2010/main" val="734246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Foundations of LLMs</a:t>
            </a:r>
            <a:endParaRPr lang="zh-TW" altLang="en-US" sz="5400" dirty="0"/>
          </a:p>
        </p:txBody>
      </p:sp>
    </p:spTree>
    <p:extLst>
      <p:ext uri="{BB962C8B-B14F-4D97-AF65-F5344CB8AC3E}">
        <p14:creationId xmlns:p14="http://schemas.microsoft.com/office/powerpoint/2010/main" val="1778401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330213-9A1E-4730-87E3-322DBEC93A74}"/>
              </a:ext>
            </a:extLst>
          </p:cNvPr>
          <p:cNvSpPr>
            <a:spLocks noGrp="1"/>
          </p:cNvSpPr>
          <p:nvPr>
            <p:ph type="title"/>
          </p:nvPr>
        </p:nvSpPr>
        <p:spPr/>
        <p:txBody>
          <a:bodyPr/>
          <a:lstStyle/>
          <a:p>
            <a:r>
              <a:rPr lang="en-US" altLang="zh-TW" dirty="0"/>
              <a:t>What is a LLM?</a:t>
            </a:r>
            <a:endParaRPr lang="zh-TW" altLang="en-US" dirty="0"/>
          </a:p>
        </p:txBody>
      </p:sp>
      <p:sp>
        <p:nvSpPr>
          <p:cNvPr id="3" name="內容版面配置區 2">
            <a:extLst>
              <a:ext uri="{FF2B5EF4-FFF2-40B4-BE49-F238E27FC236}">
                <a16:creationId xmlns:a16="http://schemas.microsoft.com/office/drawing/2014/main" id="{BE53EC22-A6FD-40AF-8E4A-B76A1D8E0753}"/>
              </a:ext>
            </a:extLst>
          </p:cNvPr>
          <p:cNvSpPr>
            <a:spLocks noGrp="1"/>
          </p:cNvSpPr>
          <p:nvPr>
            <p:ph idx="1"/>
          </p:nvPr>
        </p:nvSpPr>
        <p:spPr/>
        <p:txBody>
          <a:bodyPr/>
          <a:lstStyle/>
          <a:p>
            <a:r>
              <a:rPr lang="en-US" altLang="zh-TW" sz="2000" b="1" dirty="0"/>
              <a:t>LLM (Large Language Model)</a:t>
            </a:r>
            <a:r>
              <a:rPr lang="en-US" altLang="zh-TW" sz="2000" dirty="0"/>
              <a:t> is a transformer-based neural network for natural language understanding and generation</a:t>
            </a:r>
          </a:p>
          <a:p>
            <a:pPr lvl="1"/>
            <a:r>
              <a:rPr lang="en-US" altLang="zh-TW" sz="1600" dirty="0"/>
              <a:t>Transformer is built around attention (as opposed to CNN’s convolution)</a:t>
            </a:r>
          </a:p>
          <a:p>
            <a:pPr lvl="1"/>
            <a:r>
              <a:rPr lang="en-US" altLang="zh-TW" sz="1600" dirty="0"/>
              <a:t>Transformer’s scope is global, allowing it to associate information from distant patches</a:t>
            </a:r>
          </a:p>
          <a:p>
            <a:r>
              <a:rPr lang="en-US" altLang="zh-TW" sz="2000" dirty="0"/>
              <a:t>Trained on massive text datasets to learn patterns in language, knowledge, and reasoning</a:t>
            </a:r>
          </a:p>
          <a:p>
            <a:r>
              <a:rPr lang="en-US" altLang="zh-TW" sz="2000" dirty="0"/>
              <a:t>Generates output by </a:t>
            </a:r>
            <a:r>
              <a:rPr lang="en-US" altLang="zh-TW" sz="2000" b="1" dirty="0"/>
              <a:t>predicting the next token</a:t>
            </a:r>
            <a:r>
              <a:rPr lang="en-US" altLang="zh-TW" sz="2000" dirty="0"/>
              <a:t> given prior context</a:t>
            </a:r>
          </a:p>
          <a:p>
            <a:r>
              <a:rPr lang="en-US" altLang="zh-TW" sz="2000" dirty="0"/>
              <a:t>Supports tasks such as </a:t>
            </a:r>
            <a:r>
              <a:rPr lang="en-US" altLang="zh-TW" sz="2000" u="sng" dirty="0"/>
              <a:t>Q&amp;A, summarization, translation, and code generation</a:t>
            </a:r>
          </a:p>
          <a:p>
            <a:r>
              <a:rPr lang="en-US" altLang="zh-TW" sz="2000" dirty="0"/>
              <a:t>Can be extended with </a:t>
            </a:r>
            <a:r>
              <a:rPr lang="en-US" altLang="zh-TW" sz="2000" b="1" dirty="0"/>
              <a:t>prompting</a:t>
            </a:r>
            <a:r>
              <a:rPr lang="en-US" altLang="zh-TW" sz="2000" dirty="0"/>
              <a:t>: </a:t>
            </a:r>
            <a:r>
              <a:rPr lang="en-US" altLang="zh-TW" sz="2000" u="sng" dirty="0"/>
              <a:t>retrieval (RAG)</a:t>
            </a:r>
            <a:r>
              <a:rPr lang="en-US" altLang="zh-TW" sz="2000" dirty="0"/>
              <a:t> and </a:t>
            </a:r>
            <a:r>
              <a:rPr lang="en-US" altLang="zh-TW" sz="2000" u="sng" dirty="0"/>
              <a:t>function calling</a:t>
            </a:r>
            <a:r>
              <a:rPr lang="en-US" altLang="zh-TW" sz="2000" dirty="0"/>
              <a:t> are examples of this</a:t>
            </a:r>
            <a:endParaRPr lang="zh-TW" altLang="en-US" sz="2000" dirty="0"/>
          </a:p>
        </p:txBody>
      </p:sp>
      <p:sp>
        <p:nvSpPr>
          <p:cNvPr id="4" name="投影片編號版面配置區 3">
            <a:extLst>
              <a:ext uri="{FF2B5EF4-FFF2-40B4-BE49-F238E27FC236}">
                <a16:creationId xmlns:a16="http://schemas.microsoft.com/office/drawing/2014/main" id="{8193E3EF-E65A-4480-B22B-C26FDA03658C}"/>
              </a:ext>
            </a:extLst>
          </p:cNvPr>
          <p:cNvSpPr>
            <a:spLocks noGrp="1"/>
          </p:cNvSpPr>
          <p:nvPr>
            <p:ph type="sldNum" sz="quarter" idx="10"/>
          </p:nvPr>
        </p:nvSpPr>
        <p:spPr/>
        <p:txBody>
          <a:bodyPr/>
          <a:lstStyle/>
          <a:p>
            <a:pPr>
              <a:defRPr/>
            </a:pPr>
            <a:fld id="{CF627BE3-1269-44D5-A349-82FD5D94EBD8}" type="slidenum">
              <a:rPr lang="en-US" altLang="zh-TW" smtClean="0"/>
              <a:pPr>
                <a:defRPr/>
              </a:pPr>
              <a:t>6</a:t>
            </a:fld>
            <a:endParaRPr lang="en-US" altLang="zh-TW"/>
          </a:p>
        </p:txBody>
      </p:sp>
    </p:spTree>
    <p:extLst>
      <p:ext uri="{BB962C8B-B14F-4D97-AF65-F5344CB8AC3E}">
        <p14:creationId xmlns:p14="http://schemas.microsoft.com/office/powerpoint/2010/main" val="2951978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7425AA-414D-4BF7-95B1-2DA2B8AF98BE}"/>
              </a:ext>
            </a:extLst>
          </p:cNvPr>
          <p:cNvSpPr>
            <a:spLocks noGrp="1"/>
          </p:cNvSpPr>
          <p:nvPr>
            <p:ph type="title"/>
          </p:nvPr>
        </p:nvSpPr>
        <p:spPr/>
        <p:txBody>
          <a:bodyPr/>
          <a:lstStyle/>
          <a:p>
            <a:r>
              <a:rPr lang="en-US" altLang="zh-TW" dirty="0"/>
              <a:t>Background For LLMs: Tokenizer</a:t>
            </a:r>
            <a:endParaRPr lang="zh-TW" altLang="en-US" dirty="0"/>
          </a:p>
        </p:txBody>
      </p:sp>
      <p:sp>
        <p:nvSpPr>
          <p:cNvPr id="3" name="內容版面配置區 2">
            <a:extLst>
              <a:ext uri="{FF2B5EF4-FFF2-40B4-BE49-F238E27FC236}">
                <a16:creationId xmlns:a16="http://schemas.microsoft.com/office/drawing/2014/main" id="{7B89610F-EEEB-4B53-BC30-629CB93091FD}"/>
              </a:ext>
            </a:extLst>
          </p:cNvPr>
          <p:cNvSpPr>
            <a:spLocks noGrp="1"/>
          </p:cNvSpPr>
          <p:nvPr>
            <p:ph idx="1"/>
          </p:nvPr>
        </p:nvSpPr>
        <p:spPr/>
        <p:txBody>
          <a:bodyPr/>
          <a:lstStyle/>
          <a:p>
            <a:r>
              <a:rPr lang="en-US" altLang="zh-TW" sz="2000" u="sng" dirty="0"/>
              <a:t>What are tokens?</a:t>
            </a:r>
          </a:p>
          <a:p>
            <a:r>
              <a:rPr lang="en-US" altLang="zh-TW" sz="2000" dirty="0"/>
              <a:t>LLMs need </a:t>
            </a:r>
            <a:r>
              <a:rPr lang="en-US" altLang="zh-TW" sz="2000" b="1" dirty="0"/>
              <a:t>tokenizers</a:t>
            </a:r>
            <a:r>
              <a:rPr lang="en-US" altLang="zh-TW" sz="2000" dirty="0"/>
              <a:t> to convert strings into tokens (numerical IDs) that the model can understand</a:t>
            </a:r>
          </a:p>
          <a:p>
            <a:pPr lvl="1"/>
            <a:r>
              <a:rPr lang="en-US" altLang="zh-TW" sz="1600" dirty="0"/>
              <a:t>Working with numerical values (float/int) is easier than strings</a:t>
            </a:r>
          </a:p>
          <a:p>
            <a:pPr lvl="1"/>
            <a:r>
              <a:rPr lang="en-US" altLang="zh-TW" sz="1600" dirty="0"/>
              <a:t>Every model has their own tokenizer</a:t>
            </a:r>
          </a:p>
          <a:p>
            <a:pPr lvl="1"/>
            <a:r>
              <a:rPr lang="en-US" altLang="zh-TW" sz="1600" dirty="0"/>
              <a:t>To better generalize unseen vocabulary during training, words are broken down into smaller parts (so one word can be more than one token)</a:t>
            </a:r>
          </a:p>
          <a:p>
            <a:pPr lvl="1"/>
            <a:endParaRPr lang="en-US" altLang="zh-TW" sz="1600" dirty="0"/>
          </a:p>
          <a:p>
            <a:pPr marL="457200" lvl="1" indent="0">
              <a:buNone/>
            </a:pPr>
            <a:endParaRPr lang="en-US" altLang="zh-TW" sz="1600" dirty="0"/>
          </a:p>
          <a:p>
            <a:pPr marL="457200" lvl="1" indent="0">
              <a:buNone/>
            </a:pPr>
            <a:endParaRPr lang="en-US" altLang="zh-TW" sz="1600" dirty="0"/>
          </a:p>
          <a:p>
            <a:pPr marL="457200" lvl="1" indent="0">
              <a:buNone/>
            </a:pPr>
            <a:endParaRPr lang="en-US" altLang="zh-TW" sz="1600" dirty="0"/>
          </a:p>
          <a:p>
            <a:pPr marL="457200" lvl="1" indent="0">
              <a:buNone/>
            </a:pPr>
            <a:endParaRPr lang="en-US" altLang="zh-TW" sz="1600" dirty="0"/>
          </a:p>
          <a:p>
            <a:pPr marL="457200" lvl="1" indent="0">
              <a:buNone/>
            </a:pPr>
            <a:endParaRPr lang="en-US" altLang="zh-TW" sz="1600" dirty="0"/>
          </a:p>
          <a:p>
            <a:pPr marL="457200" lvl="1" indent="0">
              <a:buNone/>
            </a:pPr>
            <a:endParaRPr lang="en-US" altLang="zh-TW" sz="1600" dirty="0"/>
          </a:p>
          <a:p>
            <a:endParaRPr lang="zh-TW" altLang="en-US" sz="2000" dirty="0"/>
          </a:p>
        </p:txBody>
      </p:sp>
      <p:sp>
        <p:nvSpPr>
          <p:cNvPr id="4" name="投影片編號版面配置區 3">
            <a:extLst>
              <a:ext uri="{FF2B5EF4-FFF2-40B4-BE49-F238E27FC236}">
                <a16:creationId xmlns:a16="http://schemas.microsoft.com/office/drawing/2014/main" id="{1A9313BE-FE41-4E73-8C4A-A446E7B086BD}"/>
              </a:ext>
            </a:extLst>
          </p:cNvPr>
          <p:cNvSpPr>
            <a:spLocks noGrp="1"/>
          </p:cNvSpPr>
          <p:nvPr>
            <p:ph type="sldNum" sz="quarter" idx="10"/>
          </p:nvPr>
        </p:nvSpPr>
        <p:spPr/>
        <p:txBody>
          <a:bodyPr/>
          <a:lstStyle/>
          <a:p>
            <a:pPr>
              <a:defRPr/>
            </a:pPr>
            <a:fld id="{CF627BE3-1269-44D5-A349-82FD5D94EBD8}" type="slidenum">
              <a:rPr lang="en-US" altLang="zh-TW" smtClean="0"/>
              <a:pPr>
                <a:defRPr/>
              </a:pPr>
              <a:t>7</a:t>
            </a:fld>
            <a:endParaRPr lang="en-US" altLang="zh-TW"/>
          </a:p>
        </p:txBody>
      </p:sp>
      <p:sp>
        <p:nvSpPr>
          <p:cNvPr id="6" name="文字方塊 5">
            <a:extLst>
              <a:ext uri="{FF2B5EF4-FFF2-40B4-BE49-F238E27FC236}">
                <a16:creationId xmlns:a16="http://schemas.microsoft.com/office/drawing/2014/main" id="{B3987F56-A457-4AEC-8EE2-9ECC7E3FAA12}"/>
              </a:ext>
            </a:extLst>
          </p:cNvPr>
          <p:cNvSpPr txBox="1"/>
          <p:nvPr/>
        </p:nvSpPr>
        <p:spPr>
          <a:xfrm>
            <a:off x="609600" y="4048034"/>
            <a:ext cx="4296984" cy="1200329"/>
          </a:xfrm>
          <a:prstGeom prst="rect">
            <a:avLst/>
          </a:prstGeom>
          <a:noFill/>
        </p:spPr>
        <p:txBody>
          <a:bodyPr wrap="square">
            <a:spAutoFit/>
          </a:bodyPr>
          <a:lstStyle/>
          <a:p>
            <a:r>
              <a:rPr lang="en-US" altLang="zh-TW" u="sng" dirty="0"/>
              <a:t>Word seen during training: “unavailable” </a:t>
            </a:r>
          </a:p>
          <a:p>
            <a:r>
              <a:rPr lang="en-US" altLang="zh-TW" dirty="0"/>
              <a:t>“un” → 42</a:t>
            </a:r>
          </a:p>
          <a:p>
            <a:r>
              <a:rPr lang="en-US" altLang="zh-TW" dirty="0"/>
              <a:t>“avail” → 189</a:t>
            </a:r>
          </a:p>
          <a:p>
            <a:r>
              <a:rPr lang="en-US" altLang="zh-TW" dirty="0"/>
              <a:t>“able” → 76</a:t>
            </a:r>
          </a:p>
        </p:txBody>
      </p:sp>
      <p:sp>
        <p:nvSpPr>
          <p:cNvPr id="8" name="文字方塊 7">
            <a:extLst>
              <a:ext uri="{FF2B5EF4-FFF2-40B4-BE49-F238E27FC236}">
                <a16:creationId xmlns:a16="http://schemas.microsoft.com/office/drawing/2014/main" id="{2378CE16-43B5-4617-97A7-66021B2BD10C}"/>
              </a:ext>
            </a:extLst>
          </p:cNvPr>
          <p:cNvSpPr txBox="1"/>
          <p:nvPr/>
        </p:nvSpPr>
        <p:spPr>
          <a:xfrm>
            <a:off x="5532817" y="4048034"/>
            <a:ext cx="6278183" cy="1200329"/>
          </a:xfrm>
          <a:prstGeom prst="rect">
            <a:avLst/>
          </a:prstGeom>
          <a:noFill/>
        </p:spPr>
        <p:txBody>
          <a:bodyPr wrap="square">
            <a:spAutoFit/>
          </a:bodyPr>
          <a:lstStyle/>
          <a:p>
            <a:r>
              <a:rPr lang="en-US" altLang="zh-TW" u="sng" dirty="0"/>
              <a:t>New unknown word seen during inference: “unimaginable”</a:t>
            </a:r>
          </a:p>
          <a:p>
            <a:r>
              <a:rPr lang="en-US" altLang="zh-TW" dirty="0"/>
              <a:t>“un” → 42</a:t>
            </a:r>
          </a:p>
          <a:p>
            <a:r>
              <a:rPr lang="en-US" altLang="zh-TW" dirty="0"/>
              <a:t>“imagine” → ?</a:t>
            </a:r>
          </a:p>
          <a:p>
            <a:r>
              <a:rPr lang="en-US" altLang="zh-TW" dirty="0"/>
              <a:t>“able” → 76</a:t>
            </a:r>
          </a:p>
        </p:txBody>
      </p:sp>
      <p:sp>
        <p:nvSpPr>
          <p:cNvPr id="10" name="文字方塊 9">
            <a:extLst>
              <a:ext uri="{FF2B5EF4-FFF2-40B4-BE49-F238E27FC236}">
                <a16:creationId xmlns:a16="http://schemas.microsoft.com/office/drawing/2014/main" id="{F21E5969-62C8-4571-8494-2EE93F9540BC}"/>
              </a:ext>
            </a:extLst>
          </p:cNvPr>
          <p:cNvSpPr txBox="1"/>
          <p:nvPr/>
        </p:nvSpPr>
        <p:spPr>
          <a:xfrm>
            <a:off x="609600" y="5472454"/>
            <a:ext cx="11310257" cy="923330"/>
          </a:xfrm>
          <a:prstGeom prst="rect">
            <a:avLst/>
          </a:prstGeom>
          <a:noFill/>
        </p:spPr>
        <p:txBody>
          <a:bodyPr wrap="square">
            <a:spAutoFit/>
          </a:bodyPr>
          <a:lstStyle/>
          <a:p>
            <a:r>
              <a:rPr lang="en-US" altLang="zh-TW" dirty="0"/>
              <a:t>Token 42 = not/opposite</a:t>
            </a:r>
          </a:p>
          <a:p>
            <a:r>
              <a:rPr lang="en-US" altLang="zh-TW" dirty="0"/>
              <a:t>Token 76 = can</a:t>
            </a:r>
          </a:p>
          <a:p>
            <a:r>
              <a:rPr lang="en-US" altLang="zh-TW" dirty="0"/>
              <a:t>So “unimaginable” should have a meaning related to being unable to do something</a:t>
            </a:r>
          </a:p>
        </p:txBody>
      </p:sp>
    </p:spTree>
    <p:extLst>
      <p:ext uri="{BB962C8B-B14F-4D97-AF65-F5344CB8AC3E}">
        <p14:creationId xmlns:p14="http://schemas.microsoft.com/office/powerpoint/2010/main" val="288266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7425AA-414D-4BF7-95B1-2DA2B8AF98BE}"/>
              </a:ext>
            </a:extLst>
          </p:cNvPr>
          <p:cNvSpPr>
            <a:spLocks noGrp="1"/>
          </p:cNvSpPr>
          <p:nvPr>
            <p:ph type="title"/>
          </p:nvPr>
        </p:nvSpPr>
        <p:spPr/>
        <p:txBody>
          <a:bodyPr/>
          <a:lstStyle/>
          <a:p>
            <a:r>
              <a:rPr lang="en-US" altLang="zh-TW" dirty="0"/>
              <a:t>Comparison With CNN</a:t>
            </a:r>
            <a:endParaRPr lang="zh-TW" altLang="en-US" dirty="0"/>
          </a:p>
        </p:txBody>
      </p:sp>
      <p:sp>
        <p:nvSpPr>
          <p:cNvPr id="3" name="內容版面配置區 2">
            <a:extLst>
              <a:ext uri="{FF2B5EF4-FFF2-40B4-BE49-F238E27FC236}">
                <a16:creationId xmlns:a16="http://schemas.microsoft.com/office/drawing/2014/main" id="{7B89610F-EEEB-4B53-BC30-629CB93091FD}"/>
              </a:ext>
            </a:extLst>
          </p:cNvPr>
          <p:cNvSpPr>
            <a:spLocks noGrp="1"/>
          </p:cNvSpPr>
          <p:nvPr>
            <p:ph idx="1"/>
          </p:nvPr>
        </p:nvSpPr>
        <p:spPr/>
        <p:txBody>
          <a:bodyPr/>
          <a:lstStyle/>
          <a:p>
            <a:r>
              <a:rPr lang="en-US" altLang="zh-TW" sz="2000" dirty="0"/>
              <a:t>CNN steps: convert image to matrix → inference → f(output) </a:t>
            </a:r>
          </a:p>
          <a:p>
            <a:pPr lvl="1"/>
            <a:r>
              <a:rPr lang="en-US" altLang="zh-TW" sz="1600" dirty="0"/>
              <a:t>Function f can be argmax for classification, for example</a:t>
            </a:r>
          </a:p>
          <a:p>
            <a:endParaRPr lang="en-US" altLang="zh-TW" sz="2000" dirty="0"/>
          </a:p>
          <a:p>
            <a:endParaRPr lang="en-US" altLang="zh-TW" sz="2000" dirty="0"/>
          </a:p>
          <a:p>
            <a:endParaRPr lang="en-US" altLang="zh-TW" sz="1600" dirty="0"/>
          </a:p>
          <a:p>
            <a:endParaRPr lang="en-US" altLang="zh-TW" sz="2000" dirty="0"/>
          </a:p>
          <a:p>
            <a:endParaRPr lang="en-US" altLang="zh-TW" sz="2000" dirty="0"/>
          </a:p>
          <a:p>
            <a:endParaRPr lang="en-US" altLang="zh-TW" sz="2000" dirty="0"/>
          </a:p>
          <a:p>
            <a:r>
              <a:rPr lang="en-US" altLang="zh-TW" sz="2000" dirty="0"/>
              <a:t>LLM steps: tokenize (string to token) → inference (generate) → decode (token to string)</a:t>
            </a:r>
          </a:p>
          <a:p>
            <a:pPr lvl="1"/>
            <a:r>
              <a:rPr lang="en-US" altLang="zh-TW" sz="1800" b="1" dirty="0"/>
              <a:t>Tokenization example:</a:t>
            </a:r>
          </a:p>
          <a:p>
            <a:pPr marL="57150" indent="0" algn="ctr">
              <a:buNone/>
            </a:pPr>
            <a:r>
              <a:rPr lang="en-US" altLang="zh-TW" sz="1600" dirty="0"/>
              <a:t>"</a:t>
            </a:r>
            <a:r>
              <a:rPr lang="en-US" altLang="zh-TW" sz="1600" dirty="0" err="1"/>
              <a:t>ChatGPT</a:t>
            </a:r>
            <a:r>
              <a:rPr lang="en-US" altLang="zh-TW" sz="1600" dirty="0"/>
              <a:t> is amazing!" → ['Chat', 'G', 'PT', ' is', ' amazing', '!’] → [12345, 678, 91011, 314, 56789, 42]</a:t>
            </a:r>
          </a:p>
          <a:p>
            <a:endParaRPr lang="zh-TW" altLang="en-US" sz="2000" dirty="0"/>
          </a:p>
        </p:txBody>
      </p:sp>
      <p:sp>
        <p:nvSpPr>
          <p:cNvPr id="4" name="投影片編號版面配置區 3">
            <a:extLst>
              <a:ext uri="{FF2B5EF4-FFF2-40B4-BE49-F238E27FC236}">
                <a16:creationId xmlns:a16="http://schemas.microsoft.com/office/drawing/2014/main" id="{1A9313BE-FE41-4E73-8C4A-A446E7B086BD}"/>
              </a:ext>
            </a:extLst>
          </p:cNvPr>
          <p:cNvSpPr>
            <a:spLocks noGrp="1"/>
          </p:cNvSpPr>
          <p:nvPr>
            <p:ph type="sldNum" sz="quarter" idx="10"/>
          </p:nvPr>
        </p:nvSpPr>
        <p:spPr/>
        <p:txBody>
          <a:bodyPr/>
          <a:lstStyle/>
          <a:p>
            <a:pPr>
              <a:defRPr/>
            </a:pPr>
            <a:fld id="{CF627BE3-1269-44D5-A349-82FD5D94EBD8}" type="slidenum">
              <a:rPr lang="en-US" altLang="zh-TW" smtClean="0"/>
              <a:pPr>
                <a:defRPr/>
              </a:pPr>
              <a:t>8</a:t>
            </a:fld>
            <a:endParaRPr lang="en-US" altLang="zh-TW"/>
          </a:p>
        </p:txBody>
      </p:sp>
      <p:sp>
        <p:nvSpPr>
          <p:cNvPr id="5" name="Rectangle 4">
            <a:extLst>
              <a:ext uri="{FF2B5EF4-FFF2-40B4-BE49-F238E27FC236}">
                <a16:creationId xmlns:a16="http://schemas.microsoft.com/office/drawing/2014/main" id="{9E23E5D0-68C9-28FB-9FF4-CDF0090ED226}"/>
              </a:ext>
            </a:extLst>
          </p:cNvPr>
          <p:cNvSpPr/>
          <p:nvPr/>
        </p:nvSpPr>
        <p:spPr bwMode="auto">
          <a:xfrm>
            <a:off x="6406839" y="2455607"/>
            <a:ext cx="1138576" cy="113857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dirty="0">
                <a:ln>
                  <a:noFill/>
                </a:ln>
                <a:solidFill>
                  <a:schemeClr val="tx1"/>
                </a:solidFill>
                <a:effectLst/>
                <a:latin typeface="Arial" charset="0"/>
                <a:ea typeface="新細明體" pitchFamily="18" charset="-120"/>
              </a:rPr>
              <a:t>CNN</a:t>
            </a:r>
          </a:p>
        </p:txBody>
      </p:sp>
      <p:pic>
        <p:nvPicPr>
          <p:cNvPr id="1026" name="Picture 2" descr="Free Images : nature, puppy, pet, nose, golden retriever, snout ...">
            <a:extLst>
              <a:ext uri="{FF2B5EF4-FFF2-40B4-BE49-F238E27FC236}">
                <a16:creationId xmlns:a16="http://schemas.microsoft.com/office/drawing/2014/main" id="{67686D0D-8857-3D7B-32BD-7AE8F7E1CC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449" y="2359742"/>
            <a:ext cx="2009512" cy="132695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D42A70-0782-47C6-BBEE-FC142D364C2D}"/>
                  </a:ext>
                </a:extLst>
              </p:cNvPr>
              <p:cNvSpPr txBox="1"/>
              <p:nvPr/>
            </p:nvSpPr>
            <p:spPr>
              <a:xfrm>
                <a:off x="3721511" y="2473305"/>
                <a:ext cx="1255578" cy="846963"/>
              </a:xfrm>
              <a:prstGeom prst="rect">
                <a:avLst/>
              </a:prstGeom>
              <a:solidFill>
                <a:schemeClr val="accent1"/>
              </a:solidFill>
              <a:ln>
                <a:solidFill>
                  <a:schemeClr val="tx1"/>
                </a:solidFill>
              </a:ln>
            </p:spPr>
            <p:txBody>
              <a:bodyPr wrap="square"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3</m:t>
                                </m:r>
                              </m:e>
                            </m:mr>
                            <m:mr>
                              <m:e>
                                <m:r>
                                  <a:rPr lang="en-US" b="0" i="1" smtClean="0">
                                    <a:latin typeface="Cambria Math" panose="02040503050406030204" pitchFamily="18" charset="0"/>
                                  </a:rPr>
                                  <m:t>4</m:t>
                                </m:r>
                              </m:e>
                              <m:e>
                                <m:r>
                                  <a:rPr lang="en-US" b="0" i="1" smtClean="0">
                                    <a:latin typeface="Cambria Math" panose="02040503050406030204" pitchFamily="18" charset="0"/>
                                  </a:rPr>
                                  <m:t>5</m:t>
                                </m:r>
                              </m:e>
                              <m:e>
                                <m:r>
                                  <a:rPr lang="en-US" b="0" i="1" smtClean="0">
                                    <a:latin typeface="Cambria Math" panose="02040503050406030204" pitchFamily="18" charset="0"/>
                                  </a:rPr>
                                  <m:t>6</m:t>
                                </m:r>
                              </m:e>
                            </m:mr>
                            <m:mr>
                              <m:e>
                                <m:r>
                                  <a:rPr lang="en-US" b="0" i="1" smtClean="0">
                                    <a:latin typeface="Cambria Math" panose="02040503050406030204" pitchFamily="18" charset="0"/>
                                  </a:rPr>
                                  <m:t>7</m:t>
                                </m:r>
                              </m:e>
                              <m:e>
                                <m:r>
                                  <a:rPr lang="en-US" b="0" i="1" smtClean="0">
                                    <a:latin typeface="Cambria Math" panose="02040503050406030204" pitchFamily="18" charset="0"/>
                                  </a:rPr>
                                  <m:t>8</m:t>
                                </m:r>
                              </m:e>
                              <m:e>
                                <m:r>
                                  <a:rPr lang="en-US" b="0" i="1" smtClean="0">
                                    <a:latin typeface="Cambria Math" panose="02040503050406030204" pitchFamily="18" charset="0"/>
                                  </a:rPr>
                                  <m:t>9</m:t>
                                </m:r>
                              </m:e>
                            </m:mr>
                          </m:m>
                        </m:e>
                      </m:d>
                    </m:oMath>
                  </m:oMathPara>
                </a14:m>
                <a:endParaRPr lang="en-US" dirty="0"/>
              </a:p>
            </p:txBody>
          </p:sp>
        </mc:Choice>
        <mc:Fallback xmlns="">
          <p:sp>
            <p:nvSpPr>
              <p:cNvPr id="7" name="TextBox 6">
                <a:extLst>
                  <a:ext uri="{FF2B5EF4-FFF2-40B4-BE49-F238E27FC236}">
                    <a16:creationId xmlns:a16="http://schemas.microsoft.com/office/drawing/2014/main" id="{95D42A70-0782-47C6-BBEE-FC142D364C2D}"/>
                  </a:ext>
                </a:extLst>
              </p:cNvPr>
              <p:cNvSpPr txBox="1">
                <a:spLocks noRot="1" noChangeAspect="1" noMove="1" noResize="1" noEditPoints="1" noAdjustHandles="1" noChangeArrowheads="1" noChangeShapeType="1" noTextEdit="1"/>
              </p:cNvSpPr>
              <p:nvPr/>
            </p:nvSpPr>
            <p:spPr>
              <a:xfrm>
                <a:off x="3721511" y="2473305"/>
                <a:ext cx="1255578" cy="846963"/>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9D36FEA-3D21-A73B-8ABD-651950C35A0A}"/>
                  </a:ext>
                </a:extLst>
              </p:cNvPr>
              <p:cNvSpPr txBox="1"/>
              <p:nvPr/>
            </p:nvSpPr>
            <p:spPr>
              <a:xfrm>
                <a:off x="3873911" y="2625705"/>
                <a:ext cx="1255578" cy="846963"/>
              </a:xfrm>
              <a:prstGeom prst="rect">
                <a:avLst/>
              </a:prstGeom>
              <a:solidFill>
                <a:schemeClr val="accent1"/>
              </a:solidFill>
              <a:ln>
                <a:solidFill>
                  <a:schemeClr val="tx1"/>
                </a:solidFill>
              </a:ln>
            </p:spPr>
            <p:txBody>
              <a:bodyPr wrap="square"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3</m:t>
                                </m:r>
                              </m:e>
                            </m:mr>
                            <m:mr>
                              <m:e>
                                <m:r>
                                  <a:rPr lang="en-US" b="0" i="1" smtClean="0">
                                    <a:latin typeface="Cambria Math" panose="02040503050406030204" pitchFamily="18" charset="0"/>
                                  </a:rPr>
                                  <m:t>4</m:t>
                                </m:r>
                              </m:e>
                              <m:e>
                                <m:r>
                                  <a:rPr lang="en-US" b="0" i="1" smtClean="0">
                                    <a:latin typeface="Cambria Math" panose="02040503050406030204" pitchFamily="18" charset="0"/>
                                  </a:rPr>
                                  <m:t>5</m:t>
                                </m:r>
                              </m:e>
                              <m:e>
                                <m:r>
                                  <a:rPr lang="en-US" b="0" i="1" smtClean="0">
                                    <a:latin typeface="Cambria Math" panose="02040503050406030204" pitchFamily="18" charset="0"/>
                                  </a:rPr>
                                  <m:t>6</m:t>
                                </m:r>
                              </m:e>
                            </m:mr>
                            <m:mr>
                              <m:e>
                                <m:r>
                                  <a:rPr lang="en-US" b="0" i="1" smtClean="0">
                                    <a:latin typeface="Cambria Math" panose="02040503050406030204" pitchFamily="18" charset="0"/>
                                  </a:rPr>
                                  <m:t>7</m:t>
                                </m:r>
                              </m:e>
                              <m:e>
                                <m:r>
                                  <a:rPr lang="en-US" b="0" i="1" smtClean="0">
                                    <a:latin typeface="Cambria Math" panose="02040503050406030204" pitchFamily="18" charset="0"/>
                                  </a:rPr>
                                  <m:t>8</m:t>
                                </m:r>
                              </m:e>
                              <m:e>
                                <m:r>
                                  <a:rPr lang="en-US" b="0" i="1" smtClean="0">
                                    <a:latin typeface="Cambria Math" panose="02040503050406030204" pitchFamily="18" charset="0"/>
                                  </a:rPr>
                                  <m:t>9</m:t>
                                </m:r>
                              </m:e>
                            </m:mr>
                          </m:m>
                        </m:e>
                      </m:d>
                    </m:oMath>
                  </m:oMathPara>
                </a14:m>
                <a:endParaRPr lang="en-US" dirty="0"/>
              </a:p>
            </p:txBody>
          </p:sp>
        </mc:Choice>
        <mc:Fallback xmlns="">
          <p:sp>
            <p:nvSpPr>
              <p:cNvPr id="11" name="TextBox 10">
                <a:extLst>
                  <a:ext uri="{FF2B5EF4-FFF2-40B4-BE49-F238E27FC236}">
                    <a16:creationId xmlns:a16="http://schemas.microsoft.com/office/drawing/2014/main" id="{19D36FEA-3D21-A73B-8ABD-651950C35A0A}"/>
                  </a:ext>
                </a:extLst>
              </p:cNvPr>
              <p:cNvSpPr txBox="1">
                <a:spLocks noRot="1" noChangeAspect="1" noMove="1" noResize="1" noEditPoints="1" noAdjustHandles="1" noChangeArrowheads="1" noChangeShapeType="1" noTextEdit="1"/>
              </p:cNvSpPr>
              <p:nvPr/>
            </p:nvSpPr>
            <p:spPr>
              <a:xfrm>
                <a:off x="3873911" y="2625705"/>
                <a:ext cx="1255578" cy="846963"/>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458FA88-D50A-2CA7-AC03-EE874AC02D9B}"/>
                  </a:ext>
                </a:extLst>
              </p:cNvPr>
              <p:cNvSpPr txBox="1"/>
              <p:nvPr/>
            </p:nvSpPr>
            <p:spPr>
              <a:xfrm>
                <a:off x="4026311" y="2778105"/>
                <a:ext cx="1255578" cy="846963"/>
              </a:xfrm>
              <a:prstGeom prst="rect">
                <a:avLst/>
              </a:prstGeom>
              <a:solidFill>
                <a:schemeClr val="accent1"/>
              </a:solidFill>
              <a:ln>
                <a:solidFill>
                  <a:schemeClr val="tx1"/>
                </a:solidFill>
              </a:ln>
            </p:spPr>
            <p:txBody>
              <a:bodyPr wrap="square"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3</m:t>
                                </m:r>
                              </m:e>
                            </m:mr>
                            <m:mr>
                              <m:e>
                                <m:r>
                                  <a:rPr lang="en-US" b="0" i="1" smtClean="0">
                                    <a:latin typeface="Cambria Math" panose="02040503050406030204" pitchFamily="18" charset="0"/>
                                  </a:rPr>
                                  <m:t>4</m:t>
                                </m:r>
                              </m:e>
                              <m:e>
                                <m:r>
                                  <a:rPr lang="en-US" b="0" i="1" smtClean="0">
                                    <a:latin typeface="Cambria Math" panose="02040503050406030204" pitchFamily="18" charset="0"/>
                                  </a:rPr>
                                  <m:t>5</m:t>
                                </m:r>
                              </m:e>
                              <m:e>
                                <m:r>
                                  <a:rPr lang="en-US" b="0" i="1" smtClean="0">
                                    <a:latin typeface="Cambria Math" panose="02040503050406030204" pitchFamily="18" charset="0"/>
                                  </a:rPr>
                                  <m:t>6</m:t>
                                </m:r>
                              </m:e>
                            </m:mr>
                            <m:mr>
                              <m:e>
                                <m:r>
                                  <a:rPr lang="en-US" b="0" i="1" smtClean="0">
                                    <a:latin typeface="Cambria Math" panose="02040503050406030204" pitchFamily="18" charset="0"/>
                                  </a:rPr>
                                  <m:t>7</m:t>
                                </m:r>
                              </m:e>
                              <m:e>
                                <m:r>
                                  <a:rPr lang="en-US" b="0" i="1" smtClean="0">
                                    <a:latin typeface="Cambria Math" panose="02040503050406030204" pitchFamily="18" charset="0"/>
                                  </a:rPr>
                                  <m:t>8</m:t>
                                </m:r>
                              </m:e>
                              <m:e>
                                <m:r>
                                  <a:rPr lang="en-US" b="0" i="1" smtClean="0">
                                    <a:latin typeface="Cambria Math" panose="02040503050406030204" pitchFamily="18" charset="0"/>
                                  </a:rPr>
                                  <m:t>9</m:t>
                                </m:r>
                              </m:e>
                            </m:mr>
                          </m:m>
                        </m:e>
                      </m:d>
                    </m:oMath>
                  </m:oMathPara>
                </a14:m>
                <a:endParaRPr lang="en-US" dirty="0"/>
              </a:p>
            </p:txBody>
          </p:sp>
        </mc:Choice>
        <mc:Fallback xmlns="">
          <p:sp>
            <p:nvSpPr>
              <p:cNvPr id="12" name="TextBox 11">
                <a:extLst>
                  <a:ext uri="{FF2B5EF4-FFF2-40B4-BE49-F238E27FC236}">
                    <a16:creationId xmlns:a16="http://schemas.microsoft.com/office/drawing/2014/main" id="{A458FA88-D50A-2CA7-AC03-EE874AC02D9B}"/>
                  </a:ext>
                </a:extLst>
              </p:cNvPr>
              <p:cNvSpPr txBox="1">
                <a:spLocks noRot="1" noChangeAspect="1" noMove="1" noResize="1" noEditPoints="1" noAdjustHandles="1" noChangeArrowheads="1" noChangeShapeType="1" noTextEdit="1"/>
              </p:cNvSpPr>
              <p:nvPr/>
            </p:nvSpPr>
            <p:spPr>
              <a:xfrm>
                <a:off x="4026311" y="2778105"/>
                <a:ext cx="1255578" cy="846963"/>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7476D16-16DB-E158-4C77-3CC0104A3FBC}"/>
                  </a:ext>
                </a:extLst>
              </p:cNvPr>
              <p:cNvSpPr txBox="1"/>
              <p:nvPr/>
            </p:nvSpPr>
            <p:spPr>
              <a:xfrm>
                <a:off x="8377085" y="2770911"/>
                <a:ext cx="1255578" cy="369332"/>
              </a:xfrm>
              <a:prstGeom prst="rect">
                <a:avLst/>
              </a:prstGeom>
              <a:noFill/>
              <a:ln>
                <a:noFill/>
              </a:ln>
            </p:spPr>
            <p:txBody>
              <a:bodyPr wrap="square"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0.8</m:t>
                                </m:r>
                              </m:e>
                              <m:e>
                                <m:r>
                                  <a:rPr lang="en-US" b="0" i="1" smtClean="0">
                                    <a:latin typeface="Cambria Math" panose="02040503050406030204" pitchFamily="18" charset="0"/>
                                  </a:rPr>
                                  <m:t>…</m:t>
                                </m:r>
                              </m:e>
                              <m:e>
                                <m:r>
                                  <a:rPr lang="en-US" b="0" i="1" smtClean="0">
                                    <a:latin typeface="Cambria Math" panose="02040503050406030204" pitchFamily="18" charset="0"/>
                                  </a:rPr>
                                  <m:t>0.1</m:t>
                                </m:r>
                              </m:e>
                            </m:mr>
                          </m:m>
                        </m:e>
                      </m:d>
                    </m:oMath>
                  </m:oMathPara>
                </a14:m>
                <a:endParaRPr lang="en-US" dirty="0"/>
              </a:p>
            </p:txBody>
          </p:sp>
        </mc:Choice>
        <mc:Fallback xmlns="">
          <p:sp>
            <p:nvSpPr>
              <p:cNvPr id="13" name="TextBox 12">
                <a:extLst>
                  <a:ext uri="{FF2B5EF4-FFF2-40B4-BE49-F238E27FC236}">
                    <a16:creationId xmlns:a16="http://schemas.microsoft.com/office/drawing/2014/main" id="{27476D16-16DB-E158-4C77-3CC0104A3FBC}"/>
                  </a:ext>
                </a:extLst>
              </p:cNvPr>
              <p:cNvSpPr txBox="1">
                <a:spLocks noRot="1" noChangeAspect="1" noMove="1" noResize="1" noEditPoints="1" noAdjustHandles="1" noChangeArrowheads="1" noChangeShapeType="1" noTextEdit="1"/>
              </p:cNvSpPr>
              <p:nvPr/>
            </p:nvSpPr>
            <p:spPr>
              <a:xfrm>
                <a:off x="8377085" y="2770911"/>
                <a:ext cx="1255578" cy="369332"/>
              </a:xfrm>
              <a:prstGeom prst="rect">
                <a:avLst/>
              </a:prstGeom>
              <a:blipFill>
                <a:blip r:embed="rId4"/>
                <a:stretch>
                  <a:fillRect r="-18932"/>
                </a:stretch>
              </a:blipFill>
              <a:ln>
                <a:noFill/>
              </a:ln>
            </p:spPr>
            <p:txBody>
              <a:bodyPr/>
              <a:lstStyle/>
              <a:p>
                <a:r>
                  <a:rPr lang="zh-TW" altLang="en-US">
                    <a:noFill/>
                  </a:rPr>
                  <a:t> </a:t>
                </a:r>
              </a:p>
            </p:txBody>
          </p:sp>
        </mc:Fallback>
      </mc:AlternateContent>
      <p:cxnSp>
        <p:nvCxnSpPr>
          <p:cNvPr id="8" name="Straight Arrow Connector 7">
            <a:extLst>
              <a:ext uri="{FF2B5EF4-FFF2-40B4-BE49-F238E27FC236}">
                <a16:creationId xmlns:a16="http://schemas.microsoft.com/office/drawing/2014/main" id="{957006C2-CADA-B3BE-F508-17E84D01E037}"/>
              </a:ext>
            </a:extLst>
          </p:cNvPr>
          <p:cNvCxnSpPr/>
          <p:nvPr/>
        </p:nvCxnSpPr>
        <p:spPr bwMode="auto">
          <a:xfrm>
            <a:off x="2955577" y="2955577"/>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2F49A527-BF0E-6A0E-4C0D-EE71F0F83276}"/>
              </a:ext>
            </a:extLst>
          </p:cNvPr>
          <p:cNvCxnSpPr/>
          <p:nvPr/>
        </p:nvCxnSpPr>
        <p:spPr bwMode="auto">
          <a:xfrm>
            <a:off x="5563092" y="2955577"/>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6945D407-4441-EBAF-8A1E-2653EC8A1F6C}"/>
              </a:ext>
            </a:extLst>
          </p:cNvPr>
          <p:cNvCxnSpPr/>
          <p:nvPr/>
        </p:nvCxnSpPr>
        <p:spPr bwMode="auto">
          <a:xfrm>
            <a:off x="7793049" y="2955577"/>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4" name="TextBox 13">
            <a:extLst>
              <a:ext uri="{FF2B5EF4-FFF2-40B4-BE49-F238E27FC236}">
                <a16:creationId xmlns:a16="http://schemas.microsoft.com/office/drawing/2014/main" id="{D585A7D0-3D2D-27F6-F730-51597D6D5375}"/>
              </a:ext>
            </a:extLst>
          </p:cNvPr>
          <p:cNvSpPr txBox="1"/>
          <p:nvPr/>
        </p:nvSpPr>
        <p:spPr>
          <a:xfrm>
            <a:off x="5342958" y="2473305"/>
            <a:ext cx="1028486" cy="369332"/>
          </a:xfrm>
          <a:prstGeom prst="rect">
            <a:avLst/>
          </a:prstGeom>
          <a:noFill/>
        </p:spPr>
        <p:txBody>
          <a:bodyPr wrap="square" rtlCol="0">
            <a:spAutoFit/>
          </a:bodyPr>
          <a:lstStyle/>
          <a:p>
            <a:pPr algn="ctr"/>
            <a:r>
              <a:rPr lang="en-US" dirty="0" err="1"/>
              <a:t>matmul</a:t>
            </a:r>
            <a:endParaRPr lang="en-US" dirty="0"/>
          </a:p>
        </p:txBody>
      </p:sp>
      <p:sp>
        <p:nvSpPr>
          <p:cNvPr id="15" name="TextBox 14">
            <a:extLst>
              <a:ext uri="{FF2B5EF4-FFF2-40B4-BE49-F238E27FC236}">
                <a16:creationId xmlns:a16="http://schemas.microsoft.com/office/drawing/2014/main" id="{B59FA7A6-45FC-84D1-E940-73429E042451}"/>
              </a:ext>
            </a:extLst>
          </p:cNvPr>
          <p:cNvSpPr txBox="1"/>
          <p:nvPr/>
        </p:nvSpPr>
        <p:spPr>
          <a:xfrm>
            <a:off x="429683" y="5772082"/>
            <a:ext cx="1893692" cy="369332"/>
          </a:xfrm>
          <a:prstGeom prst="rect">
            <a:avLst/>
          </a:prstGeom>
          <a:noFill/>
        </p:spPr>
        <p:txBody>
          <a:bodyPr wrap="square" rtlCol="0">
            <a:spAutoFit/>
          </a:bodyPr>
          <a:lstStyle/>
          <a:p>
            <a:r>
              <a:rPr lang="en-US" dirty="0"/>
              <a:t>“How are you?”</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5DEEDA3-4907-70D9-2F85-FA14FDCBFC8A}"/>
                  </a:ext>
                </a:extLst>
              </p:cNvPr>
              <p:cNvSpPr txBox="1"/>
              <p:nvPr/>
            </p:nvSpPr>
            <p:spPr>
              <a:xfrm>
                <a:off x="3141899" y="5760285"/>
                <a:ext cx="1255578" cy="369332"/>
              </a:xfrm>
              <a:prstGeom prst="rect">
                <a:avLst/>
              </a:prstGeom>
              <a:noFill/>
              <a:ln>
                <a:noFill/>
              </a:ln>
            </p:spPr>
            <p:txBody>
              <a:bodyPr wrap="square"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m:t>
                                </m:r>
                              </m:e>
                              <m:e>
                                <m:r>
                                  <a:rPr lang="en-US" b="0" i="1" smtClean="0">
                                    <a:latin typeface="Cambria Math" panose="02040503050406030204" pitchFamily="18" charset="0"/>
                                  </a:rPr>
                                  <m:t>𝑒𝑜𝑠</m:t>
                                </m:r>
                              </m:e>
                            </m:mr>
                          </m:m>
                        </m:e>
                      </m:d>
                    </m:oMath>
                  </m:oMathPara>
                </a14:m>
                <a:endParaRPr lang="en-US" dirty="0"/>
              </a:p>
            </p:txBody>
          </p:sp>
        </mc:Choice>
        <mc:Fallback xmlns="">
          <p:sp>
            <p:nvSpPr>
              <p:cNvPr id="16" name="TextBox 15">
                <a:extLst>
                  <a:ext uri="{FF2B5EF4-FFF2-40B4-BE49-F238E27FC236}">
                    <a16:creationId xmlns:a16="http://schemas.microsoft.com/office/drawing/2014/main" id="{35DEEDA3-4907-70D9-2F85-FA14FDCBFC8A}"/>
                  </a:ext>
                </a:extLst>
              </p:cNvPr>
              <p:cNvSpPr txBox="1">
                <a:spLocks noRot="1" noChangeAspect="1" noMove="1" noResize="1" noEditPoints="1" noAdjustHandles="1" noChangeArrowheads="1" noChangeShapeType="1" noTextEdit="1"/>
              </p:cNvSpPr>
              <p:nvPr/>
            </p:nvSpPr>
            <p:spPr>
              <a:xfrm>
                <a:off x="3141899" y="5760285"/>
                <a:ext cx="1255578" cy="369332"/>
              </a:xfrm>
              <a:prstGeom prst="rect">
                <a:avLst/>
              </a:prstGeom>
              <a:blipFill>
                <a:blip r:embed="rId5"/>
                <a:stretch>
                  <a:fillRect r="-6796"/>
                </a:stretch>
              </a:blipFill>
              <a:ln>
                <a:noFill/>
              </a:ln>
            </p:spPr>
            <p:txBody>
              <a:bodyPr/>
              <a:lstStyle/>
              <a:p>
                <a:r>
                  <a:rPr lang="en-US">
                    <a:noFill/>
                  </a:rPr>
                  <a:t> </a:t>
                </a:r>
              </a:p>
            </p:txBody>
          </p:sp>
        </mc:Fallback>
      </mc:AlternateContent>
      <p:sp>
        <p:nvSpPr>
          <p:cNvPr id="17" name="Rectangle 16">
            <a:extLst>
              <a:ext uri="{FF2B5EF4-FFF2-40B4-BE49-F238E27FC236}">
                <a16:creationId xmlns:a16="http://schemas.microsoft.com/office/drawing/2014/main" id="{14AFFD06-8E08-162A-FB47-059EE46883DD}"/>
              </a:ext>
            </a:extLst>
          </p:cNvPr>
          <p:cNvSpPr/>
          <p:nvPr/>
        </p:nvSpPr>
        <p:spPr bwMode="auto">
          <a:xfrm>
            <a:off x="5407503" y="5468700"/>
            <a:ext cx="1044677" cy="9622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0" i="0" u="none" strike="noStrike" cap="none" normalizeH="0" baseline="0" dirty="0">
                <a:ln>
                  <a:noFill/>
                </a:ln>
                <a:solidFill>
                  <a:schemeClr val="tx1"/>
                </a:solidFill>
                <a:effectLst/>
                <a:latin typeface="Arial" charset="0"/>
                <a:ea typeface="新細明體" pitchFamily="18" charset="-120"/>
              </a:rPr>
              <a:t>LLM</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2EEB62-E5CD-C717-AB23-AEF7BCB30085}"/>
                  </a:ext>
                </a:extLst>
              </p:cNvPr>
              <p:cNvSpPr txBox="1"/>
              <p:nvPr/>
            </p:nvSpPr>
            <p:spPr>
              <a:xfrm>
                <a:off x="7366455" y="5772082"/>
                <a:ext cx="1255578" cy="369332"/>
              </a:xfrm>
              <a:prstGeom prst="rect">
                <a:avLst/>
              </a:prstGeom>
              <a:noFill/>
              <a:ln>
                <a:noFill/>
              </a:ln>
            </p:spPr>
            <p:txBody>
              <a:bodyPr wrap="square"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8</m:t>
                                </m:r>
                              </m:e>
                              <m:e>
                                <m:r>
                                  <a:rPr lang="en-US" b="0" i="1" smtClean="0">
                                    <a:latin typeface="Cambria Math" panose="02040503050406030204" pitchFamily="18" charset="0"/>
                                  </a:rPr>
                                  <m:t>…</m:t>
                                </m:r>
                              </m:e>
                              <m:e>
                                <m:r>
                                  <a:rPr lang="en-US" b="0" i="1" smtClean="0">
                                    <a:latin typeface="Cambria Math" panose="02040503050406030204" pitchFamily="18" charset="0"/>
                                  </a:rPr>
                                  <m:t>𝑒𝑜𝑠</m:t>
                                </m:r>
                              </m:e>
                            </m:mr>
                          </m:m>
                        </m:e>
                      </m:d>
                    </m:oMath>
                  </m:oMathPara>
                </a14:m>
                <a:endParaRPr lang="en-US" dirty="0"/>
              </a:p>
            </p:txBody>
          </p:sp>
        </mc:Choice>
        <mc:Fallback xmlns="">
          <p:sp>
            <p:nvSpPr>
              <p:cNvPr id="18" name="TextBox 17">
                <a:extLst>
                  <a:ext uri="{FF2B5EF4-FFF2-40B4-BE49-F238E27FC236}">
                    <a16:creationId xmlns:a16="http://schemas.microsoft.com/office/drawing/2014/main" id="{952EEB62-E5CD-C717-AB23-AEF7BCB30085}"/>
                  </a:ext>
                </a:extLst>
              </p:cNvPr>
              <p:cNvSpPr txBox="1">
                <a:spLocks noRot="1" noChangeAspect="1" noMove="1" noResize="1" noEditPoints="1" noAdjustHandles="1" noChangeArrowheads="1" noChangeShapeType="1" noTextEdit="1"/>
              </p:cNvSpPr>
              <p:nvPr/>
            </p:nvSpPr>
            <p:spPr>
              <a:xfrm>
                <a:off x="7366455" y="5772082"/>
                <a:ext cx="1255578" cy="369332"/>
              </a:xfrm>
              <a:prstGeom prst="rect">
                <a:avLst/>
              </a:prstGeom>
              <a:blipFill>
                <a:blip r:embed="rId6"/>
                <a:stretch>
                  <a:fillRect r="-6796"/>
                </a:stretch>
              </a:blipFill>
              <a:ln>
                <a:noFill/>
              </a:ln>
            </p:spPr>
            <p:txBody>
              <a:bodyPr/>
              <a:lstStyle/>
              <a:p>
                <a:r>
                  <a:rPr lang="en-US">
                    <a:noFill/>
                  </a:rPr>
                  <a:t> </a:t>
                </a:r>
              </a:p>
            </p:txBody>
          </p:sp>
        </mc:Fallback>
      </mc:AlternateContent>
      <p:sp>
        <p:nvSpPr>
          <p:cNvPr id="19" name="TextBox 18">
            <a:extLst>
              <a:ext uri="{FF2B5EF4-FFF2-40B4-BE49-F238E27FC236}">
                <a16:creationId xmlns:a16="http://schemas.microsoft.com/office/drawing/2014/main" id="{2EEFC98A-A28E-7D70-D896-49DA82ED53BF}"/>
              </a:ext>
            </a:extLst>
          </p:cNvPr>
          <p:cNvSpPr txBox="1"/>
          <p:nvPr/>
        </p:nvSpPr>
        <p:spPr>
          <a:xfrm>
            <a:off x="9536308" y="5772082"/>
            <a:ext cx="1893692" cy="369332"/>
          </a:xfrm>
          <a:prstGeom prst="rect">
            <a:avLst/>
          </a:prstGeom>
          <a:noFill/>
        </p:spPr>
        <p:txBody>
          <a:bodyPr wrap="square" rtlCol="0">
            <a:spAutoFit/>
          </a:bodyPr>
          <a:lstStyle/>
          <a:p>
            <a:r>
              <a:rPr lang="en-US" dirty="0"/>
              <a:t>“I’m doing great”</a:t>
            </a:r>
          </a:p>
        </p:txBody>
      </p:sp>
      <p:cxnSp>
        <p:nvCxnSpPr>
          <p:cNvPr id="20" name="Straight Arrow Connector 19">
            <a:extLst>
              <a:ext uri="{FF2B5EF4-FFF2-40B4-BE49-F238E27FC236}">
                <a16:creationId xmlns:a16="http://schemas.microsoft.com/office/drawing/2014/main" id="{E471CE0F-8BFD-62E1-38DC-825E38B47EC2}"/>
              </a:ext>
            </a:extLst>
          </p:cNvPr>
          <p:cNvCxnSpPr/>
          <p:nvPr/>
        </p:nvCxnSpPr>
        <p:spPr bwMode="auto">
          <a:xfrm>
            <a:off x="2363638" y="5956748"/>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B1FE9F61-CE20-D655-7152-66DB287534F0}"/>
              </a:ext>
            </a:extLst>
          </p:cNvPr>
          <p:cNvCxnSpPr/>
          <p:nvPr/>
        </p:nvCxnSpPr>
        <p:spPr bwMode="auto">
          <a:xfrm>
            <a:off x="4688022" y="5956748"/>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Straight Arrow Connector 21">
            <a:extLst>
              <a:ext uri="{FF2B5EF4-FFF2-40B4-BE49-F238E27FC236}">
                <a16:creationId xmlns:a16="http://schemas.microsoft.com/office/drawing/2014/main" id="{3F3D13EB-2B1E-B164-417B-9C00F5A3F983}"/>
              </a:ext>
            </a:extLst>
          </p:cNvPr>
          <p:cNvCxnSpPr/>
          <p:nvPr/>
        </p:nvCxnSpPr>
        <p:spPr bwMode="auto">
          <a:xfrm>
            <a:off x="6699702" y="5956748"/>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44E0D23D-4739-340B-4B51-D02AE38740BB}"/>
              </a:ext>
            </a:extLst>
          </p:cNvPr>
          <p:cNvCxnSpPr/>
          <p:nvPr/>
        </p:nvCxnSpPr>
        <p:spPr bwMode="auto">
          <a:xfrm>
            <a:off x="8852966" y="5956748"/>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id="{7125F248-3D4A-BF87-2973-08128DC10C7C}"/>
              </a:ext>
            </a:extLst>
          </p:cNvPr>
          <p:cNvSpPr txBox="1"/>
          <p:nvPr/>
        </p:nvSpPr>
        <p:spPr>
          <a:xfrm>
            <a:off x="4470100" y="5471433"/>
            <a:ext cx="1028486" cy="369332"/>
          </a:xfrm>
          <a:prstGeom prst="rect">
            <a:avLst/>
          </a:prstGeom>
          <a:noFill/>
        </p:spPr>
        <p:txBody>
          <a:bodyPr wrap="square" rtlCol="0">
            <a:spAutoFit/>
          </a:bodyPr>
          <a:lstStyle/>
          <a:p>
            <a:pPr algn="ctr"/>
            <a:r>
              <a:rPr lang="en-US" dirty="0" err="1"/>
              <a:t>matmul</a:t>
            </a:r>
            <a:endParaRPr lang="en-US" dirty="0"/>
          </a:p>
        </p:txBody>
      </p:sp>
      <p:sp>
        <p:nvSpPr>
          <p:cNvPr id="25" name="TextBox 24">
            <a:extLst>
              <a:ext uri="{FF2B5EF4-FFF2-40B4-BE49-F238E27FC236}">
                <a16:creationId xmlns:a16="http://schemas.microsoft.com/office/drawing/2014/main" id="{95F0DA95-D4B0-DDB0-66F8-6CC261E5ACF3}"/>
              </a:ext>
            </a:extLst>
          </p:cNvPr>
          <p:cNvSpPr txBox="1"/>
          <p:nvPr/>
        </p:nvSpPr>
        <p:spPr>
          <a:xfrm>
            <a:off x="2735036" y="2473305"/>
            <a:ext cx="1028486" cy="369332"/>
          </a:xfrm>
          <a:prstGeom prst="rect">
            <a:avLst/>
          </a:prstGeom>
          <a:noFill/>
        </p:spPr>
        <p:txBody>
          <a:bodyPr wrap="square" rtlCol="0">
            <a:spAutoFit/>
          </a:bodyPr>
          <a:lstStyle/>
          <a:p>
            <a:pPr algn="ctr"/>
            <a:r>
              <a:rPr lang="en-US" dirty="0"/>
              <a:t>cv2</a:t>
            </a:r>
          </a:p>
        </p:txBody>
      </p:sp>
      <p:sp>
        <p:nvSpPr>
          <p:cNvPr id="26" name="TextBox 25">
            <a:extLst>
              <a:ext uri="{FF2B5EF4-FFF2-40B4-BE49-F238E27FC236}">
                <a16:creationId xmlns:a16="http://schemas.microsoft.com/office/drawing/2014/main" id="{98755C29-6C6D-E12F-33C3-98A967D62EC8}"/>
              </a:ext>
            </a:extLst>
          </p:cNvPr>
          <p:cNvSpPr txBox="1"/>
          <p:nvPr/>
        </p:nvSpPr>
        <p:spPr>
          <a:xfrm>
            <a:off x="1968109" y="5471433"/>
            <a:ext cx="1375093" cy="369332"/>
          </a:xfrm>
          <a:prstGeom prst="rect">
            <a:avLst/>
          </a:prstGeom>
          <a:noFill/>
        </p:spPr>
        <p:txBody>
          <a:bodyPr wrap="square" rtlCol="0">
            <a:spAutoFit/>
          </a:bodyPr>
          <a:lstStyle/>
          <a:p>
            <a:pPr algn="ctr"/>
            <a:r>
              <a:rPr lang="en-US" dirty="0"/>
              <a:t>tokenize</a:t>
            </a:r>
          </a:p>
        </p:txBody>
      </p:sp>
      <p:sp>
        <p:nvSpPr>
          <p:cNvPr id="27" name="TextBox 26">
            <a:extLst>
              <a:ext uri="{FF2B5EF4-FFF2-40B4-BE49-F238E27FC236}">
                <a16:creationId xmlns:a16="http://schemas.microsoft.com/office/drawing/2014/main" id="{C65DDBEC-FAAF-B550-5EB8-707B89F20C75}"/>
              </a:ext>
            </a:extLst>
          </p:cNvPr>
          <p:cNvSpPr txBox="1"/>
          <p:nvPr/>
        </p:nvSpPr>
        <p:spPr>
          <a:xfrm>
            <a:off x="8457437" y="5471433"/>
            <a:ext cx="1375093" cy="369332"/>
          </a:xfrm>
          <a:prstGeom prst="rect">
            <a:avLst/>
          </a:prstGeom>
          <a:noFill/>
        </p:spPr>
        <p:txBody>
          <a:bodyPr wrap="square" rtlCol="0">
            <a:spAutoFit/>
          </a:bodyPr>
          <a:lstStyle/>
          <a:p>
            <a:pPr algn="ctr"/>
            <a:r>
              <a:rPr lang="en-US" dirty="0"/>
              <a:t>decode</a:t>
            </a:r>
          </a:p>
        </p:txBody>
      </p:sp>
      <p:cxnSp>
        <p:nvCxnSpPr>
          <p:cNvPr id="28" name="Straight Arrow Connector 27">
            <a:extLst>
              <a:ext uri="{FF2B5EF4-FFF2-40B4-BE49-F238E27FC236}">
                <a16:creationId xmlns:a16="http://schemas.microsoft.com/office/drawing/2014/main" id="{3D978DE0-D602-D351-D74C-BFC495D921FF}"/>
              </a:ext>
            </a:extLst>
          </p:cNvPr>
          <p:cNvCxnSpPr/>
          <p:nvPr/>
        </p:nvCxnSpPr>
        <p:spPr bwMode="auto">
          <a:xfrm>
            <a:off x="10045593" y="2955577"/>
            <a:ext cx="58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242B6C-0090-0B49-BF3C-C947C67F9BED}"/>
                  </a:ext>
                </a:extLst>
              </p:cNvPr>
              <p:cNvSpPr txBox="1"/>
              <p:nvPr/>
            </p:nvSpPr>
            <p:spPr>
              <a:xfrm>
                <a:off x="10703271" y="2632411"/>
                <a:ext cx="1022299" cy="646331"/>
              </a:xfrm>
              <a:prstGeom prst="rect">
                <a:avLst/>
              </a:prstGeom>
              <a:noFill/>
              <a:ln>
                <a:noFill/>
              </a:ln>
            </p:spPr>
            <p:txBody>
              <a:bodyPr wrap="square" rtlCol="0">
                <a:spAutoFit/>
              </a:bodyPr>
              <a:lstStyle/>
              <a:p>
                <a:pPr algn="ctr"/>
                <a:r>
                  <a:rPr lang="en-US" dirty="0"/>
                  <a:t>Label: </a:t>
                </a:r>
                <a14:m>
                  <m:oMath xmlns:m="http://schemas.openxmlformats.org/officeDocument/2006/math">
                    <m:r>
                      <a:rPr lang="en-US" i="1" smtClean="0">
                        <a:latin typeface="Cambria Math" panose="02040503050406030204" pitchFamily="18" charset="0"/>
                      </a:rPr>
                      <m:t>0</m:t>
                    </m:r>
                  </m:oMath>
                </a14:m>
                <a:r>
                  <a:rPr lang="en-US" dirty="0"/>
                  <a:t>, dog</a:t>
                </a:r>
              </a:p>
            </p:txBody>
          </p:sp>
        </mc:Choice>
        <mc:Fallback xmlns="">
          <p:sp>
            <p:nvSpPr>
              <p:cNvPr id="29" name="TextBox 28">
                <a:extLst>
                  <a:ext uri="{FF2B5EF4-FFF2-40B4-BE49-F238E27FC236}">
                    <a16:creationId xmlns:a16="http://schemas.microsoft.com/office/drawing/2014/main" id="{1F242B6C-0090-0B49-BF3C-C947C67F9BED}"/>
                  </a:ext>
                </a:extLst>
              </p:cNvPr>
              <p:cNvSpPr txBox="1">
                <a:spLocks noRot="1" noChangeAspect="1" noMove="1" noResize="1" noEditPoints="1" noAdjustHandles="1" noChangeArrowheads="1" noChangeShapeType="1" noTextEdit="1"/>
              </p:cNvSpPr>
              <p:nvPr/>
            </p:nvSpPr>
            <p:spPr>
              <a:xfrm>
                <a:off x="10703271" y="2632411"/>
                <a:ext cx="1022299" cy="646331"/>
              </a:xfrm>
              <a:prstGeom prst="rect">
                <a:avLst/>
              </a:prstGeom>
              <a:blipFill>
                <a:blip r:embed="rId7"/>
                <a:stretch>
                  <a:fillRect t="-5660" b="-14151"/>
                </a:stretch>
              </a:blipFill>
              <a:ln>
                <a:noFill/>
              </a:ln>
            </p:spPr>
            <p:txBody>
              <a:bodyPr/>
              <a:lstStyle/>
              <a:p>
                <a:r>
                  <a:rPr lang="en-US">
                    <a:noFill/>
                  </a:rPr>
                  <a:t> </a:t>
                </a:r>
              </a:p>
            </p:txBody>
          </p:sp>
        </mc:Fallback>
      </mc:AlternateContent>
      <p:sp>
        <p:nvSpPr>
          <p:cNvPr id="30" name="TextBox 29">
            <a:extLst>
              <a:ext uri="{FF2B5EF4-FFF2-40B4-BE49-F238E27FC236}">
                <a16:creationId xmlns:a16="http://schemas.microsoft.com/office/drawing/2014/main" id="{033A990A-3F4C-1DC1-7DA1-D03D6E2CA24E}"/>
              </a:ext>
            </a:extLst>
          </p:cNvPr>
          <p:cNvSpPr txBox="1"/>
          <p:nvPr/>
        </p:nvSpPr>
        <p:spPr>
          <a:xfrm>
            <a:off x="9832530" y="2473305"/>
            <a:ext cx="1028486" cy="369332"/>
          </a:xfrm>
          <a:prstGeom prst="rect">
            <a:avLst/>
          </a:prstGeom>
          <a:noFill/>
        </p:spPr>
        <p:txBody>
          <a:bodyPr wrap="square" rtlCol="0">
            <a:spAutoFit/>
          </a:bodyPr>
          <a:lstStyle/>
          <a:p>
            <a:pPr algn="ctr"/>
            <a:r>
              <a:rPr lang="en-US" dirty="0"/>
              <a:t>argmax</a:t>
            </a:r>
          </a:p>
        </p:txBody>
      </p:sp>
      <p:sp>
        <p:nvSpPr>
          <p:cNvPr id="31" name="TextBox 30">
            <a:extLst>
              <a:ext uri="{FF2B5EF4-FFF2-40B4-BE49-F238E27FC236}">
                <a16:creationId xmlns:a16="http://schemas.microsoft.com/office/drawing/2014/main" id="{43CFDD27-088E-49CA-879E-3617E6A7FE26}"/>
              </a:ext>
            </a:extLst>
          </p:cNvPr>
          <p:cNvSpPr txBox="1"/>
          <p:nvPr/>
        </p:nvSpPr>
        <p:spPr>
          <a:xfrm>
            <a:off x="2735036" y="3147618"/>
            <a:ext cx="1028486" cy="415498"/>
          </a:xfrm>
          <a:prstGeom prst="rect">
            <a:avLst/>
          </a:prstGeom>
          <a:noFill/>
        </p:spPr>
        <p:txBody>
          <a:bodyPr wrap="square" rtlCol="0">
            <a:spAutoFit/>
          </a:bodyPr>
          <a:lstStyle/>
          <a:p>
            <a:pPr algn="ctr"/>
            <a:r>
              <a:rPr lang="en-US" sz="1050" dirty="0"/>
              <a:t>Image</a:t>
            </a:r>
          </a:p>
          <a:p>
            <a:pPr algn="ctr"/>
            <a:r>
              <a:rPr lang="en-US" sz="1050" dirty="0"/>
              <a:t>augmentation</a:t>
            </a:r>
          </a:p>
        </p:txBody>
      </p:sp>
    </p:spTree>
    <p:extLst>
      <p:ext uri="{BB962C8B-B14F-4D97-AF65-F5344CB8AC3E}">
        <p14:creationId xmlns:p14="http://schemas.microsoft.com/office/powerpoint/2010/main" val="334193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1BED3A-2EF2-4F00-A9CE-B85CB68DFDF8}"/>
              </a:ext>
            </a:extLst>
          </p:cNvPr>
          <p:cNvSpPr>
            <a:spLocks noGrp="1"/>
          </p:cNvSpPr>
          <p:nvPr>
            <p:ph type="title"/>
          </p:nvPr>
        </p:nvSpPr>
        <p:spPr/>
        <p:txBody>
          <a:bodyPr/>
          <a:lstStyle/>
          <a:p>
            <a:r>
              <a:rPr lang="en-US" altLang="zh-TW" dirty="0"/>
              <a:t>What LLMs Are Out There?</a:t>
            </a:r>
            <a:endParaRPr lang="zh-TW" altLang="en-US" dirty="0"/>
          </a:p>
        </p:txBody>
      </p:sp>
      <p:sp>
        <p:nvSpPr>
          <p:cNvPr id="3" name="內容版面配置區 2">
            <a:extLst>
              <a:ext uri="{FF2B5EF4-FFF2-40B4-BE49-F238E27FC236}">
                <a16:creationId xmlns:a16="http://schemas.microsoft.com/office/drawing/2014/main" id="{3126C615-69A4-48E9-B3CF-5F99D2C2E624}"/>
              </a:ext>
            </a:extLst>
          </p:cNvPr>
          <p:cNvSpPr>
            <a:spLocks noGrp="1"/>
          </p:cNvSpPr>
          <p:nvPr>
            <p:ph idx="1"/>
          </p:nvPr>
        </p:nvSpPr>
        <p:spPr/>
        <p:txBody>
          <a:bodyPr/>
          <a:lstStyle/>
          <a:p>
            <a:pPr rtl="0">
              <a:spcBef>
                <a:spcPts val="0"/>
              </a:spcBef>
              <a:spcAft>
                <a:spcPts val="1200"/>
              </a:spcAft>
            </a:pPr>
            <a:r>
              <a:rPr lang="en-US" altLang="zh-TW" sz="2000" b="0" i="0" u="none" strike="noStrike" dirty="0">
                <a:effectLst/>
                <a:latin typeface="Arial" panose="020B0604020202020204" pitchFamily="34" charset="0"/>
              </a:rPr>
              <a:t>GPT, </a:t>
            </a:r>
            <a:r>
              <a:rPr lang="en-US" altLang="zh-TW" sz="2000" b="0" i="0" u="none" strike="noStrike" dirty="0" err="1">
                <a:effectLst/>
                <a:latin typeface="Arial" panose="020B0604020202020204" pitchFamily="34" charset="0"/>
              </a:rPr>
              <a:t>Deepseek</a:t>
            </a:r>
            <a:r>
              <a:rPr lang="en-US" altLang="zh-TW" sz="2000" b="0" i="0" u="none" strike="noStrike" dirty="0">
                <a:effectLst/>
                <a:latin typeface="Arial" panose="020B0604020202020204" pitchFamily="34" charset="0"/>
              </a:rPr>
              <a:t>, Llama, </a:t>
            </a:r>
            <a:r>
              <a:rPr lang="en-US" altLang="zh-TW" sz="2000" b="0" i="0" u="none" strike="noStrike" dirty="0" err="1">
                <a:effectLst/>
                <a:latin typeface="Arial" panose="020B0604020202020204" pitchFamily="34" charset="0"/>
              </a:rPr>
              <a:t>gemma</a:t>
            </a:r>
            <a:r>
              <a:rPr lang="en-US" altLang="zh-TW" sz="2000" b="0" i="0" u="none" strike="noStrike" dirty="0">
                <a:effectLst/>
                <a:latin typeface="Arial" panose="020B0604020202020204" pitchFamily="34" charset="0"/>
              </a:rPr>
              <a:t>, </a:t>
            </a:r>
            <a:r>
              <a:rPr lang="en-US" altLang="zh-TW" sz="2000" b="0" i="0" u="none" strike="noStrike" dirty="0" err="1">
                <a:effectLst/>
                <a:latin typeface="Arial" panose="020B0604020202020204" pitchFamily="34" charset="0"/>
              </a:rPr>
              <a:t>Taide</a:t>
            </a:r>
            <a:r>
              <a:rPr lang="en-US" altLang="zh-TW" sz="2000" b="0" i="0" u="none" strike="noStrike" dirty="0">
                <a:effectLst/>
                <a:latin typeface="Arial" panose="020B0604020202020204" pitchFamily="34" charset="0"/>
              </a:rPr>
              <a:t>, Breeze, Mistral, </a:t>
            </a:r>
            <a:r>
              <a:rPr lang="en-US" altLang="zh-TW" sz="2000" b="0" i="0" u="none" strike="noStrike" dirty="0" err="1">
                <a:effectLst/>
                <a:latin typeface="Arial" panose="020B0604020202020204" pitchFamily="34" charset="0"/>
              </a:rPr>
              <a:t>Internvl</a:t>
            </a:r>
            <a:r>
              <a:rPr lang="en-US" altLang="zh-TW" sz="2000" b="0" i="0" u="none" strike="noStrike" dirty="0">
                <a:effectLst/>
                <a:latin typeface="Arial" panose="020B0604020202020204" pitchFamily="34" charset="0"/>
              </a:rPr>
              <a:t>, </a:t>
            </a:r>
            <a:r>
              <a:rPr lang="en-US" altLang="zh-TW" sz="2000" b="0" i="0" u="none" strike="noStrike" dirty="0" err="1">
                <a:effectLst/>
                <a:latin typeface="Arial" panose="020B0604020202020204" pitchFamily="34" charset="0"/>
              </a:rPr>
              <a:t>Qwen</a:t>
            </a:r>
            <a:r>
              <a:rPr lang="en-US" altLang="zh-TW" sz="2000" b="0" i="0" u="none" strike="noStrike" dirty="0">
                <a:effectLst/>
                <a:latin typeface="Arial" panose="020B0604020202020204" pitchFamily="34" charset="0"/>
              </a:rPr>
              <a:t>…</a:t>
            </a:r>
            <a:endParaRPr lang="en-US" altLang="zh-TW" sz="3600" b="0" dirty="0">
              <a:effectLst/>
            </a:endParaRPr>
          </a:p>
          <a:p>
            <a:pPr rtl="0">
              <a:spcBef>
                <a:spcPts val="0"/>
              </a:spcBef>
              <a:spcAft>
                <a:spcPts val="1200"/>
              </a:spcAft>
            </a:pPr>
            <a:r>
              <a:rPr lang="en-US" altLang="zh-TW" sz="2000" b="0" i="0" u="none" strike="noStrike" dirty="0">
                <a:effectLst/>
                <a:latin typeface="Arial" panose="020B0604020202020204" pitchFamily="34" charset="0"/>
              </a:rPr>
              <a:t>Each model has their own strengths and weaknesses:</a:t>
            </a:r>
          </a:p>
          <a:p>
            <a:pPr lvl="1">
              <a:spcBef>
                <a:spcPts val="0"/>
              </a:spcBef>
              <a:spcAft>
                <a:spcPts val="1200"/>
              </a:spcAft>
            </a:pPr>
            <a:r>
              <a:rPr lang="en-US" altLang="zh-TW" sz="1600" dirty="0">
                <a:latin typeface="Arial" panose="020B0604020202020204" pitchFamily="34" charset="0"/>
              </a:rPr>
              <a:t>GPT: most well rounded option out there, but not open source and not commercially hostable</a:t>
            </a:r>
          </a:p>
          <a:p>
            <a:pPr lvl="1">
              <a:spcBef>
                <a:spcPts val="0"/>
              </a:spcBef>
              <a:spcAft>
                <a:spcPts val="1200"/>
              </a:spcAft>
            </a:pPr>
            <a:r>
              <a:rPr lang="en-US" altLang="zh-TW" sz="1600" b="0" i="0" u="none" strike="noStrike" dirty="0">
                <a:effectLst/>
                <a:latin typeface="Arial" panose="020B0604020202020204" pitchFamily="34" charset="0"/>
              </a:rPr>
              <a:t>Breeze: has Traditional Chinese support + open source + commercially viable (3B, 8B)</a:t>
            </a:r>
          </a:p>
          <a:p>
            <a:pPr lvl="1">
              <a:spcBef>
                <a:spcPts val="0"/>
              </a:spcBef>
              <a:spcAft>
                <a:spcPts val="1200"/>
              </a:spcAft>
            </a:pPr>
            <a:r>
              <a:rPr lang="en-US" altLang="zh-TW" sz="1600" dirty="0">
                <a:latin typeface="Arial" panose="020B0604020202020204" pitchFamily="34" charset="0"/>
              </a:rPr>
              <a:t>Gemma4: enhanced coding capabilities</a:t>
            </a:r>
            <a:endParaRPr lang="en-US" altLang="zh-TW" sz="1600" b="0" i="0" u="none" strike="noStrike" dirty="0">
              <a:effectLst/>
              <a:latin typeface="Arial" panose="020B0604020202020204" pitchFamily="34" charset="0"/>
            </a:endParaRPr>
          </a:p>
          <a:p>
            <a:pPr rtl="0">
              <a:spcBef>
                <a:spcPts val="0"/>
              </a:spcBef>
              <a:spcAft>
                <a:spcPts val="1200"/>
              </a:spcAft>
            </a:pPr>
            <a:r>
              <a:rPr lang="en-US" altLang="zh-TW" sz="2000" b="0" i="0" u="none" strike="noStrike" dirty="0">
                <a:effectLst/>
                <a:latin typeface="Arial" panose="020B0604020202020204" pitchFamily="34" charset="0"/>
              </a:rPr>
              <a:t>More and more recent models are </a:t>
            </a:r>
            <a:r>
              <a:rPr lang="en-US" altLang="zh-TW" sz="2000" b="0" i="0" u="sng" strike="noStrike" dirty="0">
                <a:effectLst/>
                <a:latin typeface="Arial" panose="020B0604020202020204" pitchFamily="34" charset="0"/>
              </a:rPr>
              <a:t>capable of function calling</a:t>
            </a:r>
            <a:r>
              <a:rPr lang="en-US" altLang="zh-TW" sz="2000" b="0" i="0" u="none" strike="noStrike" dirty="0">
                <a:effectLst/>
                <a:latin typeface="Arial" panose="020B0604020202020204" pitchFamily="34" charset="0"/>
              </a:rPr>
              <a:t> – it’s all about picking what suits your use case best (model size, multi-lingual support, etc.)</a:t>
            </a:r>
            <a:endParaRPr lang="en-US" altLang="zh-TW" sz="3600" b="0" dirty="0">
              <a:effectLst/>
            </a:endParaRPr>
          </a:p>
          <a:p>
            <a:pPr rtl="0">
              <a:spcBef>
                <a:spcPts val="0"/>
              </a:spcBef>
              <a:spcAft>
                <a:spcPts val="1200"/>
              </a:spcAft>
            </a:pPr>
            <a:r>
              <a:rPr lang="en-US" altLang="zh-TW" sz="2000" b="0" i="0" u="none" strike="noStrike" dirty="0">
                <a:effectLst/>
                <a:latin typeface="Arial" panose="020B0604020202020204" pitchFamily="34" charset="0"/>
              </a:rPr>
              <a:t>Newer models have better text comprehension and some models that weren’t trained to do function calling can still perform basic FC if taught in prompts</a:t>
            </a:r>
            <a:endParaRPr lang="en-US" altLang="zh-TW" sz="3600" b="0" dirty="0">
              <a:effectLst/>
            </a:endParaRPr>
          </a:p>
          <a:p>
            <a:pPr rtl="0">
              <a:spcBef>
                <a:spcPts val="0"/>
              </a:spcBef>
              <a:spcAft>
                <a:spcPts val="1200"/>
              </a:spcAft>
            </a:pPr>
            <a:r>
              <a:rPr lang="en-US" altLang="zh-TW" sz="2000" b="0" i="0" u="none" strike="noStrike" dirty="0">
                <a:effectLst/>
                <a:latin typeface="Arial" panose="020B0604020202020204" pitchFamily="34" charset="0"/>
              </a:rPr>
              <a:t>Why do we need fine tuning then?</a:t>
            </a:r>
            <a:endParaRPr lang="en-US" altLang="zh-TW" sz="3600" b="0" dirty="0">
              <a:effectLst/>
            </a:endParaRPr>
          </a:p>
          <a:p>
            <a:pPr lvl="1">
              <a:spcBef>
                <a:spcPts val="0"/>
              </a:spcBef>
              <a:spcAft>
                <a:spcPts val="1200"/>
              </a:spcAft>
            </a:pPr>
            <a:r>
              <a:rPr lang="en-US" altLang="zh-TW" sz="1600" b="0" i="0" u="none" strike="noStrike" dirty="0">
                <a:effectLst/>
                <a:latin typeface="Arial" panose="020B0604020202020204" pitchFamily="34" charset="0"/>
              </a:rPr>
              <a:t>Stability, formatting, some smaller models really don’t have one-shot learning capability because they can’t generalize well enough</a:t>
            </a:r>
            <a:endParaRPr lang="en-US" altLang="zh-TW" sz="3200" b="0" dirty="0">
              <a:effectLst/>
            </a:endParaRPr>
          </a:p>
          <a:p>
            <a:pPr marL="0" indent="0">
              <a:buNone/>
            </a:pPr>
            <a:br>
              <a:rPr lang="en-US" altLang="zh-TW" sz="3600" dirty="0"/>
            </a:br>
            <a:endParaRPr lang="zh-TW" altLang="en-US" sz="3600" dirty="0"/>
          </a:p>
        </p:txBody>
      </p:sp>
      <p:sp>
        <p:nvSpPr>
          <p:cNvPr id="4" name="投影片編號版面配置區 3">
            <a:extLst>
              <a:ext uri="{FF2B5EF4-FFF2-40B4-BE49-F238E27FC236}">
                <a16:creationId xmlns:a16="http://schemas.microsoft.com/office/drawing/2014/main" id="{9B1F7ED1-CA70-45C7-827F-8E6AA7CAB4C6}"/>
              </a:ext>
            </a:extLst>
          </p:cNvPr>
          <p:cNvSpPr>
            <a:spLocks noGrp="1"/>
          </p:cNvSpPr>
          <p:nvPr>
            <p:ph type="sldNum" sz="quarter" idx="10"/>
          </p:nvPr>
        </p:nvSpPr>
        <p:spPr/>
        <p:txBody>
          <a:bodyPr/>
          <a:lstStyle/>
          <a:p>
            <a:pPr>
              <a:defRPr/>
            </a:pPr>
            <a:fld id="{CF627BE3-1269-44D5-A349-82FD5D94EBD8}" type="slidenum">
              <a:rPr lang="en-US" altLang="zh-TW" smtClean="0"/>
              <a:pPr>
                <a:defRPr/>
              </a:pPr>
              <a:t>9</a:t>
            </a:fld>
            <a:endParaRPr lang="en-US" altLang="zh-TW"/>
          </a:p>
        </p:txBody>
      </p:sp>
    </p:spTree>
    <p:extLst>
      <p:ext uri="{BB962C8B-B14F-4D97-AF65-F5344CB8AC3E}">
        <p14:creationId xmlns:p14="http://schemas.microsoft.com/office/powerpoint/2010/main" val="1245381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Basics of LLM Fine Tuning</a:t>
            </a:r>
          </a:p>
        </p:txBody>
      </p:sp>
    </p:spTree>
    <p:extLst>
      <p:ext uri="{BB962C8B-B14F-4D97-AF65-F5344CB8AC3E}">
        <p14:creationId xmlns:p14="http://schemas.microsoft.com/office/powerpoint/2010/main" val="719600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6991D5-1463-45BE-8427-3A91ECE38604}"/>
              </a:ext>
            </a:extLst>
          </p:cNvPr>
          <p:cNvSpPr>
            <a:spLocks noGrp="1"/>
          </p:cNvSpPr>
          <p:nvPr>
            <p:ph type="title"/>
          </p:nvPr>
        </p:nvSpPr>
        <p:spPr/>
        <p:txBody>
          <a:bodyPr/>
          <a:lstStyle/>
          <a:p>
            <a:r>
              <a:rPr lang="en-US" altLang="zh-TW" dirty="0"/>
              <a:t>Full Fine Tuning</a:t>
            </a:r>
            <a:endParaRPr lang="zh-TW" altLang="en-US" dirty="0"/>
          </a:p>
        </p:txBody>
      </p:sp>
      <p:sp>
        <p:nvSpPr>
          <p:cNvPr id="3" name="內容版面配置區 2">
            <a:extLst>
              <a:ext uri="{FF2B5EF4-FFF2-40B4-BE49-F238E27FC236}">
                <a16:creationId xmlns:a16="http://schemas.microsoft.com/office/drawing/2014/main" id="{A67164CA-992E-4CC9-9D96-FCE8AF099EFA}"/>
              </a:ext>
            </a:extLst>
          </p:cNvPr>
          <p:cNvSpPr>
            <a:spLocks noGrp="1"/>
          </p:cNvSpPr>
          <p:nvPr>
            <p:ph idx="1"/>
          </p:nvPr>
        </p:nvSpPr>
        <p:spPr/>
        <p:txBody>
          <a:bodyPr/>
          <a:lstStyle/>
          <a:p>
            <a:r>
              <a:rPr lang="en-US" altLang="zh-TW" sz="2800" dirty="0"/>
              <a:t>Like the name suggests, this updates all model parameters</a:t>
            </a:r>
            <a:r>
              <a:rPr lang="zh-TW" altLang="en-US" sz="2800" dirty="0"/>
              <a:t> </a:t>
            </a:r>
            <a:r>
              <a:rPr lang="en-US" altLang="zh-TW" sz="2800" dirty="0"/>
              <a:t>during training</a:t>
            </a:r>
          </a:p>
          <a:p>
            <a:endParaRPr lang="en-US" altLang="zh-TW" sz="2800" dirty="0"/>
          </a:p>
          <a:p>
            <a:endParaRPr lang="en-US" altLang="zh-TW" sz="2800" dirty="0"/>
          </a:p>
        </p:txBody>
      </p:sp>
      <p:sp>
        <p:nvSpPr>
          <p:cNvPr id="4" name="投影片編號版面配置區 3">
            <a:extLst>
              <a:ext uri="{FF2B5EF4-FFF2-40B4-BE49-F238E27FC236}">
                <a16:creationId xmlns:a16="http://schemas.microsoft.com/office/drawing/2014/main" id="{FCA1E558-5C65-4552-97C4-B491C6FC2F69}"/>
              </a:ext>
            </a:extLst>
          </p:cNvPr>
          <p:cNvSpPr>
            <a:spLocks noGrp="1"/>
          </p:cNvSpPr>
          <p:nvPr>
            <p:ph type="sldNum" sz="quarter" idx="10"/>
          </p:nvPr>
        </p:nvSpPr>
        <p:spPr/>
        <p:txBody>
          <a:bodyPr/>
          <a:lstStyle/>
          <a:p>
            <a:pPr>
              <a:defRPr/>
            </a:pPr>
            <a:fld id="{CF627BE3-1269-44D5-A349-82FD5D94EBD8}" type="slidenum">
              <a:rPr lang="en-US" altLang="zh-TW" smtClean="0"/>
              <a:pPr>
                <a:defRPr/>
              </a:pPr>
              <a:t>11</a:t>
            </a:fld>
            <a:endParaRPr lang="en-US" altLang="zh-TW"/>
          </a:p>
        </p:txBody>
      </p:sp>
      <p:pic>
        <p:nvPicPr>
          <p:cNvPr id="7" name="Picture 2">
            <a:extLst>
              <a:ext uri="{FF2B5EF4-FFF2-40B4-BE49-F238E27FC236}">
                <a16:creationId xmlns:a16="http://schemas.microsoft.com/office/drawing/2014/main" id="{F35140A8-DA50-40C7-985E-D7A735D9787C}"/>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38184" b="48145" l="11328" r="18229">
                        <a14:foregroundMark x1="13021" y1="45313" x2="13021" y2="45313"/>
                        <a14:foregroundMark x1="13542" y1="47754" x2="16146" y2="47656"/>
                        <a14:foregroundMark x1="17969" y1="45313" x2="18034" y2="42188"/>
                        <a14:foregroundMark x1="14779" y1="48242" x2="14779" y2="48242"/>
                        <a14:foregroundMark x1="14909" y1="48242" x2="14909" y2="48242"/>
                        <a14:foregroundMark x1="18229" y1="44141" x2="18229" y2="44141"/>
                        <a14:foregroundMark x1="18099" y1="42383" x2="18099" y2="42383"/>
                        <a14:foregroundMark x1="15039" y1="38574" x2="15039" y2="38574"/>
                        <a14:foregroundMark x1="14453" y1="38672" x2="14453" y2="38672"/>
                        <a14:foregroundMark x1="14518" y1="38477" x2="14518" y2="38477"/>
                        <a14:foregroundMark x1="14779" y1="38477" x2="14779" y2="38477"/>
                      </a14:backgroundRemoval>
                    </a14:imgEffect>
                  </a14:imgLayer>
                </a14:imgProps>
              </a:ext>
              <a:ext uri="{28A0092B-C50C-407E-A947-70E740481C1C}">
                <a14:useLocalDpi xmlns:a14="http://schemas.microsoft.com/office/drawing/2010/main" val="0"/>
              </a:ext>
            </a:extLst>
          </a:blip>
          <a:srcRect l="10635" t="37143" r="81112" b="50917"/>
          <a:stretch/>
        </p:blipFill>
        <p:spPr bwMode="auto">
          <a:xfrm>
            <a:off x="1246052" y="2587126"/>
            <a:ext cx="849086" cy="81887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29309FA3-61A7-4EB2-B457-12FEDEEB369D}"/>
              </a:ext>
            </a:extLst>
          </p:cNvPr>
          <p:cNvPicPr>
            <a:picLocks noChangeAspect="1" noChangeArrowheads="1"/>
          </p:cNvPicPr>
          <p:nvPr/>
        </p:nvPicPr>
        <p:blipFill rotWithShape="1">
          <a:blip r:embed="rId4">
            <a:extLst>
              <a:ext uri="{BEBA8EAE-BF5A-486C-A8C5-ECC9F3942E4B}">
                <a14:imgProps xmlns:a14="http://schemas.microsoft.com/office/drawing/2010/main">
                  <a14:imgLayer r:embed="rId3">
                    <a14:imgEffect>
                      <a14:backgroundRemoval t="38273" b="48451" l="57818" r="65256"/>
                    </a14:imgEffect>
                  </a14:imgLayer>
                </a14:imgProps>
              </a:ext>
              <a:ext uri="{28A0092B-C50C-407E-A947-70E740481C1C}">
                <a14:useLocalDpi xmlns:a14="http://schemas.microsoft.com/office/drawing/2010/main" val="0"/>
              </a:ext>
            </a:extLst>
          </a:blip>
          <a:srcRect l="56888" t="37001" r="33814" b="50277"/>
          <a:stretch/>
        </p:blipFill>
        <p:spPr bwMode="auto">
          <a:xfrm>
            <a:off x="6673216" y="2583180"/>
            <a:ext cx="956310" cy="872490"/>
          </a:xfrm>
          <a:prstGeom prst="rect">
            <a:avLst/>
          </a:prstGeom>
          <a:noFill/>
          <a:extLst>
            <a:ext uri="{909E8E84-426E-40DD-AFC4-6F175D3DCCD1}">
              <a14:hiddenFill xmlns:a14="http://schemas.microsoft.com/office/drawing/2010/main">
                <a:solidFill>
                  <a:srgbClr val="FFFFFF"/>
                </a:solidFill>
              </a14:hiddenFill>
            </a:ext>
          </a:extLst>
        </p:spPr>
      </p:pic>
      <p:sp>
        <p:nvSpPr>
          <p:cNvPr id="10" name="文字方塊 9">
            <a:extLst>
              <a:ext uri="{FF2B5EF4-FFF2-40B4-BE49-F238E27FC236}">
                <a16:creationId xmlns:a16="http://schemas.microsoft.com/office/drawing/2014/main" id="{F8FA3936-D1A1-4C9A-8682-49A11DE22E4F}"/>
              </a:ext>
            </a:extLst>
          </p:cNvPr>
          <p:cNvSpPr txBox="1"/>
          <p:nvPr/>
        </p:nvSpPr>
        <p:spPr>
          <a:xfrm>
            <a:off x="2150746" y="2734955"/>
            <a:ext cx="1610448" cy="523220"/>
          </a:xfrm>
          <a:prstGeom prst="rect">
            <a:avLst/>
          </a:prstGeom>
          <a:noFill/>
        </p:spPr>
        <p:txBody>
          <a:bodyPr wrap="square">
            <a:spAutoFit/>
          </a:bodyPr>
          <a:lstStyle/>
          <a:p>
            <a:r>
              <a:rPr lang="en-US" altLang="zh-TW" sz="2800" b="1" dirty="0"/>
              <a:t>Pros:</a:t>
            </a:r>
            <a:endParaRPr lang="zh-TW" altLang="en-US" sz="2800" b="1" dirty="0"/>
          </a:p>
        </p:txBody>
      </p:sp>
      <p:sp>
        <p:nvSpPr>
          <p:cNvPr id="11" name="文字方塊 10">
            <a:extLst>
              <a:ext uri="{FF2B5EF4-FFF2-40B4-BE49-F238E27FC236}">
                <a16:creationId xmlns:a16="http://schemas.microsoft.com/office/drawing/2014/main" id="{9136F4DC-8925-49AE-A3B9-83A85B714E90}"/>
              </a:ext>
            </a:extLst>
          </p:cNvPr>
          <p:cNvSpPr txBox="1"/>
          <p:nvPr/>
        </p:nvSpPr>
        <p:spPr>
          <a:xfrm>
            <a:off x="7606666" y="2757815"/>
            <a:ext cx="1610448" cy="523220"/>
          </a:xfrm>
          <a:prstGeom prst="rect">
            <a:avLst/>
          </a:prstGeom>
          <a:noFill/>
        </p:spPr>
        <p:txBody>
          <a:bodyPr wrap="square">
            <a:spAutoFit/>
          </a:bodyPr>
          <a:lstStyle/>
          <a:p>
            <a:r>
              <a:rPr lang="en-US" altLang="zh-TW" sz="2800" b="1" dirty="0"/>
              <a:t>Cons:</a:t>
            </a:r>
            <a:endParaRPr lang="zh-TW" altLang="en-US" sz="2800" b="1" dirty="0"/>
          </a:p>
        </p:txBody>
      </p:sp>
      <p:sp>
        <p:nvSpPr>
          <p:cNvPr id="13" name="文字方塊 12">
            <a:extLst>
              <a:ext uri="{FF2B5EF4-FFF2-40B4-BE49-F238E27FC236}">
                <a16:creationId xmlns:a16="http://schemas.microsoft.com/office/drawing/2014/main" id="{B40512B2-ED55-4E19-8209-694A9180C208}"/>
              </a:ext>
            </a:extLst>
          </p:cNvPr>
          <p:cNvSpPr txBox="1"/>
          <p:nvPr/>
        </p:nvSpPr>
        <p:spPr>
          <a:xfrm>
            <a:off x="1246052" y="3758392"/>
            <a:ext cx="4426797" cy="2462213"/>
          </a:xfrm>
          <a:prstGeom prst="rect">
            <a:avLst/>
          </a:prstGeom>
          <a:noFill/>
        </p:spPr>
        <p:txBody>
          <a:bodyPr wrap="square">
            <a:spAutoFit/>
          </a:bodyPr>
          <a:lstStyle/>
          <a:p>
            <a:pPr marL="285750" indent="-285750">
              <a:buFont typeface="Arial" panose="020B0604020202020204" pitchFamily="34" charset="0"/>
              <a:buChar char="•"/>
            </a:pPr>
            <a:r>
              <a:rPr lang="en-US" altLang="zh-TW" sz="2200" dirty="0"/>
              <a:t>Best performance when trying to train a model for a specific task</a:t>
            </a:r>
          </a:p>
          <a:p>
            <a:pPr marL="285750" indent="-285750">
              <a:buFont typeface="Arial" panose="020B0604020202020204" pitchFamily="34" charset="0"/>
              <a:buChar char="•"/>
            </a:pPr>
            <a:r>
              <a:rPr lang="en-US" altLang="zh-TW" sz="2200" dirty="0"/>
              <a:t>Modifies core model behavior (reasoning, output format)</a:t>
            </a:r>
          </a:p>
          <a:p>
            <a:pPr marL="285750" indent="-285750">
              <a:buFont typeface="Arial" panose="020B0604020202020204" pitchFamily="34" charset="0"/>
              <a:buChar char="•"/>
            </a:pPr>
            <a:r>
              <a:rPr lang="en-US" altLang="zh-TW" sz="2200" dirty="0"/>
              <a:t>Used to create foundational models</a:t>
            </a:r>
          </a:p>
        </p:txBody>
      </p:sp>
      <p:sp>
        <p:nvSpPr>
          <p:cNvPr id="15" name="文字方塊 14">
            <a:extLst>
              <a:ext uri="{FF2B5EF4-FFF2-40B4-BE49-F238E27FC236}">
                <a16:creationId xmlns:a16="http://schemas.microsoft.com/office/drawing/2014/main" id="{B5AEF91C-1106-4AF8-83FA-3AFC58DEC3C0}"/>
              </a:ext>
            </a:extLst>
          </p:cNvPr>
          <p:cNvSpPr txBox="1"/>
          <p:nvPr/>
        </p:nvSpPr>
        <p:spPr>
          <a:xfrm>
            <a:off x="6697558" y="3758392"/>
            <a:ext cx="4426797" cy="1785104"/>
          </a:xfrm>
          <a:prstGeom prst="rect">
            <a:avLst/>
          </a:prstGeom>
          <a:noFill/>
        </p:spPr>
        <p:txBody>
          <a:bodyPr wrap="square">
            <a:spAutoFit/>
          </a:bodyPr>
          <a:lstStyle/>
          <a:p>
            <a:pPr marL="285750" indent="-285750">
              <a:buFont typeface="Arial" panose="020B0604020202020204" pitchFamily="34" charset="0"/>
              <a:buChar char="•"/>
            </a:pPr>
            <a:r>
              <a:rPr lang="en-US" altLang="zh-TW" sz="2200" dirty="0"/>
              <a:t>Very demanding resource wise (time, VRAM, checkpoint storage, data required)</a:t>
            </a:r>
          </a:p>
          <a:p>
            <a:pPr marL="285750" indent="-285750">
              <a:buFont typeface="Arial" panose="020B0604020202020204" pitchFamily="34" charset="0"/>
              <a:buChar char="•"/>
            </a:pPr>
            <a:r>
              <a:rPr lang="en-US" altLang="zh-TW" sz="2200" dirty="0"/>
              <a:t>Easy to overfit on small datasets and forget old skills</a:t>
            </a:r>
            <a:endParaRPr lang="zh-TW" altLang="en-US" sz="2200" dirty="0"/>
          </a:p>
        </p:txBody>
      </p:sp>
    </p:spTree>
    <p:extLst>
      <p:ext uri="{BB962C8B-B14F-4D97-AF65-F5344CB8AC3E}">
        <p14:creationId xmlns:p14="http://schemas.microsoft.com/office/powerpoint/2010/main" val="3238621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006A0C-8A11-42B0-9E3D-86B702AA0DA7}"/>
              </a:ext>
            </a:extLst>
          </p:cNvPr>
          <p:cNvSpPr>
            <a:spLocks noGrp="1"/>
          </p:cNvSpPr>
          <p:nvPr>
            <p:ph type="title"/>
          </p:nvPr>
        </p:nvSpPr>
        <p:spPr/>
        <p:txBody>
          <a:bodyPr/>
          <a:lstStyle/>
          <a:p>
            <a:r>
              <a:rPr lang="en-US" altLang="zh-TW" dirty="0"/>
              <a:t>Low-Rank Adaptation (</a:t>
            </a:r>
            <a:r>
              <a:rPr lang="en-US" altLang="zh-TW" dirty="0" err="1"/>
              <a:t>LoRA</a:t>
            </a:r>
            <a:r>
              <a:rPr lang="en-US" altLang="zh-TW" dirty="0"/>
              <a:t>)</a:t>
            </a:r>
            <a:endParaRPr lang="zh-TW" altLang="en-US" dirty="0"/>
          </a:p>
        </p:txBody>
      </p:sp>
      <p:sp>
        <p:nvSpPr>
          <p:cNvPr id="3" name="內容版面配置區 2">
            <a:extLst>
              <a:ext uri="{FF2B5EF4-FFF2-40B4-BE49-F238E27FC236}">
                <a16:creationId xmlns:a16="http://schemas.microsoft.com/office/drawing/2014/main" id="{CC6BF7F3-70C6-4BCE-BB8F-626506548D9D}"/>
              </a:ext>
            </a:extLst>
          </p:cNvPr>
          <p:cNvSpPr>
            <a:spLocks noGrp="1"/>
          </p:cNvSpPr>
          <p:nvPr>
            <p:ph idx="1"/>
          </p:nvPr>
        </p:nvSpPr>
        <p:spPr/>
        <p:txBody>
          <a:bodyPr/>
          <a:lstStyle/>
          <a:p>
            <a:pPr marL="0" indent="0">
              <a:buNone/>
            </a:pPr>
            <a:r>
              <a:rPr lang="en-US" altLang="zh-TW" sz="1800" b="1" dirty="0"/>
              <a:t>How It Works:</a:t>
            </a:r>
          </a:p>
          <a:p>
            <a:pPr>
              <a:buFont typeface="+mj-lt"/>
              <a:buAutoNum type="arabicPeriod"/>
            </a:pPr>
            <a:r>
              <a:rPr lang="en-US" altLang="zh-TW" sz="1800" dirty="0"/>
              <a:t>Freeze the pre-trained LLM weights.</a:t>
            </a:r>
          </a:p>
          <a:p>
            <a:pPr>
              <a:buFont typeface="+mj-lt"/>
              <a:buAutoNum type="arabicPeriod"/>
            </a:pPr>
            <a:r>
              <a:rPr lang="en-US" altLang="zh-TW" sz="1800" dirty="0"/>
              <a:t>Add small trainable low-rank matrices (A &amp; B) to attention layers.</a:t>
            </a:r>
          </a:p>
          <a:p>
            <a:pPr>
              <a:buFont typeface="+mj-lt"/>
              <a:buAutoNum type="arabicPeriod"/>
            </a:pPr>
            <a:r>
              <a:rPr lang="en-US" altLang="zh-TW" sz="1800" dirty="0"/>
              <a:t>Train only these new matrices, keeping the original model intact.</a:t>
            </a:r>
          </a:p>
          <a:p>
            <a:pPr>
              <a:buFont typeface="+mj-lt"/>
              <a:buAutoNum type="arabicPeriod"/>
            </a:pPr>
            <a:r>
              <a:rPr lang="en-US" altLang="zh-TW" sz="1800" dirty="0"/>
              <a:t>The trainable weights are then merged with the base model.</a:t>
            </a:r>
          </a:p>
        </p:txBody>
      </p:sp>
      <p:sp>
        <p:nvSpPr>
          <p:cNvPr id="4" name="投影片編號版面配置區 3">
            <a:extLst>
              <a:ext uri="{FF2B5EF4-FFF2-40B4-BE49-F238E27FC236}">
                <a16:creationId xmlns:a16="http://schemas.microsoft.com/office/drawing/2014/main" id="{66495FE8-A340-457B-AB2D-7F4465DA4F9B}"/>
              </a:ext>
            </a:extLst>
          </p:cNvPr>
          <p:cNvSpPr>
            <a:spLocks noGrp="1"/>
          </p:cNvSpPr>
          <p:nvPr>
            <p:ph type="sldNum" sz="quarter" idx="10"/>
          </p:nvPr>
        </p:nvSpPr>
        <p:spPr/>
        <p:txBody>
          <a:bodyPr/>
          <a:lstStyle/>
          <a:p>
            <a:pPr>
              <a:defRPr/>
            </a:pPr>
            <a:fld id="{CF627BE3-1269-44D5-A349-82FD5D94EBD8}" type="slidenum">
              <a:rPr lang="en-US" altLang="zh-TW" smtClean="0"/>
              <a:pPr>
                <a:defRPr/>
              </a:pPr>
              <a:t>12</a:t>
            </a:fld>
            <a:endParaRPr lang="en-US" altLang="zh-TW"/>
          </a:p>
        </p:txBody>
      </p:sp>
      <p:pic>
        <p:nvPicPr>
          <p:cNvPr id="1026" name="Picture 2">
            <a:extLst>
              <a:ext uri="{FF2B5EF4-FFF2-40B4-BE49-F238E27FC236}">
                <a16:creationId xmlns:a16="http://schemas.microsoft.com/office/drawing/2014/main" id="{2000AA16-AA3D-4958-81E6-77E14BF932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8187"/>
          <a:stretch/>
        </p:blipFill>
        <p:spPr bwMode="auto">
          <a:xfrm>
            <a:off x="7867650" y="1817914"/>
            <a:ext cx="3943350" cy="360022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F8A2437-AC89-47A0-8EA1-2D6EB7A6E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81252" y="3083806"/>
            <a:ext cx="5787798" cy="3347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243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006A0C-8A11-42B0-9E3D-86B702AA0DA7}"/>
              </a:ext>
            </a:extLst>
          </p:cNvPr>
          <p:cNvSpPr>
            <a:spLocks noGrp="1"/>
          </p:cNvSpPr>
          <p:nvPr>
            <p:ph type="title"/>
          </p:nvPr>
        </p:nvSpPr>
        <p:spPr/>
        <p:txBody>
          <a:bodyPr/>
          <a:lstStyle/>
          <a:p>
            <a:r>
              <a:rPr lang="en-US" altLang="zh-TW" dirty="0"/>
              <a:t>Low-Rank Adaptation (</a:t>
            </a:r>
            <a:r>
              <a:rPr lang="en-US" altLang="zh-TW" dirty="0" err="1"/>
              <a:t>LoRA</a:t>
            </a:r>
            <a:r>
              <a:rPr lang="en-US" altLang="zh-TW" dirty="0"/>
              <a:t>)</a:t>
            </a:r>
            <a:endParaRPr lang="zh-TW" altLang="en-US" dirty="0"/>
          </a:p>
        </p:txBody>
      </p:sp>
      <p:sp>
        <p:nvSpPr>
          <p:cNvPr id="3" name="內容版面配置區 2">
            <a:extLst>
              <a:ext uri="{FF2B5EF4-FFF2-40B4-BE49-F238E27FC236}">
                <a16:creationId xmlns:a16="http://schemas.microsoft.com/office/drawing/2014/main" id="{CC6BF7F3-70C6-4BCE-BB8F-626506548D9D}"/>
              </a:ext>
            </a:extLst>
          </p:cNvPr>
          <p:cNvSpPr>
            <a:spLocks noGrp="1"/>
          </p:cNvSpPr>
          <p:nvPr>
            <p:ph idx="1"/>
          </p:nvPr>
        </p:nvSpPr>
        <p:spPr>
          <a:xfrm>
            <a:off x="609600" y="1206499"/>
            <a:ext cx="11152717" cy="4757737"/>
          </a:xfrm>
        </p:spPr>
        <p:txBody>
          <a:bodyPr/>
          <a:lstStyle/>
          <a:p>
            <a:pPr marL="0" indent="0">
              <a:lnSpc>
                <a:spcPct val="150000"/>
              </a:lnSpc>
              <a:spcAft>
                <a:spcPts val="600"/>
              </a:spcAft>
              <a:buNone/>
            </a:pPr>
            <a:r>
              <a:rPr lang="en-US" altLang="zh-TW" sz="2000" b="1" dirty="0"/>
              <a:t>Key Benefits:</a:t>
            </a:r>
          </a:p>
          <a:p>
            <a:pPr>
              <a:lnSpc>
                <a:spcPct val="150000"/>
              </a:lnSpc>
              <a:spcAft>
                <a:spcPts val="600"/>
              </a:spcAft>
            </a:pPr>
            <a:br>
              <a:rPr lang="en-US" altLang="zh-TW" sz="100" dirty="0">
                <a:solidFill>
                  <a:schemeClr val="bg1"/>
                </a:solidFill>
              </a:rPr>
            </a:br>
            <a:r>
              <a:rPr lang="zh-TW" altLang="en-US" sz="2000" dirty="0"/>
              <a:t>✅ </a:t>
            </a:r>
            <a:r>
              <a:rPr lang="en-US" altLang="zh-TW" sz="2000" b="1" dirty="0"/>
              <a:t>Reduces Memory Usage</a:t>
            </a:r>
            <a:r>
              <a:rPr lang="en-US" altLang="zh-TW" sz="2000" dirty="0"/>
              <a:t> – Fine-tunes </a:t>
            </a:r>
            <a:r>
              <a:rPr lang="en-US" altLang="zh-TW" sz="2000" b="1" dirty="0"/>
              <a:t>only a small fraction</a:t>
            </a:r>
            <a:r>
              <a:rPr lang="en-US" altLang="zh-TW" sz="2000" dirty="0"/>
              <a:t> of the model parameters.</a:t>
            </a:r>
            <a:br>
              <a:rPr lang="en-US" altLang="zh-TW" sz="2000" dirty="0"/>
            </a:br>
            <a:r>
              <a:rPr lang="zh-TW" altLang="en-US" sz="2000" dirty="0"/>
              <a:t>✅ </a:t>
            </a:r>
            <a:r>
              <a:rPr lang="en-US" altLang="zh-TW" sz="2000" b="1" dirty="0"/>
              <a:t>Faster Training</a:t>
            </a:r>
            <a:r>
              <a:rPr lang="en-US" altLang="zh-TW" sz="2000" dirty="0"/>
              <a:t> – Requires fewer computations, making it cost-efficient.</a:t>
            </a:r>
            <a:br>
              <a:rPr lang="en-US" altLang="zh-TW" sz="2000" dirty="0"/>
            </a:br>
            <a:r>
              <a:rPr lang="zh-TW" altLang="en-US" sz="2000" dirty="0"/>
              <a:t>✅ </a:t>
            </a:r>
            <a:r>
              <a:rPr lang="en-US" altLang="zh-TW" sz="2000" b="1" dirty="0"/>
              <a:t>Retains Pre-Trained Knowledge</a:t>
            </a:r>
            <a:r>
              <a:rPr lang="en-US" altLang="zh-TW" sz="2000" dirty="0"/>
              <a:t> – Keeps most of the original model weights frozen.</a:t>
            </a:r>
            <a:br>
              <a:rPr lang="en-US" altLang="zh-TW" sz="2000" dirty="0"/>
            </a:br>
            <a:r>
              <a:rPr lang="zh-TW" altLang="en-US" sz="2000" dirty="0"/>
              <a:t>✅ </a:t>
            </a:r>
            <a:r>
              <a:rPr lang="en-US" altLang="zh-TW" sz="2000" b="1" dirty="0"/>
              <a:t>Easier Adaptation</a:t>
            </a:r>
            <a:r>
              <a:rPr lang="en-US" altLang="zh-TW" sz="2000" dirty="0"/>
              <a:t> – Fine-tune </a:t>
            </a:r>
            <a:r>
              <a:rPr lang="en-US" altLang="zh-TW" sz="2000" b="1" dirty="0"/>
              <a:t>large models</a:t>
            </a:r>
            <a:r>
              <a:rPr lang="en-US" altLang="zh-TW" sz="2000" dirty="0"/>
              <a:t> (e.g., </a:t>
            </a:r>
            <a:r>
              <a:rPr lang="en-US" altLang="zh-TW" sz="2000" dirty="0" err="1"/>
              <a:t>LLaMA</a:t>
            </a:r>
            <a:r>
              <a:rPr lang="en-US" altLang="zh-TW" sz="2000" dirty="0"/>
              <a:t>, Mistral) on </a:t>
            </a:r>
            <a:r>
              <a:rPr lang="en-US" altLang="zh-TW" sz="2000" b="1" dirty="0"/>
              <a:t>consumer GPUs</a:t>
            </a:r>
            <a:r>
              <a:rPr lang="en-US" altLang="zh-TW" sz="2000" dirty="0"/>
              <a:t>.</a:t>
            </a:r>
            <a:r>
              <a:rPr lang="zh-TW" altLang="en-US" sz="2000" dirty="0"/>
              <a:t> ✅ </a:t>
            </a:r>
            <a:r>
              <a:rPr lang="en-US" altLang="zh-TW" sz="2000" b="1" dirty="0"/>
              <a:t>No Added Inference Latency </a:t>
            </a:r>
            <a:r>
              <a:rPr lang="en-US" altLang="zh-TW" sz="2000" dirty="0"/>
              <a:t>– doesn’t slow down model.</a:t>
            </a:r>
          </a:p>
        </p:txBody>
      </p:sp>
      <p:sp>
        <p:nvSpPr>
          <p:cNvPr id="4" name="投影片編號版面配置區 3">
            <a:extLst>
              <a:ext uri="{FF2B5EF4-FFF2-40B4-BE49-F238E27FC236}">
                <a16:creationId xmlns:a16="http://schemas.microsoft.com/office/drawing/2014/main" id="{66495FE8-A340-457B-AB2D-7F4465DA4F9B}"/>
              </a:ext>
            </a:extLst>
          </p:cNvPr>
          <p:cNvSpPr>
            <a:spLocks noGrp="1"/>
          </p:cNvSpPr>
          <p:nvPr>
            <p:ph type="sldNum" sz="quarter" idx="10"/>
          </p:nvPr>
        </p:nvSpPr>
        <p:spPr/>
        <p:txBody>
          <a:bodyPr/>
          <a:lstStyle/>
          <a:p>
            <a:pPr>
              <a:defRPr/>
            </a:pPr>
            <a:fld id="{CF627BE3-1269-44D5-A349-82FD5D94EBD8}" type="slidenum">
              <a:rPr lang="en-US" altLang="zh-TW" smtClean="0"/>
              <a:pPr>
                <a:defRPr/>
              </a:pPr>
              <a:t>13</a:t>
            </a:fld>
            <a:endParaRPr lang="en-US" altLang="zh-TW"/>
          </a:p>
        </p:txBody>
      </p:sp>
      <p:sp>
        <p:nvSpPr>
          <p:cNvPr id="5" name="內容版面配置區 2">
            <a:extLst>
              <a:ext uri="{FF2B5EF4-FFF2-40B4-BE49-F238E27FC236}">
                <a16:creationId xmlns:a16="http://schemas.microsoft.com/office/drawing/2014/main" id="{12E82CD7-D5E1-4294-B67A-F4C08EB23965}"/>
              </a:ext>
            </a:extLst>
          </p:cNvPr>
          <p:cNvSpPr txBox="1">
            <a:spLocks/>
          </p:cNvSpPr>
          <p:nvPr/>
        </p:nvSpPr>
        <p:spPr bwMode="auto">
          <a:xfrm>
            <a:off x="601134" y="4356923"/>
            <a:ext cx="11152717" cy="175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baseline="0">
                <a:solidFill>
                  <a:schemeClr val="tx1"/>
                </a:solidFill>
                <a:latin typeface="+mn-lt"/>
                <a:ea typeface="+mn-ea"/>
              </a:defRPr>
            </a:lvl2pPr>
            <a:lvl3pPr marL="1143000" indent="-228600" algn="l" rtl="0" eaLnBrk="0" fontAlgn="base" hangingPunct="0">
              <a:spcBef>
                <a:spcPct val="20000"/>
              </a:spcBef>
              <a:spcAft>
                <a:spcPct val="0"/>
              </a:spcAft>
              <a:buChar char="•"/>
              <a:defRPr kumimoji="1" sz="2400" baseline="0">
                <a:solidFill>
                  <a:schemeClr val="tx1"/>
                </a:solidFill>
                <a:latin typeface="+mn-lt"/>
                <a:ea typeface="+mn-ea"/>
              </a:defRPr>
            </a:lvl3pPr>
            <a:lvl4pPr marL="1600200" indent="-228600" algn="l" rtl="0" eaLnBrk="0" fontAlgn="base" hangingPunct="0">
              <a:spcBef>
                <a:spcPct val="20000"/>
              </a:spcBef>
              <a:spcAft>
                <a:spcPct val="0"/>
              </a:spcAft>
              <a:buChar char="–"/>
              <a:defRPr kumimoji="1" sz="2000" baseline="0">
                <a:solidFill>
                  <a:schemeClr val="tx1"/>
                </a:solidFill>
                <a:latin typeface="+mn-lt"/>
                <a:ea typeface="+mn-ea"/>
              </a:defRPr>
            </a:lvl4pPr>
            <a:lvl5pPr marL="2057400" indent="-228600" algn="l" rtl="0" eaLnBrk="0" fontAlgn="base" hangingPunct="0">
              <a:spcBef>
                <a:spcPct val="20000"/>
              </a:spcBef>
              <a:spcAft>
                <a:spcPct val="0"/>
              </a:spcAft>
              <a:buChar char="»"/>
              <a:defRPr kumimoji="1" sz="2000" baseline="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zh-TW" sz="2000" b="1" kern="0" dirty="0"/>
              <a:t>Use Cases:</a:t>
            </a:r>
          </a:p>
          <a:p>
            <a:pPr lvl="1"/>
            <a:r>
              <a:rPr lang="en-US" altLang="zh-TW" sz="2000" kern="0" dirty="0"/>
              <a:t>Fine-tuning LLMs on </a:t>
            </a:r>
            <a:r>
              <a:rPr lang="en-US" altLang="zh-TW" sz="2000" b="1" kern="0" dirty="0"/>
              <a:t>domain-specific data</a:t>
            </a:r>
            <a:r>
              <a:rPr lang="en-US" altLang="zh-TW" sz="2000" kern="0" dirty="0"/>
              <a:t> (e.g., medical, legal, finance) and </a:t>
            </a:r>
            <a:r>
              <a:rPr lang="en-US" altLang="zh-TW" sz="2000" b="1" kern="0" dirty="0"/>
              <a:t>special formatting</a:t>
            </a:r>
            <a:endParaRPr lang="en-US" altLang="zh-TW" sz="2000" kern="0" dirty="0"/>
          </a:p>
          <a:p>
            <a:pPr lvl="1"/>
            <a:r>
              <a:rPr lang="en-US" altLang="zh-TW" sz="2000" kern="0" dirty="0"/>
              <a:t>Fine tuning on limited hardware</a:t>
            </a:r>
          </a:p>
          <a:p>
            <a:pPr lvl="1"/>
            <a:r>
              <a:rPr lang="en-US" altLang="zh-TW" sz="2000" kern="0" dirty="0"/>
              <a:t>When you only want to partially modify model performance while maintaining core behavior</a:t>
            </a:r>
          </a:p>
        </p:txBody>
      </p:sp>
    </p:spTree>
    <p:extLst>
      <p:ext uri="{BB962C8B-B14F-4D97-AF65-F5344CB8AC3E}">
        <p14:creationId xmlns:p14="http://schemas.microsoft.com/office/powerpoint/2010/main" val="550901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Retrieval-Augmented Generation (RAG)</a:t>
            </a:r>
            <a:endParaRPr lang="zh-TW" altLang="en-US" sz="5400" dirty="0"/>
          </a:p>
        </p:txBody>
      </p:sp>
    </p:spTree>
    <p:extLst>
      <p:ext uri="{BB962C8B-B14F-4D97-AF65-F5344CB8AC3E}">
        <p14:creationId xmlns:p14="http://schemas.microsoft.com/office/powerpoint/2010/main" val="4005635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4980F5-A995-4701-8904-BF9862A5E159}"/>
              </a:ext>
            </a:extLst>
          </p:cNvPr>
          <p:cNvSpPr>
            <a:spLocks noGrp="1"/>
          </p:cNvSpPr>
          <p:nvPr>
            <p:ph type="title"/>
          </p:nvPr>
        </p:nvSpPr>
        <p:spPr/>
        <p:txBody>
          <a:bodyPr/>
          <a:lstStyle/>
          <a:p>
            <a:r>
              <a:rPr lang="en-US" altLang="zh-TW" sz="3600" dirty="0"/>
              <a:t>What is RAG (Retrieval-Augmented Generation)?</a:t>
            </a:r>
            <a:endParaRPr lang="zh-TW" altLang="en-US" sz="3600" dirty="0"/>
          </a:p>
        </p:txBody>
      </p:sp>
      <p:sp>
        <p:nvSpPr>
          <p:cNvPr id="3" name="內容版面配置區 2">
            <a:extLst>
              <a:ext uri="{FF2B5EF4-FFF2-40B4-BE49-F238E27FC236}">
                <a16:creationId xmlns:a16="http://schemas.microsoft.com/office/drawing/2014/main" id="{F01914D9-B9ED-4F0F-857C-6ACA83702B2E}"/>
              </a:ext>
            </a:extLst>
          </p:cNvPr>
          <p:cNvSpPr>
            <a:spLocks noGrp="1"/>
          </p:cNvSpPr>
          <p:nvPr>
            <p:ph idx="1"/>
          </p:nvPr>
        </p:nvSpPr>
        <p:spPr>
          <a:xfrm>
            <a:off x="609600" y="1206499"/>
            <a:ext cx="11152717" cy="4757737"/>
          </a:xfrm>
        </p:spPr>
        <p:txBody>
          <a:bodyPr/>
          <a:lstStyle/>
          <a:p>
            <a:pPr marL="0" indent="0">
              <a:buNone/>
            </a:pPr>
            <a:r>
              <a:rPr lang="en-US" altLang="zh-TW" sz="2000" b="1" dirty="0"/>
              <a:t>Problem: </a:t>
            </a:r>
            <a:r>
              <a:rPr lang="en-US" altLang="zh-TW" sz="2000" dirty="0"/>
              <a:t>LLMs like GPT are trained on massive datasets, but they:</a:t>
            </a:r>
          </a:p>
          <a:p>
            <a:r>
              <a:rPr lang="en-US" altLang="zh-TW" sz="2000" dirty="0"/>
              <a:t>Can hallucinate (make up facts)</a:t>
            </a:r>
          </a:p>
          <a:p>
            <a:r>
              <a:rPr lang="en-US" altLang="zh-TW" sz="2000" dirty="0"/>
              <a:t>Do not have any knowledge of current events after their training cutoff date</a:t>
            </a:r>
          </a:p>
          <a:p>
            <a:r>
              <a:rPr lang="en-US" altLang="zh-TW" sz="2000" dirty="0"/>
              <a:t>Can’t access private or custom data during pretraining</a:t>
            </a:r>
          </a:p>
          <a:p>
            <a:r>
              <a:rPr lang="en-US" altLang="zh-TW" sz="2000" dirty="0"/>
              <a:t>For smaller models, they lack domain specific expertise</a:t>
            </a:r>
          </a:p>
          <a:p>
            <a:endParaRPr lang="en-US" altLang="zh-TW" sz="2000" dirty="0"/>
          </a:p>
          <a:p>
            <a:pPr marL="0" indent="0">
              <a:buNone/>
            </a:pPr>
            <a:r>
              <a:rPr lang="en-US" altLang="zh-TW" sz="2000" b="1" dirty="0"/>
              <a:t>Solution:</a:t>
            </a:r>
            <a:r>
              <a:rPr lang="en-US" altLang="zh-TW" sz="2000" dirty="0"/>
              <a:t> RAG</a:t>
            </a:r>
          </a:p>
          <a:p>
            <a:r>
              <a:rPr lang="en-US" altLang="zh-TW" sz="2000" u="sng" dirty="0"/>
              <a:t>Step 1:</a:t>
            </a:r>
            <a:r>
              <a:rPr lang="en-US" altLang="zh-TW" sz="2000" dirty="0"/>
              <a:t> Retrieve relevant documents from an external database (e.g., PDFs, websites)</a:t>
            </a:r>
          </a:p>
          <a:p>
            <a:r>
              <a:rPr lang="en-US" altLang="zh-TW" sz="2000" u="sng" dirty="0"/>
              <a:t>Step 2:</a:t>
            </a:r>
            <a:r>
              <a:rPr lang="en-US" altLang="zh-TW" sz="2000" dirty="0"/>
              <a:t> Generate an answer using both the user question and the retrieved content</a:t>
            </a:r>
          </a:p>
          <a:p>
            <a:pPr marL="0" indent="0">
              <a:buNone/>
            </a:pPr>
            <a:endParaRPr lang="en-US" altLang="zh-TW" sz="2000" dirty="0"/>
          </a:p>
          <a:p>
            <a:pPr marL="0" indent="0">
              <a:buNone/>
            </a:pPr>
            <a:r>
              <a:rPr lang="en-US" altLang="zh-TW" sz="2000" dirty="0"/>
              <a:t>This makes responses:</a:t>
            </a:r>
          </a:p>
          <a:p>
            <a:pPr marL="0" indent="0">
              <a:buNone/>
            </a:pPr>
            <a:r>
              <a:rPr lang="zh-TW" altLang="en-US" sz="2000" dirty="0"/>
              <a:t>✅ </a:t>
            </a:r>
            <a:r>
              <a:rPr lang="en-US" altLang="zh-TW" sz="2000" dirty="0"/>
              <a:t>More accurate</a:t>
            </a:r>
          </a:p>
          <a:p>
            <a:pPr marL="0" indent="0">
              <a:buNone/>
            </a:pPr>
            <a:r>
              <a:rPr lang="zh-TW" altLang="en-US" sz="2000" dirty="0"/>
              <a:t>✅ </a:t>
            </a:r>
            <a:r>
              <a:rPr lang="en-US" altLang="zh-TW" sz="2000" dirty="0"/>
              <a:t>More up-to-date</a:t>
            </a:r>
          </a:p>
          <a:p>
            <a:pPr marL="0" indent="0">
              <a:buNone/>
            </a:pPr>
            <a:r>
              <a:rPr lang="zh-TW" altLang="en-US" sz="2000" dirty="0"/>
              <a:t>✅ </a:t>
            </a:r>
            <a:r>
              <a:rPr lang="en-US" altLang="zh-TW" sz="2000" dirty="0"/>
              <a:t>Customizable to your domain</a:t>
            </a:r>
            <a:endParaRPr lang="zh-TW" altLang="en-US" sz="2000" dirty="0"/>
          </a:p>
        </p:txBody>
      </p:sp>
      <p:sp>
        <p:nvSpPr>
          <p:cNvPr id="4" name="投影片編號版面配置區 3">
            <a:extLst>
              <a:ext uri="{FF2B5EF4-FFF2-40B4-BE49-F238E27FC236}">
                <a16:creationId xmlns:a16="http://schemas.microsoft.com/office/drawing/2014/main" id="{3069424F-EDAE-46E0-9C08-F3955AD0216D}"/>
              </a:ext>
            </a:extLst>
          </p:cNvPr>
          <p:cNvSpPr>
            <a:spLocks noGrp="1"/>
          </p:cNvSpPr>
          <p:nvPr>
            <p:ph type="sldNum" sz="quarter" idx="10"/>
          </p:nvPr>
        </p:nvSpPr>
        <p:spPr/>
        <p:txBody>
          <a:bodyPr/>
          <a:lstStyle/>
          <a:p>
            <a:pPr>
              <a:defRPr/>
            </a:pPr>
            <a:fld id="{CF627BE3-1269-44D5-A349-82FD5D94EBD8}" type="slidenum">
              <a:rPr lang="en-US" altLang="zh-TW" smtClean="0"/>
              <a:pPr>
                <a:defRPr/>
              </a:pPr>
              <a:t>15</a:t>
            </a:fld>
            <a:endParaRPr lang="en-US" altLang="zh-TW"/>
          </a:p>
        </p:txBody>
      </p:sp>
      <p:sp>
        <p:nvSpPr>
          <p:cNvPr id="5" name="文字方塊 4">
            <a:extLst>
              <a:ext uri="{FF2B5EF4-FFF2-40B4-BE49-F238E27FC236}">
                <a16:creationId xmlns:a16="http://schemas.microsoft.com/office/drawing/2014/main" id="{6B798784-237A-40CA-8C41-9130415221CD}"/>
              </a:ext>
            </a:extLst>
          </p:cNvPr>
          <p:cNvSpPr txBox="1"/>
          <p:nvPr/>
        </p:nvSpPr>
        <p:spPr>
          <a:xfrm>
            <a:off x="4833257" y="5466835"/>
            <a:ext cx="5475514" cy="369332"/>
          </a:xfrm>
          <a:prstGeom prst="rect">
            <a:avLst/>
          </a:prstGeom>
          <a:noFill/>
        </p:spPr>
        <p:txBody>
          <a:bodyPr wrap="square" rtlCol="0">
            <a:spAutoFit/>
          </a:bodyPr>
          <a:lstStyle/>
          <a:p>
            <a:r>
              <a:rPr lang="en-US" altLang="zh-TW" b="1" dirty="0"/>
              <a:t>All without fine-tuning!</a:t>
            </a:r>
            <a:endParaRPr lang="zh-TW" altLang="en-US" b="1" dirty="0"/>
          </a:p>
        </p:txBody>
      </p:sp>
    </p:spTree>
    <p:extLst>
      <p:ext uri="{BB962C8B-B14F-4D97-AF65-F5344CB8AC3E}">
        <p14:creationId xmlns:p14="http://schemas.microsoft.com/office/powerpoint/2010/main" val="2965541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A2EBF7-A529-4EC4-92D1-E76F298902B2}"/>
              </a:ext>
            </a:extLst>
          </p:cNvPr>
          <p:cNvSpPr>
            <a:spLocks noGrp="1"/>
          </p:cNvSpPr>
          <p:nvPr>
            <p:ph type="title"/>
          </p:nvPr>
        </p:nvSpPr>
        <p:spPr/>
        <p:txBody>
          <a:bodyPr/>
          <a:lstStyle/>
          <a:p>
            <a:r>
              <a:rPr lang="en-US" altLang="zh-TW" dirty="0"/>
              <a:t>RAG Encoder</a:t>
            </a:r>
            <a:endParaRPr lang="zh-TW" altLang="en-US" dirty="0"/>
          </a:p>
        </p:txBody>
      </p:sp>
      <p:sp>
        <p:nvSpPr>
          <p:cNvPr id="3" name="內容版面配置區 2">
            <a:extLst>
              <a:ext uri="{FF2B5EF4-FFF2-40B4-BE49-F238E27FC236}">
                <a16:creationId xmlns:a16="http://schemas.microsoft.com/office/drawing/2014/main" id="{041A0588-3490-471C-86CD-F2A2F7F00410}"/>
              </a:ext>
            </a:extLst>
          </p:cNvPr>
          <p:cNvSpPr>
            <a:spLocks noGrp="1"/>
          </p:cNvSpPr>
          <p:nvPr>
            <p:ph idx="1"/>
          </p:nvPr>
        </p:nvSpPr>
        <p:spPr/>
        <p:txBody>
          <a:bodyPr/>
          <a:lstStyle/>
          <a:p>
            <a:r>
              <a:rPr lang="en-US" altLang="zh-TW" sz="2400" dirty="0"/>
              <a:t>How does the retrieval system know which documents are </a:t>
            </a:r>
            <a:r>
              <a:rPr lang="en-US" altLang="zh-TW" sz="2400" b="1" dirty="0"/>
              <a:t>relevant</a:t>
            </a:r>
            <a:r>
              <a:rPr lang="en-US" altLang="zh-TW" sz="2400" dirty="0"/>
              <a:t>?</a:t>
            </a:r>
          </a:p>
          <a:p>
            <a:endParaRPr lang="en-US" altLang="zh-TW" sz="2400" dirty="0"/>
          </a:p>
          <a:p>
            <a:r>
              <a:rPr lang="en-US" altLang="zh-TW" sz="2400" dirty="0"/>
              <a:t>With RAG, you are working (generally) with 2 models</a:t>
            </a:r>
          </a:p>
          <a:p>
            <a:pPr lvl="1"/>
            <a:r>
              <a:rPr lang="en-US" altLang="zh-TW" sz="2000" dirty="0"/>
              <a:t>LLM model (generator) that answers your questions</a:t>
            </a:r>
          </a:p>
          <a:p>
            <a:pPr lvl="1"/>
            <a:r>
              <a:rPr lang="en-US" altLang="zh-TW" sz="2000" dirty="0"/>
              <a:t>Embedding model (encoder) that maps your question into the same vector space as your dataset</a:t>
            </a:r>
            <a:r>
              <a:rPr lang="zh-TW" altLang="en-US" sz="2000" dirty="0"/>
              <a:t> </a:t>
            </a:r>
            <a:r>
              <a:rPr lang="en-US" altLang="zh-TW" sz="2000" dirty="0"/>
              <a:t>(vector store)</a:t>
            </a:r>
          </a:p>
          <a:p>
            <a:pPr lvl="1"/>
            <a:endParaRPr lang="en-US" altLang="zh-TW" sz="2000" dirty="0"/>
          </a:p>
          <a:p>
            <a:r>
              <a:rPr lang="en-US" altLang="zh-TW" sz="2400" dirty="0"/>
              <a:t>The vector store finds the most similar documents (top-k) to the query vector (cosine similarity)</a:t>
            </a:r>
            <a:endParaRPr lang="zh-TW" altLang="en-US" sz="2400" dirty="0"/>
          </a:p>
        </p:txBody>
      </p:sp>
      <p:sp>
        <p:nvSpPr>
          <p:cNvPr id="4" name="投影片編號版面配置區 3">
            <a:extLst>
              <a:ext uri="{FF2B5EF4-FFF2-40B4-BE49-F238E27FC236}">
                <a16:creationId xmlns:a16="http://schemas.microsoft.com/office/drawing/2014/main" id="{DB14CC32-CD7E-4201-8109-B13ECE15FE83}"/>
              </a:ext>
            </a:extLst>
          </p:cNvPr>
          <p:cNvSpPr>
            <a:spLocks noGrp="1"/>
          </p:cNvSpPr>
          <p:nvPr>
            <p:ph type="sldNum" sz="quarter" idx="10"/>
          </p:nvPr>
        </p:nvSpPr>
        <p:spPr/>
        <p:txBody>
          <a:bodyPr/>
          <a:lstStyle/>
          <a:p>
            <a:pPr>
              <a:defRPr/>
            </a:pPr>
            <a:fld id="{CF627BE3-1269-44D5-A349-82FD5D94EBD8}" type="slidenum">
              <a:rPr lang="en-US" altLang="zh-TW" smtClean="0"/>
              <a:pPr>
                <a:defRPr/>
              </a:pPr>
              <a:t>16</a:t>
            </a:fld>
            <a:endParaRPr lang="en-US" altLang="zh-TW"/>
          </a:p>
        </p:txBody>
      </p:sp>
    </p:spTree>
    <p:extLst>
      <p:ext uri="{BB962C8B-B14F-4D97-AF65-F5344CB8AC3E}">
        <p14:creationId xmlns:p14="http://schemas.microsoft.com/office/powerpoint/2010/main" val="3244592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4C618F-5F87-45BC-8671-6721C0C69530}"/>
              </a:ext>
            </a:extLst>
          </p:cNvPr>
          <p:cNvSpPr>
            <a:spLocks noGrp="1"/>
          </p:cNvSpPr>
          <p:nvPr>
            <p:ph type="title"/>
          </p:nvPr>
        </p:nvSpPr>
        <p:spPr/>
        <p:txBody>
          <a:bodyPr/>
          <a:lstStyle/>
          <a:p>
            <a:r>
              <a:rPr lang="en-US" altLang="zh-TW" dirty="0"/>
              <a:t>An Example RAG Framework</a:t>
            </a:r>
            <a:endParaRPr lang="zh-TW" altLang="en-US" dirty="0"/>
          </a:p>
        </p:txBody>
      </p:sp>
      <p:sp>
        <p:nvSpPr>
          <p:cNvPr id="4" name="投影片編號版面配置區 3">
            <a:extLst>
              <a:ext uri="{FF2B5EF4-FFF2-40B4-BE49-F238E27FC236}">
                <a16:creationId xmlns:a16="http://schemas.microsoft.com/office/drawing/2014/main" id="{E8B5DF21-EC0A-4432-B7A5-93B61ED10E44}"/>
              </a:ext>
            </a:extLst>
          </p:cNvPr>
          <p:cNvSpPr>
            <a:spLocks noGrp="1"/>
          </p:cNvSpPr>
          <p:nvPr>
            <p:ph type="sldNum" sz="quarter" idx="10"/>
          </p:nvPr>
        </p:nvSpPr>
        <p:spPr/>
        <p:txBody>
          <a:bodyPr/>
          <a:lstStyle/>
          <a:p>
            <a:pPr>
              <a:defRPr/>
            </a:pPr>
            <a:fld id="{CF627BE3-1269-44D5-A349-82FD5D94EBD8}" type="slidenum">
              <a:rPr lang="en-US" altLang="zh-TW" smtClean="0"/>
              <a:pPr>
                <a:defRPr/>
              </a:pPr>
              <a:t>17</a:t>
            </a:fld>
            <a:endParaRPr lang="en-US" altLang="zh-TW"/>
          </a:p>
        </p:txBody>
      </p:sp>
      <p:sp>
        <p:nvSpPr>
          <p:cNvPr id="5" name="流程圖: 磁碟 4">
            <a:extLst>
              <a:ext uri="{FF2B5EF4-FFF2-40B4-BE49-F238E27FC236}">
                <a16:creationId xmlns:a16="http://schemas.microsoft.com/office/drawing/2014/main" id="{3226E67B-DF43-4B76-B1E1-DFDBABA269CB}"/>
              </a:ext>
            </a:extLst>
          </p:cNvPr>
          <p:cNvSpPr/>
          <p:nvPr/>
        </p:nvSpPr>
        <p:spPr bwMode="auto">
          <a:xfrm>
            <a:off x="5823856" y="4182690"/>
            <a:ext cx="990601" cy="1309235"/>
          </a:xfrm>
          <a:prstGeom prst="flowChartMagneticDisk">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9" name="語音泡泡: 橢圓形 8">
            <a:extLst>
              <a:ext uri="{FF2B5EF4-FFF2-40B4-BE49-F238E27FC236}">
                <a16:creationId xmlns:a16="http://schemas.microsoft.com/office/drawing/2014/main" id="{7A1D38FE-A384-4FED-BF61-0A2A809EA62B}"/>
              </a:ext>
            </a:extLst>
          </p:cNvPr>
          <p:cNvSpPr/>
          <p:nvPr/>
        </p:nvSpPr>
        <p:spPr bwMode="auto">
          <a:xfrm>
            <a:off x="1665514" y="1982367"/>
            <a:ext cx="1905000" cy="1045029"/>
          </a:xfrm>
          <a:prstGeom prst="wedgeEllipseCallou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a:ln>
                  <a:noFill/>
                </a:ln>
                <a:solidFill>
                  <a:schemeClr val="tx1"/>
                </a:solidFill>
                <a:effectLst/>
                <a:latin typeface="Arial" charset="0"/>
                <a:ea typeface="新細明體" pitchFamily="18" charset="-120"/>
              </a:rPr>
              <a:t>……</a:t>
            </a: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10" name="流程圖: 多重文件 9">
            <a:extLst>
              <a:ext uri="{FF2B5EF4-FFF2-40B4-BE49-F238E27FC236}">
                <a16:creationId xmlns:a16="http://schemas.microsoft.com/office/drawing/2014/main" id="{4EF1CC61-A994-4302-89B2-57F62C2250BF}"/>
              </a:ext>
            </a:extLst>
          </p:cNvPr>
          <p:cNvSpPr/>
          <p:nvPr/>
        </p:nvSpPr>
        <p:spPr bwMode="auto">
          <a:xfrm>
            <a:off x="1823357" y="4280661"/>
            <a:ext cx="1589314" cy="1415143"/>
          </a:xfrm>
          <a:prstGeom prst="flowChartMultidocumen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a:ln>
                  <a:noFill/>
                </a:ln>
                <a:solidFill>
                  <a:schemeClr val="tx1"/>
                </a:solidFill>
                <a:effectLst/>
                <a:latin typeface="Arial" charset="0"/>
                <a:ea typeface="新細明體" pitchFamily="18" charset="-120"/>
              </a:rPr>
              <a:t>----------</a:t>
            </a:r>
          </a:p>
          <a:p>
            <a:pPr algn="ctr" fontAlgn="base">
              <a:spcBef>
                <a:spcPct val="0"/>
              </a:spcBef>
              <a:spcAft>
                <a:spcPct val="0"/>
              </a:spcAft>
            </a:pPr>
            <a:r>
              <a:rPr kumimoji="1" lang="en-US" altLang="zh-TW" sz="1800" b="0" i="0" u="none" strike="noStrike" cap="none" normalizeH="0" baseline="0" dirty="0">
                <a:ln>
                  <a:noFill/>
                </a:ln>
                <a:solidFill>
                  <a:schemeClr val="tx1"/>
                </a:solidFill>
                <a:effectLst/>
                <a:latin typeface="Arial" charset="0"/>
                <a:ea typeface="新細明體" pitchFamily="18" charset="-120"/>
              </a:rPr>
              <a:t>----------</a:t>
            </a:r>
          </a:p>
          <a:p>
            <a:pPr algn="ctr" fontAlgn="base">
              <a:spcBef>
                <a:spcPct val="0"/>
              </a:spcBef>
              <a:spcAft>
                <a:spcPct val="0"/>
              </a:spcAft>
            </a:pPr>
            <a:r>
              <a:rPr kumimoji="1" lang="en-US" altLang="zh-TW" sz="1800" b="0" i="0" u="none" strike="noStrike" cap="none" normalizeH="0" baseline="0" dirty="0">
                <a:ln>
                  <a:noFill/>
                </a:ln>
                <a:solidFill>
                  <a:schemeClr val="tx1"/>
                </a:solidFill>
                <a:effectLst/>
                <a:latin typeface="Arial" charset="0"/>
                <a:ea typeface="新細明體" pitchFamily="18" charset="-120"/>
              </a:rPr>
              <a:t>----------</a:t>
            </a:r>
          </a:p>
        </p:txBody>
      </p:sp>
      <p:sp>
        <p:nvSpPr>
          <p:cNvPr id="11" name="流程圖: 程序 10">
            <a:extLst>
              <a:ext uri="{FF2B5EF4-FFF2-40B4-BE49-F238E27FC236}">
                <a16:creationId xmlns:a16="http://schemas.microsoft.com/office/drawing/2014/main" id="{EA5C80BA-2ABC-48ED-BFCB-6D5E1475B04F}"/>
              </a:ext>
            </a:extLst>
          </p:cNvPr>
          <p:cNvSpPr/>
          <p:nvPr/>
        </p:nvSpPr>
        <p:spPr bwMode="auto">
          <a:xfrm>
            <a:off x="5513615" y="2050608"/>
            <a:ext cx="1621971" cy="908548"/>
          </a:xfrm>
          <a:prstGeom prst="flowChartProces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a:ln>
                  <a:noFill/>
                </a:ln>
                <a:solidFill>
                  <a:schemeClr val="tx1"/>
                </a:solidFill>
                <a:effectLst/>
                <a:latin typeface="Arial" charset="0"/>
                <a:ea typeface="新細明體" pitchFamily="18" charset="-120"/>
              </a:rPr>
              <a:t>LLM</a:t>
            </a: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12" name="語音泡泡: 圓角矩形 11">
            <a:extLst>
              <a:ext uri="{FF2B5EF4-FFF2-40B4-BE49-F238E27FC236}">
                <a16:creationId xmlns:a16="http://schemas.microsoft.com/office/drawing/2014/main" id="{F6E5A6D3-1BD7-4687-802B-EDBCC259C5AC}"/>
              </a:ext>
            </a:extLst>
          </p:cNvPr>
          <p:cNvSpPr/>
          <p:nvPr/>
        </p:nvSpPr>
        <p:spPr bwMode="auto">
          <a:xfrm>
            <a:off x="8730343" y="1982367"/>
            <a:ext cx="1905000" cy="1045029"/>
          </a:xfrm>
          <a:prstGeom prst="wedgeRoundRectCallou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a:ln>
                  <a:noFill/>
                </a:ln>
                <a:solidFill>
                  <a:schemeClr val="tx1"/>
                </a:solidFill>
                <a:effectLst/>
                <a:latin typeface="Arial" charset="0"/>
                <a:ea typeface="新細明體" pitchFamily="18" charset="-120"/>
              </a:rPr>
              <a:t>……</a:t>
            </a: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cxnSp>
        <p:nvCxnSpPr>
          <p:cNvPr id="14" name="直線單箭頭接點 13">
            <a:extLst>
              <a:ext uri="{FF2B5EF4-FFF2-40B4-BE49-F238E27FC236}">
                <a16:creationId xmlns:a16="http://schemas.microsoft.com/office/drawing/2014/main" id="{74AA887D-A64E-40EC-91C6-4F428829CD01}"/>
              </a:ext>
            </a:extLst>
          </p:cNvPr>
          <p:cNvCxnSpPr>
            <a:stCxn id="9" idx="6"/>
            <a:endCxn id="11" idx="1"/>
          </p:cNvCxnSpPr>
          <p:nvPr/>
        </p:nvCxnSpPr>
        <p:spPr bwMode="auto">
          <a:xfrm>
            <a:off x="3570514" y="2504882"/>
            <a:ext cx="1943101"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6" name="接點: 肘形 15">
            <a:extLst>
              <a:ext uri="{FF2B5EF4-FFF2-40B4-BE49-F238E27FC236}">
                <a16:creationId xmlns:a16="http://schemas.microsoft.com/office/drawing/2014/main" id="{AAC14669-D6B6-42C9-9597-9941EB3C1B62}"/>
              </a:ext>
            </a:extLst>
          </p:cNvPr>
          <p:cNvCxnSpPr>
            <a:stCxn id="9" idx="6"/>
            <a:endCxn id="5" idx="2"/>
          </p:cNvCxnSpPr>
          <p:nvPr/>
        </p:nvCxnSpPr>
        <p:spPr bwMode="auto">
          <a:xfrm>
            <a:off x="3570514" y="2504882"/>
            <a:ext cx="2253342" cy="2332426"/>
          </a:xfrm>
          <a:prstGeom prst="bentConnector3">
            <a:avLst>
              <a:gd name="adj1" fmla="val 41787"/>
            </a:avLst>
          </a:prstGeom>
          <a:solidFill>
            <a:schemeClr val="accent1"/>
          </a:solidFill>
          <a:ln w="9525" cap="flat" cmpd="sng" algn="ctr">
            <a:solidFill>
              <a:schemeClr val="tx1"/>
            </a:solidFill>
            <a:prstDash val="solid"/>
            <a:round/>
            <a:headEnd type="none" w="med" len="med"/>
            <a:tailEnd type="triangle"/>
          </a:ln>
          <a:effectLst/>
        </p:spPr>
      </p:cxnSp>
      <p:cxnSp>
        <p:nvCxnSpPr>
          <p:cNvPr id="20" name="直線單箭頭接點 19">
            <a:extLst>
              <a:ext uri="{FF2B5EF4-FFF2-40B4-BE49-F238E27FC236}">
                <a16:creationId xmlns:a16="http://schemas.microsoft.com/office/drawing/2014/main" id="{9D9AB780-9A58-4FA9-83C9-09A20FB1A3AF}"/>
              </a:ext>
            </a:extLst>
          </p:cNvPr>
          <p:cNvCxnSpPr>
            <a:stCxn id="11" idx="3"/>
            <a:endCxn id="12" idx="1"/>
          </p:cNvCxnSpPr>
          <p:nvPr/>
        </p:nvCxnSpPr>
        <p:spPr bwMode="auto">
          <a:xfrm>
            <a:off x="7135586" y="2504882"/>
            <a:ext cx="159475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直線單箭頭接點 21">
            <a:extLst>
              <a:ext uri="{FF2B5EF4-FFF2-40B4-BE49-F238E27FC236}">
                <a16:creationId xmlns:a16="http://schemas.microsoft.com/office/drawing/2014/main" id="{59C8EE93-3B21-4F13-80CB-537BDA34DC4C}"/>
              </a:ext>
            </a:extLst>
          </p:cNvPr>
          <p:cNvCxnSpPr>
            <a:stCxn id="10" idx="3"/>
          </p:cNvCxnSpPr>
          <p:nvPr/>
        </p:nvCxnSpPr>
        <p:spPr bwMode="auto">
          <a:xfrm flipV="1">
            <a:off x="3412671" y="4988232"/>
            <a:ext cx="2411185" cy="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 name="直線單箭頭接點 23">
            <a:extLst>
              <a:ext uri="{FF2B5EF4-FFF2-40B4-BE49-F238E27FC236}">
                <a16:creationId xmlns:a16="http://schemas.microsoft.com/office/drawing/2014/main" id="{712C5315-4D4C-4684-87E5-B8D348D466C5}"/>
              </a:ext>
            </a:extLst>
          </p:cNvPr>
          <p:cNvCxnSpPr>
            <a:stCxn id="5" idx="1"/>
            <a:endCxn id="11" idx="2"/>
          </p:cNvCxnSpPr>
          <p:nvPr/>
        </p:nvCxnSpPr>
        <p:spPr bwMode="auto">
          <a:xfrm flipV="1">
            <a:off x="6319157" y="2959156"/>
            <a:ext cx="5444" cy="122353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5" name="文字方塊 24">
            <a:extLst>
              <a:ext uri="{FF2B5EF4-FFF2-40B4-BE49-F238E27FC236}">
                <a16:creationId xmlns:a16="http://schemas.microsoft.com/office/drawing/2014/main" id="{F77C6E7B-716A-47F4-AF2B-30DA6A73E3A9}"/>
              </a:ext>
            </a:extLst>
          </p:cNvPr>
          <p:cNvSpPr txBox="1"/>
          <p:nvPr/>
        </p:nvSpPr>
        <p:spPr>
          <a:xfrm>
            <a:off x="2064203" y="1484240"/>
            <a:ext cx="1107621" cy="369332"/>
          </a:xfrm>
          <a:prstGeom prst="rect">
            <a:avLst/>
          </a:prstGeom>
          <a:noFill/>
        </p:spPr>
        <p:txBody>
          <a:bodyPr wrap="square" rtlCol="0">
            <a:spAutoFit/>
          </a:bodyPr>
          <a:lstStyle/>
          <a:p>
            <a:pPr algn="ctr"/>
            <a:r>
              <a:rPr lang="en-US" altLang="zh-TW" dirty="0"/>
              <a:t>Query</a:t>
            </a:r>
            <a:endParaRPr lang="zh-TW" altLang="en-US" dirty="0"/>
          </a:p>
        </p:txBody>
      </p:sp>
      <p:sp>
        <p:nvSpPr>
          <p:cNvPr id="27" name="文字方塊 26">
            <a:extLst>
              <a:ext uri="{FF2B5EF4-FFF2-40B4-BE49-F238E27FC236}">
                <a16:creationId xmlns:a16="http://schemas.microsoft.com/office/drawing/2014/main" id="{63FFA153-FA28-429C-AB4B-0A7DE0F7EEC1}"/>
              </a:ext>
            </a:extLst>
          </p:cNvPr>
          <p:cNvSpPr txBox="1"/>
          <p:nvPr/>
        </p:nvSpPr>
        <p:spPr>
          <a:xfrm>
            <a:off x="4542063" y="3481671"/>
            <a:ext cx="1107621" cy="369332"/>
          </a:xfrm>
          <a:prstGeom prst="rect">
            <a:avLst/>
          </a:prstGeom>
          <a:noFill/>
        </p:spPr>
        <p:txBody>
          <a:bodyPr wrap="square" rtlCol="0">
            <a:spAutoFit/>
          </a:bodyPr>
          <a:lstStyle/>
          <a:p>
            <a:r>
              <a:rPr lang="en-US" altLang="zh-TW" dirty="0"/>
              <a:t>encoder</a:t>
            </a:r>
            <a:endParaRPr lang="zh-TW" altLang="en-US" dirty="0"/>
          </a:p>
        </p:txBody>
      </p:sp>
      <p:sp>
        <p:nvSpPr>
          <p:cNvPr id="28" name="文字方塊 27">
            <a:extLst>
              <a:ext uri="{FF2B5EF4-FFF2-40B4-BE49-F238E27FC236}">
                <a16:creationId xmlns:a16="http://schemas.microsoft.com/office/drawing/2014/main" id="{15E6C6AB-83C6-44EC-822A-3139DC2D068B}"/>
              </a:ext>
            </a:extLst>
          </p:cNvPr>
          <p:cNvSpPr txBox="1"/>
          <p:nvPr/>
        </p:nvSpPr>
        <p:spPr>
          <a:xfrm>
            <a:off x="3988252" y="5006427"/>
            <a:ext cx="1260404" cy="646331"/>
          </a:xfrm>
          <a:prstGeom prst="rect">
            <a:avLst/>
          </a:prstGeom>
          <a:noFill/>
        </p:spPr>
        <p:txBody>
          <a:bodyPr wrap="square" rtlCol="0">
            <a:spAutoFit/>
          </a:bodyPr>
          <a:lstStyle/>
          <a:p>
            <a:pPr algn="ctr"/>
            <a:r>
              <a:rPr lang="en-US" altLang="zh-TW" dirty="0"/>
              <a:t>encoder</a:t>
            </a:r>
          </a:p>
          <a:p>
            <a:pPr algn="ctr"/>
            <a:r>
              <a:rPr lang="en-US" altLang="zh-TW" dirty="0"/>
              <a:t>(offline)</a:t>
            </a:r>
            <a:endParaRPr lang="zh-TW" altLang="en-US" dirty="0"/>
          </a:p>
        </p:txBody>
      </p:sp>
      <p:sp>
        <p:nvSpPr>
          <p:cNvPr id="29" name="文字方塊 28">
            <a:extLst>
              <a:ext uri="{FF2B5EF4-FFF2-40B4-BE49-F238E27FC236}">
                <a16:creationId xmlns:a16="http://schemas.microsoft.com/office/drawing/2014/main" id="{E8062012-FA4B-457B-B264-2F1ECE58F0C4}"/>
              </a:ext>
            </a:extLst>
          </p:cNvPr>
          <p:cNvSpPr txBox="1"/>
          <p:nvPr/>
        </p:nvSpPr>
        <p:spPr>
          <a:xfrm>
            <a:off x="6419850" y="3186384"/>
            <a:ext cx="1973033" cy="923330"/>
          </a:xfrm>
          <a:prstGeom prst="rect">
            <a:avLst/>
          </a:prstGeom>
          <a:noFill/>
        </p:spPr>
        <p:txBody>
          <a:bodyPr wrap="square" rtlCol="0">
            <a:spAutoFit/>
          </a:bodyPr>
          <a:lstStyle/>
          <a:p>
            <a:r>
              <a:rPr lang="en-US" altLang="zh-TW" dirty="0"/>
              <a:t>Top k most relevant context (cosine)</a:t>
            </a:r>
            <a:endParaRPr lang="zh-TW" altLang="en-US" dirty="0"/>
          </a:p>
        </p:txBody>
      </p:sp>
      <p:sp>
        <p:nvSpPr>
          <p:cNvPr id="30" name="文字方塊 29">
            <a:extLst>
              <a:ext uri="{FF2B5EF4-FFF2-40B4-BE49-F238E27FC236}">
                <a16:creationId xmlns:a16="http://schemas.microsoft.com/office/drawing/2014/main" id="{7879BE2A-B024-44B8-9DF7-CFCC16BFB18B}"/>
              </a:ext>
            </a:extLst>
          </p:cNvPr>
          <p:cNvSpPr txBox="1"/>
          <p:nvPr/>
        </p:nvSpPr>
        <p:spPr>
          <a:xfrm>
            <a:off x="1665514" y="5695804"/>
            <a:ext cx="1831522" cy="646331"/>
          </a:xfrm>
          <a:prstGeom prst="rect">
            <a:avLst/>
          </a:prstGeom>
          <a:noFill/>
        </p:spPr>
        <p:txBody>
          <a:bodyPr wrap="square" rtlCol="0">
            <a:spAutoFit/>
          </a:bodyPr>
          <a:lstStyle/>
          <a:p>
            <a:pPr algn="ctr"/>
            <a:r>
              <a:rPr lang="en-US" altLang="zh-TW" dirty="0"/>
              <a:t>Reference documents</a:t>
            </a:r>
            <a:endParaRPr lang="zh-TW" altLang="en-US" dirty="0"/>
          </a:p>
        </p:txBody>
      </p:sp>
      <p:sp>
        <p:nvSpPr>
          <p:cNvPr id="31" name="文字方塊 30">
            <a:extLst>
              <a:ext uri="{FF2B5EF4-FFF2-40B4-BE49-F238E27FC236}">
                <a16:creationId xmlns:a16="http://schemas.microsoft.com/office/drawing/2014/main" id="{E2F690EF-1D33-49D5-9C8A-53C58C883BAB}"/>
              </a:ext>
            </a:extLst>
          </p:cNvPr>
          <p:cNvSpPr txBox="1"/>
          <p:nvPr/>
        </p:nvSpPr>
        <p:spPr>
          <a:xfrm>
            <a:off x="5403395" y="5695804"/>
            <a:ext cx="1831522" cy="646331"/>
          </a:xfrm>
          <a:prstGeom prst="rect">
            <a:avLst/>
          </a:prstGeom>
          <a:noFill/>
        </p:spPr>
        <p:txBody>
          <a:bodyPr wrap="square" rtlCol="0">
            <a:spAutoFit/>
          </a:bodyPr>
          <a:lstStyle/>
          <a:p>
            <a:pPr algn="ctr"/>
            <a:r>
              <a:rPr lang="en-US" altLang="zh-TW" dirty="0"/>
              <a:t>Vector database</a:t>
            </a:r>
            <a:endParaRPr lang="zh-TW" altLang="en-US" dirty="0"/>
          </a:p>
        </p:txBody>
      </p:sp>
      <p:sp>
        <p:nvSpPr>
          <p:cNvPr id="34" name="文字方塊 33">
            <a:extLst>
              <a:ext uri="{FF2B5EF4-FFF2-40B4-BE49-F238E27FC236}">
                <a16:creationId xmlns:a16="http://schemas.microsoft.com/office/drawing/2014/main" id="{2B3FB9D1-5360-49E0-8202-5746DA3F993E}"/>
              </a:ext>
            </a:extLst>
          </p:cNvPr>
          <p:cNvSpPr txBox="1"/>
          <p:nvPr/>
        </p:nvSpPr>
        <p:spPr>
          <a:xfrm>
            <a:off x="9129032" y="1484240"/>
            <a:ext cx="1107621" cy="369332"/>
          </a:xfrm>
          <a:prstGeom prst="rect">
            <a:avLst/>
          </a:prstGeom>
          <a:noFill/>
        </p:spPr>
        <p:txBody>
          <a:bodyPr wrap="square" rtlCol="0">
            <a:spAutoFit/>
          </a:bodyPr>
          <a:lstStyle/>
          <a:p>
            <a:pPr algn="ctr"/>
            <a:r>
              <a:rPr lang="en-US" altLang="zh-TW" dirty="0"/>
              <a:t>Output</a:t>
            </a:r>
            <a:endParaRPr lang="zh-TW" altLang="en-US" dirty="0"/>
          </a:p>
        </p:txBody>
      </p:sp>
    </p:spTree>
    <p:extLst>
      <p:ext uri="{BB962C8B-B14F-4D97-AF65-F5344CB8AC3E}">
        <p14:creationId xmlns:p14="http://schemas.microsoft.com/office/powerpoint/2010/main" val="156641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91B435-DA08-400B-9844-B244774B5CC2}"/>
              </a:ext>
            </a:extLst>
          </p:cNvPr>
          <p:cNvSpPr>
            <a:spLocks noGrp="1"/>
          </p:cNvSpPr>
          <p:nvPr>
            <p:ph type="title"/>
          </p:nvPr>
        </p:nvSpPr>
        <p:spPr/>
        <p:txBody>
          <a:bodyPr/>
          <a:lstStyle/>
          <a:p>
            <a:r>
              <a:rPr lang="en-US" altLang="zh-TW" dirty="0"/>
              <a:t>RAG At Work</a:t>
            </a:r>
            <a:endParaRPr lang="zh-TW" altLang="en-US" dirty="0"/>
          </a:p>
        </p:txBody>
      </p:sp>
      <p:sp>
        <p:nvSpPr>
          <p:cNvPr id="3" name="內容版面配置區 2">
            <a:extLst>
              <a:ext uri="{FF2B5EF4-FFF2-40B4-BE49-F238E27FC236}">
                <a16:creationId xmlns:a16="http://schemas.microsoft.com/office/drawing/2014/main" id="{C47FCC74-BD09-41D5-B832-193291AE7439}"/>
              </a:ext>
            </a:extLst>
          </p:cNvPr>
          <p:cNvSpPr>
            <a:spLocks noGrp="1"/>
          </p:cNvSpPr>
          <p:nvPr>
            <p:ph idx="1"/>
          </p:nvPr>
        </p:nvSpPr>
        <p:spPr/>
        <p:txBody>
          <a:bodyPr/>
          <a:lstStyle/>
          <a:p>
            <a:pPr marL="0" indent="0">
              <a:buNone/>
            </a:pPr>
            <a:r>
              <a:rPr lang="en-US" altLang="zh-TW" sz="2000" dirty="0"/>
              <a:t>If you use an older model like gemma-2-2b-it and ask it:</a:t>
            </a:r>
          </a:p>
          <a:p>
            <a:pPr marL="0" indent="0">
              <a:buNone/>
            </a:pPr>
            <a:endParaRPr lang="en-US" altLang="zh-TW" sz="2000" dirty="0"/>
          </a:p>
          <a:p>
            <a:pPr marL="0" indent="0" algn="ctr">
              <a:buNone/>
            </a:pPr>
            <a:r>
              <a:rPr lang="en-US" altLang="zh-TW" sz="2000" i="1" dirty="0"/>
              <a:t>Do you have any information on who the president of the United States is in 2025?</a:t>
            </a:r>
          </a:p>
          <a:p>
            <a:pPr marL="0" indent="0">
              <a:buNone/>
            </a:pPr>
            <a:endParaRPr lang="en-US" altLang="zh-TW" sz="2000" dirty="0"/>
          </a:p>
          <a:p>
            <a:pPr marL="0" indent="0">
              <a:buNone/>
            </a:pPr>
            <a:r>
              <a:rPr lang="en-US" altLang="zh-TW" sz="2000" dirty="0"/>
              <a:t>It will respond with:</a:t>
            </a:r>
          </a:p>
          <a:p>
            <a:pPr marL="0" indent="0">
              <a:buNone/>
            </a:pPr>
            <a:endParaRPr lang="en-US" altLang="zh-TW" sz="2000" dirty="0"/>
          </a:p>
          <a:p>
            <a:pPr marL="0" indent="0" algn="ctr">
              <a:buNone/>
            </a:pPr>
            <a:r>
              <a:rPr lang="en-US" altLang="zh-TW" sz="2000" i="1" dirty="0"/>
              <a:t>I do not have access to real-time information, including future events. Therefore, I cannot tell you who the President of the United States will be in 2025. </a:t>
            </a:r>
          </a:p>
          <a:p>
            <a:pPr marL="0" indent="0" algn="ctr">
              <a:buNone/>
            </a:pPr>
            <a:endParaRPr lang="en-US" altLang="zh-TW" sz="2000" i="1" dirty="0"/>
          </a:p>
          <a:p>
            <a:pPr marL="0" indent="0">
              <a:buNone/>
            </a:pPr>
            <a:r>
              <a:rPr lang="en-US" altLang="zh-TW" sz="2000" dirty="0"/>
              <a:t>With RAG:</a:t>
            </a:r>
          </a:p>
          <a:p>
            <a:pPr marL="0" indent="0">
              <a:buNone/>
            </a:pPr>
            <a:endParaRPr lang="en-US" altLang="zh-TW" sz="2000" dirty="0"/>
          </a:p>
          <a:p>
            <a:pPr marL="0" indent="0" algn="ctr">
              <a:buNone/>
            </a:pPr>
            <a:r>
              <a:rPr lang="en-US" altLang="zh-TW" sz="2000" i="1" dirty="0"/>
              <a:t>According to the news sources you provided, the President of the United States in 2025 would be **Donald Trump**.</a:t>
            </a:r>
          </a:p>
        </p:txBody>
      </p:sp>
      <p:sp>
        <p:nvSpPr>
          <p:cNvPr id="4" name="投影片編號版面配置區 3">
            <a:extLst>
              <a:ext uri="{FF2B5EF4-FFF2-40B4-BE49-F238E27FC236}">
                <a16:creationId xmlns:a16="http://schemas.microsoft.com/office/drawing/2014/main" id="{8DA68038-E21C-43E2-99BD-269B3FEDF23A}"/>
              </a:ext>
            </a:extLst>
          </p:cNvPr>
          <p:cNvSpPr>
            <a:spLocks noGrp="1"/>
          </p:cNvSpPr>
          <p:nvPr>
            <p:ph type="sldNum" sz="quarter" idx="10"/>
          </p:nvPr>
        </p:nvSpPr>
        <p:spPr/>
        <p:txBody>
          <a:bodyPr/>
          <a:lstStyle/>
          <a:p>
            <a:pPr>
              <a:defRPr/>
            </a:pPr>
            <a:fld id="{CF627BE3-1269-44D5-A349-82FD5D94EBD8}" type="slidenum">
              <a:rPr lang="en-US" altLang="zh-TW" smtClean="0"/>
              <a:pPr>
                <a:defRPr/>
              </a:pPr>
              <a:t>18</a:t>
            </a:fld>
            <a:endParaRPr lang="en-US" altLang="zh-TW"/>
          </a:p>
        </p:txBody>
      </p:sp>
    </p:spTree>
    <p:extLst>
      <p:ext uri="{BB962C8B-B14F-4D97-AF65-F5344CB8AC3E}">
        <p14:creationId xmlns:p14="http://schemas.microsoft.com/office/powerpoint/2010/main" val="302498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EAC806-B563-472F-9DD7-D511D0F90676}"/>
              </a:ext>
            </a:extLst>
          </p:cNvPr>
          <p:cNvSpPr>
            <a:spLocks noGrp="1"/>
          </p:cNvSpPr>
          <p:nvPr>
            <p:ph type="title"/>
          </p:nvPr>
        </p:nvSpPr>
        <p:spPr/>
        <p:txBody>
          <a:bodyPr/>
          <a:lstStyle/>
          <a:p>
            <a:r>
              <a:rPr lang="en-US" altLang="zh-TW" dirty="0"/>
              <a:t>When to Use RAG?</a:t>
            </a:r>
            <a:endParaRPr lang="zh-TW" altLang="en-US" dirty="0"/>
          </a:p>
        </p:txBody>
      </p:sp>
      <p:sp>
        <p:nvSpPr>
          <p:cNvPr id="3" name="內容版面配置區 2">
            <a:extLst>
              <a:ext uri="{FF2B5EF4-FFF2-40B4-BE49-F238E27FC236}">
                <a16:creationId xmlns:a16="http://schemas.microsoft.com/office/drawing/2014/main" id="{8724FEA2-9F06-4FA3-B303-ADB62F8C8339}"/>
              </a:ext>
            </a:extLst>
          </p:cNvPr>
          <p:cNvSpPr>
            <a:spLocks noGrp="1"/>
          </p:cNvSpPr>
          <p:nvPr>
            <p:ph idx="1"/>
          </p:nvPr>
        </p:nvSpPr>
        <p:spPr/>
        <p:txBody>
          <a:bodyPr/>
          <a:lstStyle/>
          <a:p>
            <a:r>
              <a:rPr lang="en-US" altLang="zh-TW" sz="2800" dirty="0"/>
              <a:t>Most tasks can be accomplished with RAG (without fine tuning the model)</a:t>
            </a:r>
          </a:p>
          <a:p>
            <a:pPr lvl="1"/>
            <a:r>
              <a:rPr lang="en-US" altLang="zh-TW" sz="2400" dirty="0"/>
              <a:t>To draw a parallel with CNNs, RAG is similar to using data augmentation (prompt engineering) and few shot learning to circumvent fine tuning</a:t>
            </a:r>
          </a:p>
          <a:p>
            <a:r>
              <a:rPr lang="en-US" altLang="zh-TW" sz="2800" dirty="0"/>
              <a:t>Applications:</a:t>
            </a:r>
          </a:p>
          <a:p>
            <a:pPr lvl="1"/>
            <a:r>
              <a:rPr lang="en-US" altLang="zh-TW" sz="2400" dirty="0"/>
              <a:t>Domain specific QA: customer service, automatic inspection</a:t>
            </a:r>
          </a:p>
          <a:p>
            <a:pPr lvl="1"/>
            <a:r>
              <a:rPr lang="en-US" altLang="zh-TW" sz="2400" dirty="0"/>
              <a:t>Personalized service: can't be expected to load entire chat history or fine tune model for every user</a:t>
            </a:r>
          </a:p>
          <a:p>
            <a:pPr lvl="1"/>
            <a:r>
              <a:rPr lang="en-US" altLang="zh-TW" sz="2400" dirty="0"/>
              <a:t>Cheaply update model while maintaining model's core behavior</a:t>
            </a:r>
          </a:p>
          <a:p>
            <a:pPr lvl="1"/>
            <a:endParaRPr lang="zh-TW" altLang="en-US" sz="2400" dirty="0"/>
          </a:p>
        </p:txBody>
      </p:sp>
      <p:sp>
        <p:nvSpPr>
          <p:cNvPr id="4" name="投影片編號版面配置區 3">
            <a:extLst>
              <a:ext uri="{FF2B5EF4-FFF2-40B4-BE49-F238E27FC236}">
                <a16:creationId xmlns:a16="http://schemas.microsoft.com/office/drawing/2014/main" id="{F737B1CF-6E8B-4B4F-84A0-25042ED80E9F}"/>
              </a:ext>
            </a:extLst>
          </p:cNvPr>
          <p:cNvSpPr>
            <a:spLocks noGrp="1"/>
          </p:cNvSpPr>
          <p:nvPr>
            <p:ph type="sldNum" sz="quarter" idx="10"/>
          </p:nvPr>
        </p:nvSpPr>
        <p:spPr/>
        <p:txBody>
          <a:bodyPr/>
          <a:lstStyle/>
          <a:p>
            <a:pPr>
              <a:defRPr/>
            </a:pPr>
            <a:fld id="{CF627BE3-1269-44D5-A349-82FD5D94EBD8}" type="slidenum">
              <a:rPr lang="en-US" altLang="zh-TW" smtClean="0"/>
              <a:pPr>
                <a:defRPr/>
              </a:pPr>
              <a:t>19</a:t>
            </a:fld>
            <a:endParaRPr lang="en-US" altLang="zh-TW"/>
          </a:p>
        </p:txBody>
      </p:sp>
    </p:spTree>
    <p:extLst>
      <p:ext uri="{BB962C8B-B14F-4D97-AF65-F5344CB8AC3E}">
        <p14:creationId xmlns:p14="http://schemas.microsoft.com/office/powerpoint/2010/main" val="72281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Function/Tool Calling: Using Natural Language to Interface with External APIs</a:t>
            </a:r>
            <a:endParaRPr lang="zh-TW" altLang="en-US" sz="5400" dirty="0"/>
          </a:p>
        </p:txBody>
      </p:sp>
    </p:spTree>
    <p:extLst>
      <p:ext uri="{BB962C8B-B14F-4D97-AF65-F5344CB8AC3E}">
        <p14:creationId xmlns:p14="http://schemas.microsoft.com/office/powerpoint/2010/main" val="663989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5732CD-2DCC-4427-BAF5-B9BB47CB3009}"/>
              </a:ext>
            </a:extLst>
          </p:cNvPr>
          <p:cNvSpPr>
            <a:spLocks noGrp="1"/>
          </p:cNvSpPr>
          <p:nvPr>
            <p:ph type="title"/>
          </p:nvPr>
        </p:nvSpPr>
        <p:spPr/>
        <p:txBody>
          <a:bodyPr/>
          <a:lstStyle/>
          <a:p>
            <a:r>
              <a:rPr lang="en-US" altLang="zh-TW" dirty="0"/>
              <a:t>Tools/Function Calling</a:t>
            </a:r>
            <a:endParaRPr lang="zh-TW" altLang="en-US" dirty="0"/>
          </a:p>
        </p:txBody>
      </p:sp>
      <p:sp>
        <p:nvSpPr>
          <p:cNvPr id="3" name="內容版面配置區 2">
            <a:extLst>
              <a:ext uri="{FF2B5EF4-FFF2-40B4-BE49-F238E27FC236}">
                <a16:creationId xmlns:a16="http://schemas.microsoft.com/office/drawing/2014/main" id="{209901B4-7F59-4DF4-AA48-44949205BD3A}"/>
              </a:ext>
            </a:extLst>
          </p:cNvPr>
          <p:cNvSpPr>
            <a:spLocks noGrp="1"/>
          </p:cNvSpPr>
          <p:nvPr>
            <p:ph idx="1"/>
          </p:nvPr>
        </p:nvSpPr>
        <p:spPr/>
        <p:txBody>
          <a:bodyPr/>
          <a:lstStyle/>
          <a:p>
            <a:r>
              <a:rPr lang="en-US" altLang="zh-TW" sz="2000" b="1" dirty="0"/>
              <a:t>Objective: </a:t>
            </a:r>
            <a:r>
              <a:rPr lang="en-US" altLang="zh-TW" sz="2000" dirty="0"/>
              <a:t>using the semantic understanding of large language models (LLMs), convert a user’s unstructured command into control signals for other applications with </a:t>
            </a:r>
            <a:r>
              <a:rPr lang="en-US" altLang="zh-TW" sz="2000" u="sng" dirty="0"/>
              <a:t>function calling</a:t>
            </a:r>
            <a:endParaRPr lang="en-US" altLang="zh-TW" sz="2000" dirty="0"/>
          </a:p>
          <a:p>
            <a:pPr lvl="1"/>
            <a:r>
              <a:rPr lang="en-US" altLang="zh-TW" sz="1600" dirty="0"/>
              <a:t>For LLMs, function calling refers to when the LLM infers the </a:t>
            </a:r>
            <a:r>
              <a:rPr lang="en-US" altLang="zh-TW" sz="1600" u="sng" dirty="0"/>
              <a:t>correct function</a:t>
            </a:r>
            <a:r>
              <a:rPr lang="en-US" altLang="zh-TW" sz="1600" dirty="0"/>
              <a:t> to call and its </a:t>
            </a:r>
            <a:r>
              <a:rPr lang="en-US" altLang="zh-TW" sz="1600" u="sng" dirty="0"/>
              <a:t>input parameters</a:t>
            </a:r>
            <a:r>
              <a:rPr lang="en-US" altLang="zh-TW" sz="1600" dirty="0"/>
              <a:t> from the user prompt</a:t>
            </a:r>
          </a:p>
          <a:p>
            <a:r>
              <a:rPr lang="en-US" altLang="zh-TW" sz="2000" b="1" dirty="0"/>
              <a:t>Applications: AI</a:t>
            </a:r>
            <a:r>
              <a:rPr lang="zh-TW" altLang="en-US" sz="2000" b="1" dirty="0"/>
              <a:t> </a:t>
            </a:r>
            <a:r>
              <a:rPr lang="en-US" altLang="zh-TW" sz="2000" b="1" dirty="0"/>
              <a:t>agents </a:t>
            </a:r>
            <a:r>
              <a:rPr lang="en-US" altLang="zh-TW" sz="2000" dirty="0"/>
              <a:t>(</a:t>
            </a:r>
            <a:r>
              <a:rPr lang="en-US" altLang="zh-TW" sz="2000" dirty="0" err="1"/>
              <a:t>Openclaw</a:t>
            </a:r>
            <a:r>
              <a:rPr lang="en-US" altLang="zh-TW" sz="2000" dirty="0"/>
              <a:t>, Claude Code),</a:t>
            </a:r>
            <a:r>
              <a:rPr lang="en-US" altLang="zh-TW" sz="2000" b="1" dirty="0"/>
              <a:t> </a:t>
            </a:r>
            <a:r>
              <a:rPr lang="en-US" altLang="zh-TW" sz="2000" dirty="0"/>
              <a:t>IoT, search (retrieve real-time data online or from local database), automated customer service (banking, booking)</a:t>
            </a:r>
          </a:p>
          <a:p>
            <a:endParaRPr lang="zh-TW" altLang="en-US" dirty="0"/>
          </a:p>
        </p:txBody>
      </p:sp>
      <p:sp>
        <p:nvSpPr>
          <p:cNvPr id="4" name="投影片編號版面配置區 3">
            <a:extLst>
              <a:ext uri="{FF2B5EF4-FFF2-40B4-BE49-F238E27FC236}">
                <a16:creationId xmlns:a16="http://schemas.microsoft.com/office/drawing/2014/main" id="{5A952751-B2FA-4C17-B35E-E11A096DB580}"/>
              </a:ext>
            </a:extLst>
          </p:cNvPr>
          <p:cNvSpPr>
            <a:spLocks noGrp="1"/>
          </p:cNvSpPr>
          <p:nvPr>
            <p:ph type="sldNum" sz="quarter" idx="10"/>
          </p:nvPr>
        </p:nvSpPr>
        <p:spPr/>
        <p:txBody>
          <a:bodyPr/>
          <a:lstStyle/>
          <a:p>
            <a:pPr>
              <a:defRPr/>
            </a:pPr>
            <a:fld id="{CF627BE3-1269-44D5-A349-82FD5D94EBD8}" type="slidenum">
              <a:rPr lang="en-US" altLang="zh-TW" smtClean="0"/>
              <a:pPr>
                <a:defRPr/>
              </a:pPr>
              <a:t>21</a:t>
            </a:fld>
            <a:endParaRPr lang="en-US" altLang="zh-TW"/>
          </a:p>
        </p:txBody>
      </p:sp>
      <p:grpSp>
        <p:nvGrpSpPr>
          <p:cNvPr id="5" name="群組 4">
            <a:extLst>
              <a:ext uri="{FF2B5EF4-FFF2-40B4-BE49-F238E27FC236}">
                <a16:creationId xmlns:a16="http://schemas.microsoft.com/office/drawing/2014/main" id="{7C3A7F5D-1BB2-4150-AEBB-371DD3FA39F4}"/>
              </a:ext>
            </a:extLst>
          </p:cNvPr>
          <p:cNvGrpSpPr/>
          <p:nvPr/>
        </p:nvGrpSpPr>
        <p:grpSpPr>
          <a:xfrm>
            <a:off x="8409577" y="4005822"/>
            <a:ext cx="1147142" cy="2183583"/>
            <a:chOff x="6299200" y="4827759"/>
            <a:chExt cx="1147142" cy="2183583"/>
          </a:xfrm>
        </p:grpSpPr>
        <p:sp>
          <p:nvSpPr>
            <p:cNvPr id="6" name="矩形: 圓角 5">
              <a:extLst>
                <a:ext uri="{FF2B5EF4-FFF2-40B4-BE49-F238E27FC236}">
                  <a16:creationId xmlns:a16="http://schemas.microsoft.com/office/drawing/2014/main" id="{342A1882-AE95-43E0-9B59-C804F1569F6F}"/>
                </a:ext>
              </a:extLst>
            </p:cNvPr>
            <p:cNvSpPr/>
            <p:nvPr/>
          </p:nvSpPr>
          <p:spPr>
            <a:xfrm>
              <a:off x="6299200" y="4827759"/>
              <a:ext cx="1147142" cy="261750"/>
            </a:xfrm>
            <a:prstGeom prst="roundRect">
              <a:avLst>
                <a:gd name="adj" fmla="val 50000"/>
              </a:avLst>
            </a:pr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Controller</a:t>
              </a:r>
              <a:endParaRPr lang="zh-TW"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endParaRPr>
            </a:p>
          </p:txBody>
        </p:sp>
        <p:sp>
          <p:nvSpPr>
            <p:cNvPr id="7" name="矩形: 圓角 6">
              <a:extLst>
                <a:ext uri="{FF2B5EF4-FFF2-40B4-BE49-F238E27FC236}">
                  <a16:creationId xmlns:a16="http://schemas.microsoft.com/office/drawing/2014/main" id="{B8CE87B3-D2A9-42D3-9020-FE121F42A4B8}"/>
                </a:ext>
              </a:extLst>
            </p:cNvPr>
            <p:cNvSpPr/>
            <p:nvPr/>
          </p:nvSpPr>
          <p:spPr>
            <a:xfrm>
              <a:off x="6368917" y="6500564"/>
              <a:ext cx="1025983" cy="510778"/>
            </a:xfrm>
            <a:prstGeom prst="roundRect">
              <a:avLst/>
            </a:prstGeom>
            <a:solidFill>
              <a:srgbClr val="41719C">
                <a:alpha val="37000"/>
              </a:srgbClr>
            </a:solidFill>
            <a:ln>
              <a:solidFill>
                <a:schemeClr val="bg1"/>
              </a:solidFill>
            </a:ln>
          </p:spPr>
          <p:txBody>
            <a:bodyPr wrap="square" anchor="ctr">
              <a:spAutoFit/>
            </a:bodyPr>
            <a:lstStyle/>
            <a:p>
              <a:pPr marL="0" lvl="1" algn="ctr">
                <a:spcAft>
                  <a:spcPts val="324"/>
                </a:spcAft>
              </a:pPr>
              <a:r>
                <a:rPr lang="en-US" altLang="zh-TW" sz="12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Perform action</a:t>
              </a:r>
            </a:p>
          </p:txBody>
        </p:sp>
        <p:pic>
          <p:nvPicPr>
            <p:cNvPr id="8" name="圖片 7">
              <a:extLst>
                <a:ext uri="{FF2B5EF4-FFF2-40B4-BE49-F238E27FC236}">
                  <a16:creationId xmlns:a16="http://schemas.microsoft.com/office/drawing/2014/main" id="{DD4F072F-0213-4F62-9094-C67248D026D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9115" t="13922" r="16183"/>
            <a:stretch/>
          </p:blipFill>
          <p:spPr>
            <a:xfrm>
              <a:off x="6440254" y="5084159"/>
              <a:ext cx="883310" cy="1566839"/>
            </a:xfrm>
            <a:prstGeom prst="rect">
              <a:avLst/>
            </a:prstGeom>
          </p:spPr>
        </p:pic>
      </p:grpSp>
      <p:sp>
        <p:nvSpPr>
          <p:cNvPr id="9" name="矩形: 圓角 8">
            <a:extLst>
              <a:ext uri="{FF2B5EF4-FFF2-40B4-BE49-F238E27FC236}">
                <a16:creationId xmlns:a16="http://schemas.microsoft.com/office/drawing/2014/main" id="{E063C35E-E889-4F0F-AF22-C3A323B1D618}"/>
              </a:ext>
            </a:extLst>
          </p:cNvPr>
          <p:cNvSpPr/>
          <p:nvPr/>
        </p:nvSpPr>
        <p:spPr>
          <a:xfrm>
            <a:off x="2211876" y="5474316"/>
            <a:ext cx="1171312" cy="715089"/>
          </a:xfrm>
          <a:prstGeom prst="roundRect">
            <a:avLst/>
          </a:prstGeom>
          <a:solidFill>
            <a:srgbClr val="41719C">
              <a:alpha val="37000"/>
            </a:srgbClr>
          </a:solidFill>
          <a:ln>
            <a:solidFill>
              <a:schemeClr val="bg1"/>
            </a:solidFill>
          </a:ln>
        </p:spPr>
        <p:txBody>
          <a:bodyPr wrap="square" anchor="ctr">
            <a:spAutoFit/>
          </a:bodyPr>
          <a:lstStyle/>
          <a:p>
            <a:pPr marL="0" lvl="1" algn="ctr">
              <a:spcAft>
                <a:spcPts val="324"/>
              </a:spcAft>
            </a:pPr>
            <a:r>
              <a:rPr lang="en-US" altLang="zh-TW" sz="12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Spoken command as input</a:t>
            </a:r>
          </a:p>
        </p:txBody>
      </p:sp>
      <p:pic>
        <p:nvPicPr>
          <p:cNvPr id="10" name="圖片 9">
            <a:extLst>
              <a:ext uri="{FF2B5EF4-FFF2-40B4-BE49-F238E27FC236}">
                <a16:creationId xmlns:a16="http://schemas.microsoft.com/office/drawing/2014/main" id="{9772C12B-083B-4498-A3F0-43ACBE4F3B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00003" y="4375821"/>
            <a:ext cx="979085" cy="1333904"/>
          </a:xfrm>
          <a:prstGeom prst="rect">
            <a:avLst/>
          </a:prstGeom>
        </p:spPr>
      </p:pic>
      <p:sp>
        <p:nvSpPr>
          <p:cNvPr id="11" name="箭號: 向右 10">
            <a:extLst>
              <a:ext uri="{FF2B5EF4-FFF2-40B4-BE49-F238E27FC236}">
                <a16:creationId xmlns:a16="http://schemas.microsoft.com/office/drawing/2014/main" id="{1278F561-C5AE-4B46-A611-C036AC6AF4D5}"/>
              </a:ext>
            </a:extLst>
          </p:cNvPr>
          <p:cNvSpPr/>
          <p:nvPr/>
        </p:nvSpPr>
        <p:spPr>
          <a:xfrm>
            <a:off x="3023622" y="4974955"/>
            <a:ext cx="491122" cy="243266"/>
          </a:xfrm>
          <a:prstGeom prst="rightArrow">
            <a:avLst>
              <a:gd name="adj1" fmla="val 50000"/>
              <a:gd name="adj2" fmla="val 68599"/>
            </a:avLst>
          </a:prstGeom>
          <a:solidFill>
            <a:srgbClr val="25A2A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15"/>
          </a:p>
        </p:txBody>
      </p:sp>
      <p:sp>
        <p:nvSpPr>
          <p:cNvPr id="12" name="箭號: 向右 11">
            <a:extLst>
              <a:ext uri="{FF2B5EF4-FFF2-40B4-BE49-F238E27FC236}">
                <a16:creationId xmlns:a16="http://schemas.microsoft.com/office/drawing/2014/main" id="{D705BCAA-E4D4-4F09-9740-9F7C32025825}"/>
              </a:ext>
            </a:extLst>
          </p:cNvPr>
          <p:cNvSpPr/>
          <p:nvPr/>
        </p:nvSpPr>
        <p:spPr>
          <a:xfrm>
            <a:off x="8051552" y="4974955"/>
            <a:ext cx="491122" cy="243266"/>
          </a:xfrm>
          <a:prstGeom prst="rightArrow">
            <a:avLst>
              <a:gd name="adj1" fmla="val 50000"/>
              <a:gd name="adj2" fmla="val 68599"/>
            </a:avLst>
          </a:prstGeom>
          <a:solidFill>
            <a:srgbClr val="25A2A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15"/>
          </a:p>
        </p:txBody>
      </p:sp>
      <p:pic>
        <p:nvPicPr>
          <p:cNvPr id="13" name="圖片 12">
            <a:extLst>
              <a:ext uri="{FF2B5EF4-FFF2-40B4-BE49-F238E27FC236}">
                <a16:creationId xmlns:a16="http://schemas.microsoft.com/office/drawing/2014/main" id="{A554619B-C97E-4440-AEE9-6E5C47F489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60598" y="4475552"/>
            <a:ext cx="464346" cy="464346"/>
          </a:xfrm>
          <a:prstGeom prst="rect">
            <a:avLst/>
          </a:prstGeom>
        </p:spPr>
      </p:pic>
      <p:grpSp>
        <p:nvGrpSpPr>
          <p:cNvPr id="14" name="群組 13">
            <a:extLst>
              <a:ext uri="{FF2B5EF4-FFF2-40B4-BE49-F238E27FC236}">
                <a16:creationId xmlns:a16="http://schemas.microsoft.com/office/drawing/2014/main" id="{C324B645-1007-4EE2-8D5C-A98782D64C16}"/>
              </a:ext>
            </a:extLst>
          </p:cNvPr>
          <p:cNvGrpSpPr/>
          <p:nvPr/>
        </p:nvGrpSpPr>
        <p:grpSpPr>
          <a:xfrm>
            <a:off x="4952490" y="4479629"/>
            <a:ext cx="1443640" cy="1233919"/>
            <a:chOff x="2828683" y="5183301"/>
            <a:chExt cx="1443640" cy="1233919"/>
          </a:xfrm>
        </p:grpSpPr>
        <p:sp>
          <p:nvSpPr>
            <p:cNvPr id="15" name="矩形: 圓角 14">
              <a:extLst>
                <a:ext uri="{FF2B5EF4-FFF2-40B4-BE49-F238E27FC236}">
                  <a16:creationId xmlns:a16="http://schemas.microsoft.com/office/drawing/2014/main" id="{EFCF4B43-2600-4AB7-95AA-179D1C60AAF6}"/>
                </a:ext>
              </a:extLst>
            </p:cNvPr>
            <p:cNvSpPr/>
            <p:nvPr/>
          </p:nvSpPr>
          <p:spPr>
            <a:xfrm>
              <a:off x="2828683" y="5294020"/>
              <a:ext cx="1443640" cy="1123200"/>
            </a:xfrm>
            <a:prstGeom prst="roundRect">
              <a:avLst/>
            </a:prstGeom>
            <a:solidFill>
              <a:srgbClr val="41719C">
                <a:alpha val="37000"/>
              </a:srgbClr>
            </a:solidFill>
            <a:ln>
              <a:solidFill>
                <a:schemeClr val="bg1"/>
              </a:solidFill>
            </a:ln>
          </p:spPr>
          <p:txBody>
            <a:bodyPr wrap="square" tIns="108000" anchor="ctr" anchorCtr="0">
              <a:spAutoFit/>
            </a:bodyPr>
            <a:lstStyle/>
            <a:p>
              <a:pPr marL="0" lvl="1" algn="ctr">
                <a:spcAft>
                  <a:spcPts val="324"/>
                </a:spcAft>
              </a:pPr>
              <a:r>
                <a:rPr lang="en-US" altLang="zh-TW" sz="12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Decide which function to use and convert text to JSON</a:t>
              </a:r>
            </a:p>
          </p:txBody>
        </p:sp>
        <p:sp>
          <p:nvSpPr>
            <p:cNvPr id="16" name="矩形: 圓角 15">
              <a:extLst>
                <a:ext uri="{FF2B5EF4-FFF2-40B4-BE49-F238E27FC236}">
                  <a16:creationId xmlns:a16="http://schemas.microsoft.com/office/drawing/2014/main" id="{3F13741D-9226-4EFA-A236-DA634AC70942}"/>
                </a:ext>
              </a:extLst>
            </p:cNvPr>
            <p:cNvSpPr/>
            <p:nvPr/>
          </p:nvSpPr>
          <p:spPr>
            <a:xfrm>
              <a:off x="2869335" y="5183301"/>
              <a:ext cx="1362337" cy="261750"/>
            </a:xfrm>
            <a:prstGeom prst="roundRect">
              <a:avLst>
                <a:gd name="adj" fmla="val 50000"/>
              </a:avLst>
            </a:pr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Gemma 2 2B</a:t>
              </a:r>
              <a:endParaRPr lang="zh-TW"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endParaRPr>
            </a:p>
          </p:txBody>
        </p:sp>
      </p:grpSp>
      <p:grpSp>
        <p:nvGrpSpPr>
          <p:cNvPr id="17" name="群組 16">
            <a:extLst>
              <a:ext uri="{FF2B5EF4-FFF2-40B4-BE49-F238E27FC236}">
                <a16:creationId xmlns:a16="http://schemas.microsoft.com/office/drawing/2014/main" id="{CA9DD76F-3017-4E28-9C32-7453250A3418}"/>
              </a:ext>
            </a:extLst>
          </p:cNvPr>
          <p:cNvGrpSpPr/>
          <p:nvPr/>
        </p:nvGrpSpPr>
        <p:grpSpPr>
          <a:xfrm>
            <a:off x="6502890" y="4475140"/>
            <a:ext cx="1443640" cy="1238408"/>
            <a:chOff x="4377273" y="5178812"/>
            <a:chExt cx="1443640" cy="1238408"/>
          </a:xfrm>
        </p:grpSpPr>
        <p:sp>
          <p:nvSpPr>
            <p:cNvPr id="18" name="矩形: 圓角 17">
              <a:extLst>
                <a:ext uri="{FF2B5EF4-FFF2-40B4-BE49-F238E27FC236}">
                  <a16:creationId xmlns:a16="http://schemas.microsoft.com/office/drawing/2014/main" id="{9EC9A592-5B00-4E06-A11B-D85CF223BC8C}"/>
                </a:ext>
              </a:extLst>
            </p:cNvPr>
            <p:cNvSpPr/>
            <p:nvPr/>
          </p:nvSpPr>
          <p:spPr>
            <a:xfrm>
              <a:off x="4377273" y="5294020"/>
              <a:ext cx="1443640" cy="1123200"/>
            </a:xfrm>
            <a:prstGeom prst="roundRect">
              <a:avLst/>
            </a:prstGeom>
            <a:solidFill>
              <a:srgbClr val="41719C">
                <a:alpha val="37000"/>
              </a:srgbClr>
            </a:solidFill>
            <a:ln>
              <a:solidFill>
                <a:schemeClr val="bg1"/>
              </a:solidFill>
            </a:ln>
          </p:spPr>
          <p:txBody>
            <a:bodyPr wrap="square" tIns="108000" anchor="ctr" anchorCtr="0">
              <a:spAutoFit/>
            </a:bodyPr>
            <a:lstStyle/>
            <a:p>
              <a:pPr marL="0" lvl="1" algn="ctr">
                <a:spcAft>
                  <a:spcPts val="324"/>
                </a:spcAft>
              </a:pPr>
              <a:r>
                <a:rPr lang="en-US" altLang="zh-TW" sz="12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Using JSON data fields as input, call function</a:t>
              </a:r>
            </a:p>
          </p:txBody>
        </p:sp>
        <p:sp>
          <p:nvSpPr>
            <p:cNvPr id="19" name="矩形: 圓角 18">
              <a:extLst>
                <a:ext uri="{FF2B5EF4-FFF2-40B4-BE49-F238E27FC236}">
                  <a16:creationId xmlns:a16="http://schemas.microsoft.com/office/drawing/2014/main" id="{DACD2643-9B67-4FDF-8720-254FE780CEA9}"/>
                </a:ext>
              </a:extLst>
            </p:cNvPr>
            <p:cNvSpPr/>
            <p:nvPr/>
          </p:nvSpPr>
          <p:spPr>
            <a:xfrm>
              <a:off x="4417925" y="5178812"/>
              <a:ext cx="1362337" cy="261750"/>
            </a:xfrm>
            <a:prstGeom prst="roundRect">
              <a:avLst>
                <a:gd name="adj" fmla="val 50000"/>
              </a:avLst>
            </a:pr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API</a:t>
              </a:r>
              <a:endParaRPr lang="zh-TW"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endParaRPr>
            </a:p>
          </p:txBody>
        </p:sp>
      </p:grpSp>
      <p:sp>
        <p:nvSpPr>
          <p:cNvPr id="20" name="語音泡泡: 圓角矩形 19">
            <a:extLst>
              <a:ext uri="{FF2B5EF4-FFF2-40B4-BE49-F238E27FC236}">
                <a16:creationId xmlns:a16="http://schemas.microsoft.com/office/drawing/2014/main" id="{D3E0ADD0-40C8-4B88-9126-B1C38BDE4F07}"/>
              </a:ext>
            </a:extLst>
          </p:cNvPr>
          <p:cNvSpPr/>
          <p:nvPr/>
        </p:nvSpPr>
        <p:spPr>
          <a:xfrm>
            <a:off x="2713332" y="3701935"/>
            <a:ext cx="1143214" cy="641677"/>
          </a:xfrm>
          <a:prstGeom prst="wedgeRoundRectCallout">
            <a:avLst>
              <a:gd name="adj1" fmla="val -32514"/>
              <a:gd name="adj2" fmla="val 73180"/>
              <a:gd name="adj3" fmla="val 16667"/>
            </a:avLst>
          </a:pr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Take two steps forward</a:t>
            </a:r>
            <a:endParaRPr lang="zh-TW" altLang="en-US" sz="1400" dirty="0"/>
          </a:p>
        </p:txBody>
      </p:sp>
      <p:sp>
        <p:nvSpPr>
          <p:cNvPr id="21" name="語音泡泡: 圓角矩形 95">
            <a:extLst>
              <a:ext uri="{FF2B5EF4-FFF2-40B4-BE49-F238E27FC236}">
                <a16:creationId xmlns:a16="http://schemas.microsoft.com/office/drawing/2014/main" id="{94D54C1A-17B2-41EC-A7D2-FB021EFB654E}"/>
              </a:ext>
            </a:extLst>
          </p:cNvPr>
          <p:cNvSpPr/>
          <p:nvPr/>
        </p:nvSpPr>
        <p:spPr>
          <a:xfrm>
            <a:off x="4821532" y="5584074"/>
            <a:ext cx="2883906" cy="846892"/>
          </a:xfrm>
          <a:custGeom>
            <a:avLst/>
            <a:gdLst>
              <a:gd name="connsiteX0" fmla="*/ 0 w 2883906"/>
              <a:gd name="connsiteY0" fmla="*/ 106948 h 641677"/>
              <a:gd name="connsiteX1" fmla="*/ 106948 w 2883906"/>
              <a:gd name="connsiteY1" fmla="*/ 0 h 641677"/>
              <a:gd name="connsiteX2" fmla="*/ 480651 w 2883906"/>
              <a:gd name="connsiteY2" fmla="*/ 0 h 641677"/>
              <a:gd name="connsiteX3" fmla="*/ 644293 w 2883906"/>
              <a:gd name="connsiteY3" fmla="*/ -205215 h 641677"/>
              <a:gd name="connsiteX4" fmla="*/ 1201628 w 2883906"/>
              <a:gd name="connsiteY4" fmla="*/ 0 h 641677"/>
              <a:gd name="connsiteX5" fmla="*/ 2776958 w 2883906"/>
              <a:gd name="connsiteY5" fmla="*/ 0 h 641677"/>
              <a:gd name="connsiteX6" fmla="*/ 2883906 w 2883906"/>
              <a:gd name="connsiteY6" fmla="*/ 106948 h 641677"/>
              <a:gd name="connsiteX7" fmla="*/ 2883906 w 2883906"/>
              <a:gd name="connsiteY7" fmla="*/ 106946 h 641677"/>
              <a:gd name="connsiteX8" fmla="*/ 2883906 w 2883906"/>
              <a:gd name="connsiteY8" fmla="*/ 106946 h 641677"/>
              <a:gd name="connsiteX9" fmla="*/ 2883906 w 2883906"/>
              <a:gd name="connsiteY9" fmla="*/ 267365 h 641677"/>
              <a:gd name="connsiteX10" fmla="*/ 2883906 w 2883906"/>
              <a:gd name="connsiteY10" fmla="*/ 534729 h 641677"/>
              <a:gd name="connsiteX11" fmla="*/ 2776958 w 2883906"/>
              <a:gd name="connsiteY11" fmla="*/ 641677 h 641677"/>
              <a:gd name="connsiteX12" fmla="*/ 1201628 w 2883906"/>
              <a:gd name="connsiteY12" fmla="*/ 641677 h 641677"/>
              <a:gd name="connsiteX13" fmla="*/ 480651 w 2883906"/>
              <a:gd name="connsiteY13" fmla="*/ 641677 h 641677"/>
              <a:gd name="connsiteX14" fmla="*/ 480651 w 2883906"/>
              <a:gd name="connsiteY14" fmla="*/ 641677 h 641677"/>
              <a:gd name="connsiteX15" fmla="*/ 106948 w 2883906"/>
              <a:gd name="connsiteY15" fmla="*/ 641677 h 641677"/>
              <a:gd name="connsiteX16" fmla="*/ 0 w 2883906"/>
              <a:gd name="connsiteY16" fmla="*/ 534729 h 641677"/>
              <a:gd name="connsiteX17" fmla="*/ 0 w 2883906"/>
              <a:gd name="connsiteY17" fmla="*/ 267365 h 641677"/>
              <a:gd name="connsiteX18" fmla="*/ 0 w 2883906"/>
              <a:gd name="connsiteY18" fmla="*/ 106946 h 641677"/>
              <a:gd name="connsiteX19" fmla="*/ 0 w 2883906"/>
              <a:gd name="connsiteY19" fmla="*/ 106946 h 641677"/>
              <a:gd name="connsiteX20" fmla="*/ 0 w 2883906"/>
              <a:gd name="connsiteY20" fmla="*/ 106948 h 641677"/>
              <a:gd name="connsiteX0" fmla="*/ 0 w 2883906"/>
              <a:gd name="connsiteY0" fmla="*/ 312163 h 846892"/>
              <a:gd name="connsiteX1" fmla="*/ 106948 w 2883906"/>
              <a:gd name="connsiteY1" fmla="*/ 205215 h 846892"/>
              <a:gd name="connsiteX2" fmla="*/ 480651 w 2883906"/>
              <a:gd name="connsiteY2" fmla="*/ 205215 h 846892"/>
              <a:gd name="connsiteX3" fmla="*/ 644293 w 2883906"/>
              <a:gd name="connsiteY3" fmla="*/ 0 h 846892"/>
              <a:gd name="connsiteX4" fmla="*/ 911115 w 2883906"/>
              <a:gd name="connsiteY4" fmla="*/ 202833 h 846892"/>
              <a:gd name="connsiteX5" fmla="*/ 2776958 w 2883906"/>
              <a:gd name="connsiteY5" fmla="*/ 205215 h 846892"/>
              <a:gd name="connsiteX6" fmla="*/ 2883906 w 2883906"/>
              <a:gd name="connsiteY6" fmla="*/ 312163 h 846892"/>
              <a:gd name="connsiteX7" fmla="*/ 2883906 w 2883906"/>
              <a:gd name="connsiteY7" fmla="*/ 312161 h 846892"/>
              <a:gd name="connsiteX8" fmla="*/ 2883906 w 2883906"/>
              <a:gd name="connsiteY8" fmla="*/ 312161 h 846892"/>
              <a:gd name="connsiteX9" fmla="*/ 2883906 w 2883906"/>
              <a:gd name="connsiteY9" fmla="*/ 472580 h 846892"/>
              <a:gd name="connsiteX10" fmla="*/ 2883906 w 2883906"/>
              <a:gd name="connsiteY10" fmla="*/ 739944 h 846892"/>
              <a:gd name="connsiteX11" fmla="*/ 2776958 w 2883906"/>
              <a:gd name="connsiteY11" fmla="*/ 846892 h 846892"/>
              <a:gd name="connsiteX12" fmla="*/ 1201628 w 2883906"/>
              <a:gd name="connsiteY12" fmla="*/ 846892 h 846892"/>
              <a:gd name="connsiteX13" fmla="*/ 480651 w 2883906"/>
              <a:gd name="connsiteY13" fmla="*/ 846892 h 846892"/>
              <a:gd name="connsiteX14" fmla="*/ 480651 w 2883906"/>
              <a:gd name="connsiteY14" fmla="*/ 846892 h 846892"/>
              <a:gd name="connsiteX15" fmla="*/ 106948 w 2883906"/>
              <a:gd name="connsiteY15" fmla="*/ 846892 h 846892"/>
              <a:gd name="connsiteX16" fmla="*/ 0 w 2883906"/>
              <a:gd name="connsiteY16" fmla="*/ 739944 h 846892"/>
              <a:gd name="connsiteX17" fmla="*/ 0 w 2883906"/>
              <a:gd name="connsiteY17" fmla="*/ 472580 h 846892"/>
              <a:gd name="connsiteX18" fmla="*/ 0 w 2883906"/>
              <a:gd name="connsiteY18" fmla="*/ 312161 h 846892"/>
              <a:gd name="connsiteX19" fmla="*/ 0 w 2883906"/>
              <a:gd name="connsiteY19" fmla="*/ 312161 h 846892"/>
              <a:gd name="connsiteX20" fmla="*/ 0 w 2883906"/>
              <a:gd name="connsiteY20" fmla="*/ 312163 h 84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83906" h="846892">
                <a:moveTo>
                  <a:pt x="0" y="312163"/>
                </a:moveTo>
                <a:cubicBezTo>
                  <a:pt x="0" y="253097"/>
                  <a:pt x="47882" y="205215"/>
                  <a:pt x="106948" y="205215"/>
                </a:cubicBezTo>
                <a:lnTo>
                  <a:pt x="480651" y="205215"/>
                </a:lnTo>
                <a:lnTo>
                  <a:pt x="644293" y="0"/>
                </a:lnTo>
                <a:lnTo>
                  <a:pt x="911115" y="202833"/>
                </a:lnTo>
                <a:lnTo>
                  <a:pt x="2776958" y="205215"/>
                </a:lnTo>
                <a:cubicBezTo>
                  <a:pt x="2836024" y="205215"/>
                  <a:pt x="2883906" y="253097"/>
                  <a:pt x="2883906" y="312163"/>
                </a:cubicBezTo>
                <a:lnTo>
                  <a:pt x="2883906" y="312161"/>
                </a:lnTo>
                <a:lnTo>
                  <a:pt x="2883906" y="312161"/>
                </a:lnTo>
                <a:lnTo>
                  <a:pt x="2883906" y="472580"/>
                </a:lnTo>
                <a:lnTo>
                  <a:pt x="2883906" y="739944"/>
                </a:lnTo>
                <a:cubicBezTo>
                  <a:pt x="2883906" y="799010"/>
                  <a:pt x="2836024" y="846892"/>
                  <a:pt x="2776958" y="846892"/>
                </a:cubicBezTo>
                <a:lnTo>
                  <a:pt x="1201628" y="846892"/>
                </a:lnTo>
                <a:lnTo>
                  <a:pt x="480651" y="846892"/>
                </a:lnTo>
                <a:lnTo>
                  <a:pt x="480651" y="846892"/>
                </a:lnTo>
                <a:lnTo>
                  <a:pt x="106948" y="846892"/>
                </a:lnTo>
                <a:cubicBezTo>
                  <a:pt x="47882" y="846892"/>
                  <a:pt x="0" y="799010"/>
                  <a:pt x="0" y="739944"/>
                </a:cubicBezTo>
                <a:lnTo>
                  <a:pt x="0" y="472580"/>
                </a:lnTo>
                <a:lnTo>
                  <a:pt x="0" y="312161"/>
                </a:lnTo>
                <a:lnTo>
                  <a:pt x="0" y="312161"/>
                </a:lnTo>
                <a:lnTo>
                  <a:pt x="0" y="312163"/>
                </a:lnTo>
                <a:close/>
              </a:path>
            </a:pathLst>
          </a:cu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252000" rtlCol="0" anchor="ctr"/>
          <a:lstStyle/>
          <a:p>
            <a:pPr algn="ct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{“function”: “</a:t>
            </a:r>
            <a:r>
              <a:rPr lang="en-US" altLang="zh-TW" sz="1400" b="1" dirty="0" err="1">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perform_action</a:t>
            </a: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 “action”: “walk forward, …”}</a:t>
            </a:r>
            <a:endParaRPr lang="zh-TW"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endParaRPr>
          </a:p>
        </p:txBody>
      </p:sp>
      <p:grpSp>
        <p:nvGrpSpPr>
          <p:cNvPr id="22" name="群組 21">
            <a:extLst>
              <a:ext uri="{FF2B5EF4-FFF2-40B4-BE49-F238E27FC236}">
                <a16:creationId xmlns:a16="http://schemas.microsoft.com/office/drawing/2014/main" id="{F8C1C29E-C1E1-4959-A05E-331A399D9CB8}"/>
              </a:ext>
            </a:extLst>
          </p:cNvPr>
          <p:cNvGrpSpPr/>
          <p:nvPr/>
        </p:nvGrpSpPr>
        <p:grpSpPr>
          <a:xfrm>
            <a:off x="3585730" y="4479629"/>
            <a:ext cx="1260000" cy="1233919"/>
            <a:chOff x="1460113" y="5717113"/>
            <a:chExt cx="1260000" cy="1233919"/>
          </a:xfrm>
        </p:grpSpPr>
        <p:sp>
          <p:nvSpPr>
            <p:cNvPr id="23" name="矩形: 圓角 22">
              <a:extLst>
                <a:ext uri="{FF2B5EF4-FFF2-40B4-BE49-F238E27FC236}">
                  <a16:creationId xmlns:a16="http://schemas.microsoft.com/office/drawing/2014/main" id="{48F0BB55-DDD3-418D-B688-5F981BB0D762}"/>
                </a:ext>
              </a:extLst>
            </p:cNvPr>
            <p:cNvSpPr/>
            <p:nvPr/>
          </p:nvSpPr>
          <p:spPr>
            <a:xfrm>
              <a:off x="1460113" y="5827832"/>
              <a:ext cx="1260000" cy="1123200"/>
            </a:xfrm>
            <a:prstGeom prst="roundRect">
              <a:avLst/>
            </a:prstGeom>
            <a:solidFill>
              <a:srgbClr val="41719C">
                <a:alpha val="37000"/>
              </a:srgbClr>
            </a:solidFill>
            <a:ln>
              <a:solidFill>
                <a:schemeClr val="bg1"/>
              </a:solidFill>
            </a:ln>
          </p:spPr>
          <p:txBody>
            <a:bodyPr wrap="square" anchor="ctr">
              <a:spAutoFit/>
            </a:bodyPr>
            <a:lstStyle/>
            <a:p>
              <a:pPr marL="0" lvl="1" algn="ctr">
                <a:spcAft>
                  <a:spcPts val="324"/>
                </a:spcAft>
              </a:pPr>
              <a:r>
                <a:rPr lang="en-US" altLang="zh-TW" sz="12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Speech to text</a:t>
              </a:r>
            </a:p>
          </p:txBody>
        </p:sp>
        <p:sp>
          <p:nvSpPr>
            <p:cNvPr id="24" name="矩形: 圓角 23">
              <a:extLst>
                <a:ext uri="{FF2B5EF4-FFF2-40B4-BE49-F238E27FC236}">
                  <a16:creationId xmlns:a16="http://schemas.microsoft.com/office/drawing/2014/main" id="{A6C8A9CC-4CFB-4392-945F-D369CB2D2B82}"/>
                </a:ext>
              </a:extLst>
            </p:cNvPr>
            <p:cNvSpPr/>
            <p:nvPr/>
          </p:nvSpPr>
          <p:spPr>
            <a:xfrm>
              <a:off x="1538048" y="5717113"/>
              <a:ext cx="1104130" cy="261750"/>
            </a:xfrm>
            <a:prstGeom prst="roundRect">
              <a:avLst>
                <a:gd name="adj" fmla="val 50000"/>
              </a:avLst>
            </a:pr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rPr>
                <a:t>Whisper</a:t>
              </a:r>
              <a:endParaRPr lang="zh-TW"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軟正黑體" panose="020B0604030504040204" pitchFamily="34" charset="-120"/>
                <a:cs typeface="Arial" panose="020B0604020202020204" pitchFamily="34" charset="0"/>
              </a:endParaRPr>
            </a:p>
          </p:txBody>
        </p:sp>
      </p:grpSp>
      <p:pic>
        <p:nvPicPr>
          <p:cNvPr id="25" name="圖片 24">
            <a:extLst>
              <a:ext uri="{FF2B5EF4-FFF2-40B4-BE49-F238E27FC236}">
                <a16:creationId xmlns:a16="http://schemas.microsoft.com/office/drawing/2014/main" id="{EEE9D7D8-C7D6-4370-9586-C03A5DA365C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4950" t="17894" r="15204" b="7669"/>
          <a:stretch/>
        </p:blipFill>
        <p:spPr>
          <a:xfrm>
            <a:off x="4936834" y="3552584"/>
            <a:ext cx="1520868" cy="906475"/>
          </a:xfrm>
          <a:prstGeom prst="rect">
            <a:avLst/>
          </a:prstGeom>
        </p:spPr>
      </p:pic>
      <p:sp>
        <p:nvSpPr>
          <p:cNvPr id="28" name="語音泡泡: 圓角矩形 27">
            <a:extLst>
              <a:ext uri="{FF2B5EF4-FFF2-40B4-BE49-F238E27FC236}">
                <a16:creationId xmlns:a16="http://schemas.microsoft.com/office/drawing/2014/main" id="{55D270B3-28F3-4248-8A45-B762D99E65FF}"/>
              </a:ext>
            </a:extLst>
          </p:cNvPr>
          <p:cNvSpPr/>
          <p:nvPr/>
        </p:nvSpPr>
        <p:spPr>
          <a:xfrm>
            <a:off x="6927303" y="3591794"/>
            <a:ext cx="1266396" cy="641677"/>
          </a:xfrm>
          <a:prstGeom prst="wedgeRoundRectCallout">
            <a:avLst>
              <a:gd name="adj1" fmla="val -32514"/>
              <a:gd name="adj2" fmla="val 73180"/>
              <a:gd name="adj3" fmla="val 16667"/>
            </a:avLst>
          </a:prstGeom>
          <a:solidFill>
            <a:srgbClr val="25A2A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微軟正黑體" panose="020B0604030504040204" pitchFamily="34" charset="-120"/>
                <a:cs typeface="Arial" panose="020B0604020202020204" pitchFamily="34" charset="0"/>
              </a:rPr>
              <a:t>[00 01 11 00]</a:t>
            </a:r>
            <a:endParaRPr kumimoji="0" lang="zh-TW" altLang="en-US" sz="14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微軟正黑體" panose="020B0604030504040204" pitchFamily="34" charset="-120"/>
              <a:cs typeface="Arial" panose="020B0604020202020204" pitchFamily="34" charset="0"/>
            </a:endParaRPr>
          </a:p>
        </p:txBody>
      </p:sp>
    </p:spTree>
    <p:extLst>
      <p:ext uri="{BB962C8B-B14F-4D97-AF65-F5344CB8AC3E}">
        <p14:creationId xmlns:p14="http://schemas.microsoft.com/office/powerpoint/2010/main" val="4282680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B61AD6-5E94-4808-B62C-BC8F7008E305}"/>
              </a:ext>
            </a:extLst>
          </p:cNvPr>
          <p:cNvSpPr>
            <a:spLocks noGrp="1"/>
          </p:cNvSpPr>
          <p:nvPr>
            <p:ph type="title"/>
          </p:nvPr>
        </p:nvSpPr>
        <p:spPr/>
        <p:txBody>
          <a:bodyPr/>
          <a:lstStyle/>
          <a:p>
            <a:r>
              <a:rPr lang="en-US" altLang="zh-TW"/>
              <a:t>Essential Components of Function Calling</a:t>
            </a:r>
          </a:p>
        </p:txBody>
      </p:sp>
      <p:sp>
        <p:nvSpPr>
          <p:cNvPr id="3" name="內容版面配置區 2">
            <a:extLst>
              <a:ext uri="{FF2B5EF4-FFF2-40B4-BE49-F238E27FC236}">
                <a16:creationId xmlns:a16="http://schemas.microsoft.com/office/drawing/2014/main" id="{7D163A86-68FC-4698-86A8-5410D81D8C3B}"/>
              </a:ext>
            </a:extLst>
          </p:cNvPr>
          <p:cNvSpPr>
            <a:spLocks noGrp="1"/>
          </p:cNvSpPr>
          <p:nvPr>
            <p:ph idx="1"/>
          </p:nvPr>
        </p:nvSpPr>
        <p:spPr/>
        <p:txBody>
          <a:bodyPr/>
          <a:lstStyle/>
          <a:p>
            <a:pPr marL="514350" indent="-514350">
              <a:buFont typeface="+mj-lt"/>
              <a:buAutoNum type="arabicPeriod"/>
            </a:pPr>
            <a:r>
              <a:rPr lang="en-US" altLang="zh-TW" sz="2800" b="1" dirty="0"/>
              <a:t>Model:</a:t>
            </a:r>
            <a:r>
              <a:rPr lang="en-US" altLang="zh-TW" sz="2800" dirty="0"/>
              <a:t> does the model support function calling?</a:t>
            </a:r>
          </a:p>
          <a:p>
            <a:pPr marL="514350" indent="-514350">
              <a:buFont typeface="+mj-lt"/>
              <a:buAutoNum type="arabicPeriod"/>
            </a:pPr>
            <a:r>
              <a:rPr lang="en-US" altLang="zh-TW" sz="2800" b="1" dirty="0"/>
              <a:t>Prompt:</a:t>
            </a:r>
            <a:r>
              <a:rPr lang="en-US" altLang="zh-TW" sz="2800" dirty="0"/>
              <a:t> do the function descriptions describe the task clearly? Is the prompt clear?</a:t>
            </a:r>
          </a:p>
          <a:p>
            <a:pPr marL="514350" indent="-514350">
              <a:buFont typeface="+mj-lt"/>
              <a:buAutoNum type="arabicPeriod"/>
            </a:pPr>
            <a:r>
              <a:rPr lang="en-US" altLang="zh-TW" sz="2800" b="1" dirty="0"/>
              <a:t>External API:</a:t>
            </a:r>
            <a:r>
              <a:rPr lang="en-US" altLang="zh-TW" sz="2800" dirty="0"/>
              <a:t> does the application have API support?</a:t>
            </a:r>
          </a:p>
          <a:p>
            <a:endParaRPr lang="zh-TW" altLang="en-US" sz="2800" dirty="0"/>
          </a:p>
        </p:txBody>
      </p:sp>
      <p:sp>
        <p:nvSpPr>
          <p:cNvPr id="4" name="投影片編號版面配置區 3">
            <a:extLst>
              <a:ext uri="{FF2B5EF4-FFF2-40B4-BE49-F238E27FC236}">
                <a16:creationId xmlns:a16="http://schemas.microsoft.com/office/drawing/2014/main" id="{F7A5CDCC-A880-4D47-8A3C-F07B5B3DD6AC}"/>
              </a:ext>
            </a:extLst>
          </p:cNvPr>
          <p:cNvSpPr>
            <a:spLocks noGrp="1"/>
          </p:cNvSpPr>
          <p:nvPr>
            <p:ph type="sldNum" sz="quarter" idx="10"/>
          </p:nvPr>
        </p:nvSpPr>
        <p:spPr/>
        <p:txBody>
          <a:bodyPr/>
          <a:lstStyle/>
          <a:p>
            <a:pPr>
              <a:defRPr/>
            </a:pPr>
            <a:fld id="{CF627BE3-1269-44D5-A349-82FD5D94EBD8}" type="slidenum">
              <a:rPr lang="en-US" altLang="zh-TW" smtClean="0"/>
              <a:pPr>
                <a:defRPr/>
              </a:pPr>
              <a:t>22</a:t>
            </a:fld>
            <a:endParaRPr lang="en-US" altLang="zh-TW"/>
          </a:p>
        </p:txBody>
      </p:sp>
    </p:spTree>
    <p:extLst>
      <p:ext uri="{BB962C8B-B14F-4D97-AF65-F5344CB8AC3E}">
        <p14:creationId xmlns:p14="http://schemas.microsoft.com/office/powerpoint/2010/main" val="1708342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146FD8-9073-4D75-8BB6-6AA13D85FED0}"/>
              </a:ext>
            </a:extLst>
          </p:cNvPr>
          <p:cNvSpPr>
            <a:spLocks noGrp="1"/>
          </p:cNvSpPr>
          <p:nvPr>
            <p:ph type="title"/>
          </p:nvPr>
        </p:nvSpPr>
        <p:spPr/>
        <p:txBody>
          <a:bodyPr/>
          <a:lstStyle/>
          <a:p>
            <a:r>
              <a:rPr lang="en-US" altLang="zh-TW" sz="3200" dirty="0"/>
              <a:t>What Happens If You Lack the Essential Components?</a:t>
            </a:r>
            <a:endParaRPr lang="zh-TW" altLang="en-US" sz="3200" dirty="0"/>
          </a:p>
        </p:txBody>
      </p:sp>
      <p:sp>
        <p:nvSpPr>
          <p:cNvPr id="3" name="內容版面配置區 2">
            <a:extLst>
              <a:ext uri="{FF2B5EF4-FFF2-40B4-BE49-F238E27FC236}">
                <a16:creationId xmlns:a16="http://schemas.microsoft.com/office/drawing/2014/main" id="{9969048C-38C6-4F4B-BE8B-542496D4C967}"/>
              </a:ext>
            </a:extLst>
          </p:cNvPr>
          <p:cNvSpPr>
            <a:spLocks noGrp="1"/>
          </p:cNvSpPr>
          <p:nvPr>
            <p:ph idx="1"/>
          </p:nvPr>
        </p:nvSpPr>
        <p:spPr/>
        <p:txBody>
          <a:bodyPr/>
          <a:lstStyle/>
          <a:p>
            <a:pPr marL="0" indent="0">
              <a:buNone/>
            </a:pPr>
            <a:r>
              <a:rPr lang="en-US" altLang="zh-TW" sz="2400" b="1" dirty="0"/>
              <a:t>Model:</a:t>
            </a:r>
            <a:r>
              <a:rPr lang="en-US" altLang="zh-TW" sz="2400" dirty="0"/>
              <a:t> the model does not support function calling</a:t>
            </a:r>
          </a:p>
        </p:txBody>
      </p:sp>
      <p:sp>
        <p:nvSpPr>
          <p:cNvPr id="4" name="投影片編號版面配置區 3">
            <a:extLst>
              <a:ext uri="{FF2B5EF4-FFF2-40B4-BE49-F238E27FC236}">
                <a16:creationId xmlns:a16="http://schemas.microsoft.com/office/drawing/2014/main" id="{D946F3CA-D68C-4A9D-86B0-6BF0FA1EAC9D}"/>
              </a:ext>
            </a:extLst>
          </p:cNvPr>
          <p:cNvSpPr>
            <a:spLocks noGrp="1"/>
          </p:cNvSpPr>
          <p:nvPr>
            <p:ph type="sldNum" sz="quarter" idx="10"/>
          </p:nvPr>
        </p:nvSpPr>
        <p:spPr/>
        <p:txBody>
          <a:bodyPr/>
          <a:lstStyle/>
          <a:p>
            <a:pPr>
              <a:defRPr/>
            </a:pPr>
            <a:fld id="{CF627BE3-1269-44D5-A349-82FD5D94EBD8}" type="slidenum">
              <a:rPr lang="en-US" altLang="zh-TW" smtClean="0"/>
              <a:pPr>
                <a:defRPr/>
              </a:pPr>
              <a:t>23</a:t>
            </a:fld>
            <a:endParaRPr lang="en-US" altLang="zh-TW"/>
          </a:p>
        </p:txBody>
      </p:sp>
      <p:pic>
        <p:nvPicPr>
          <p:cNvPr id="2050" name="Picture 2">
            <a:extLst>
              <a:ext uri="{FF2B5EF4-FFF2-40B4-BE49-F238E27FC236}">
                <a16:creationId xmlns:a16="http://schemas.microsoft.com/office/drawing/2014/main" id="{3F4F6714-45C6-47D7-8F8C-9844463183DB}"/>
              </a:ext>
            </a:extLst>
          </p:cNvPr>
          <p:cNvPicPr>
            <a:picLocks noChangeAspect="1" noChangeArrowheads="1"/>
          </p:cNvPicPr>
          <p:nvPr/>
        </p:nvPicPr>
        <p:blipFill rotWithShape="1">
          <a:blip r:embed="rId3">
            <a:clrChange>
              <a:clrFrom>
                <a:srgbClr val="FCFBFB"/>
              </a:clrFrom>
              <a:clrTo>
                <a:srgbClr val="FCFBFB">
                  <a:alpha val="0"/>
                </a:srgbClr>
              </a:clrTo>
            </a:clrChange>
            <a:extLst>
              <a:ext uri="{28A0092B-C50C-407E-A947-70E740481C1C}">
                <a14:useLocalDpi xmlns:a14="http://schemas.microsoft.com/office/drawing/2010/main" val="0"/>
              </a:ext>
            </a:extLst>
          </a:blip>
          <a:srcRect l="53407" t="27333" r="667" b="7556"/>
          <a:stretch/>
        </p:blipFill>
        <p:spPr bwMode="auto">
          <a:xfrm>
            <a:off x="1286933" y="2283639"/>
            <a:ext cx="4587828" cy="4336237"/>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4368A69B-5C8A-4AF3-A261-84B3266E0947}"/>
              </a:ext>
            </a:extLst>
          </p:cNvPr>
          <p:cNvSpPr txBox="1"/>
          <p:nvPr/>
        </p:nvSpPr>
        <p:spPr>
          <a:xfrm>
            <a:off x="6356188" y="2616555"/>
            <a:ext cx="4251960" cy="707886"/>
          </a:xfrm>
          <a:prstGeom prst="rect">
            <a:avLst/>
          </a:prstGeom>
          <a:noFill/>
        </p:spPr>
        <p:txBody>
          <a:bodyPr wrap="square" rtlCol="0">
            <a:spAutoFit/>
          </a:bodyPr>
          <a:lstStyle/>
          <a:p>
            <a:r>
              <a:rPr lang="en-US" altLang="zh-TW" sz="2000" dirty="0"/>
              <a:t>GPT, mistral, </a:t>
            </a:r>
            <a:r>
              <a:rPr lang="en-US" altLang="zh-TW" sz="2000" dirty="0" err="1"/>
              <a:t>deepseek</a:t>
            </a:r>
            <a:r>
              <a:rPr lang="en-US" altLang="zh-TW" sz="2000" dirty="0"/>
              <a:t>, breeze, phi, </a:t>
            </a:r>
            <a:r>
              <a:rPr lang="en-US" altLang="zh-TW" sz="2000" dirty="0" err="1"/>
              <a:t>gemma</a:t>
            </a:r>
            <a:endParaRPr lang="zh-TW" altLang="en-US" sz="2000" dirty="0"/>
          </a:p>
        </p:txBody>
      </p:sp>
      <p:sp>
        <p:nvSpPr>
          <p:cNvPr id="7" name="文字方塊 6">
            <a:extLst>
              <a:ext uri="{FF2B5EF4-FFF2-40B4-BE49-F238E27FC236}">
                <a16:creationId xmlns:a16="http://schemas.microsoft.com/office/drawing/2014/main" id="{D880CB21-FD6A-4A59-83C9-D8DB2F313850}"/>
              </a:ext>
            </a:extLst>
          </p:cNvPr>
          <p:cNvSpPr txBox="1"/>
          <p:nvPr/>
        </p:nvSpPr>
        <p:spPr>
          <a:xfrm>
            <a:off x="6356188" y="3840504"/>
            <a:ext cx="4251960" cy="1015663"/>
          </a:xfrm>
          <a:prstGeom prst="rect">
            <a:avLst/>
          </a:prstGeom>
          <a:noFill/>
        </p:spPr>
        <p:txBody>
          <a:bodyPr wrap="square" rtlCol="0">
            <a:spAutoFit/>
          </a:bodyPr>
          <a:lstStyle/>
          <a:p>
            <a:r>
              <a:rPr lang="en-US" altLang="zh-TW" sz="2000" dirty="0"/>
              <a:t>(If model has good comprehension) Adjust function descriptions, provide examples for few shot learning</a:t>
            </a:r>
            <a:endParaRPr lang="zh-TW" altLang="en-US" sz="2000" dirty="0"/>
          </a:p>
        </p:txBody>
      </p:sp>
      <p:sp>
        <p:nvSpPr>
          <p:cNvPr id="8" name="文字方塊 7">
            <a:extLst>
              <a:ext uri="{FF2B5EF4-FFF2-40B4-BE49-F238E27FC236}">
                <a16:creationId xmlns:a16="http://schemas.microsoft.com/office/drawing/2014/main" id="{70C5A88D-5CCA-45CF-96AD-9D7F41E7F6E8}"/>
              </a:ext>
            </a:extLst>
          </p:cNvPr>
          <p:cNvSpPr txBox="1"/>
          <p:nvPr/>
        </p:nvSpPr>
        <p:spPr>
          <a:xfrm>
            <a:off x="6356188" y="5489715"/>
            <a:ext cx="4251960" cy="707886"/>
          </a:xfrm>
          <a:prstGeom prst="rect">
            <a:avLst/>
          </a:prstGeom>
          <a:noFill/>
        </p:spPr>
        <p:txBody>
          <a:bodyPr wrap="square" rtlCol="0">
            <a:spAutoFit/>
          </a:bodyPr>
          <a:lstStyle/>
          <a:p>
            <a:r>
              <a:rPr lang="en-US" altLang="zh-TW" sz="2000" dirty="0"/>
              <a:t>Train the model on public/custom function calling datasets*</a:t>
            </a:r>
            <a:endParaRPr lang="zh-TW" altLang="en-US" sz="2000" dirty="0"/>
          </a:p>
        </p:txBody>
      </p:sp>
    </p:spTree>
    <p:extLst>
      <p:ext uri="{BB962C8B-B14F-4D97-AF65-F5344CB8AC3E}">
        <p14:creationId xmlns:p14="http://schemas.microsoft.com/office/powerpoint/2010/main" val="2192225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146FD8-9073-4D75-8BB6-6AA13D85FED0}"/>
              </a:ext>
            </a:extLst>
          </p:cNvPr>
          <p:cNvSpPr>
            <a:spLocks noGrp="1"/>
          </p:cNvSpPr>
          <p:nvPr>
            <p:ph type="title"/>
          </p:nvPr>
        </p:nvSpPr>
        <p:spPr/>
        <p:txBody>
          <a:bodyPr/>
          <a:lstStyle/>
          <a:p>
            <a:r>
              <a:rPr lang="en-US" altLang="zh-TW" sz="3200" dirty="0"/>
              <a:t>What Happens If You Lack the Essential Components?</a:t>
            </a:r>
            <a:endParaRPr lang="zh-TW" altLang="en-US" sz="3200" dirty="0"/>
          </a:p>
        </p:txBody>
      </p:sp>
      <p:sp>
        <p:nvSpPr>
          <p:cNvPr id="3" name="內容版面配置區 2">
            <a:extLst>
              <a:ext uri="{FF2B5EF4-FFF2-40B4-BE49-F238E27FC236}">
                <a16:creationId xmlns:a16="http://schemas.microsoft.com/office/drawing/2014/main" id="{9969048C-38C6-4F4B-BE8B-542496D4C967}"/>
              </a:ext>
            </a:extLst>
          </p:cNvPr>
          <p:cNvSpPr>
            <a:spLocks noGrp="1"/>
          </p:cNvSpPr>
          <p:nvPr>
            <p:ph idx="1"/>
          </p:nvPr>
        </p:nvSpPr>
        <p:spPr/>
        <p:txBody>
          <a:bodyPr/>
          <a:lstStyle/>
          <a:p>
            <a:pPr marL="0" indent="0">
              <a:buNone/>
            </a:pPr>
            <a:r>
              <a:rPr lang="en-US" altLang="zh-TW" sz="2400" b="1" dirty="0"/>
              <a:t>Prompt: </a:t>
            </a:r>
            <a:r>
              <a:rPr lang="en-US" altLang="zh-TW" sz="2400" dirty="0"/>
              <a:t>if the model supports function calling/has good text comprehension, how can you improve function calling performance in the following cases? </a:t>
            </a:r>
          </a:p>
          <a:p>
            <a:pPr marL="857250" lvl="1" indent="-457200">
              <a:buFont typeface="+mj-lt"/>
              <a:buAutoNum type="arabicPeriod"/>
            </a:pPr>
            <a:r>
              <a:rPr lang="en-US" altLang="zh-TW" sz="2000" dirty="0"/>
              <a:t>Function output format is incorrect</a:t>
            </a:r>
          </a:p>
          <a:p>
            <a:pPr marL="1257300" lvl="2" indent="-457200"/>
            <a:r>
              <a:rPr lang="en-US" altLang="zh-TW" sz="1600" dirty="0"/>
              <a:t>Few shot learning, use special tokens (&lt;functional&gt;, etc.)</a:t>
            </a:r>
          </a:p>
          <a:p>
            <a:pPr marL="857250" lvl="1" indent="-457200">
              <a:buFont typeface="+mj-lt"/>
              <a:buAutoNum type="arabicPeriod"/>
            </a:pPr>
            <a:r>
              <a:rPr lang="en-US" altLang="zh-TW" sz="2000" dirty="0"/>
              <a:t>Some functions are not getting called/called more than others</a:t>
            </a:r>
          </a:p>
          <a:p>
            <a:pPr marL="1257300" lvl="2" indent="-457200"/>
            <a:r>
              <a:rPr lang="en-US" altLang="zh-TW" sz="1600" dirty="0"/>
              <a:t>Check max input size, make sure there isn’t too much overlap between functions</a:t>
            </a:r>
          </a:p>
          <a:p>
            <a:pPr marL="857250" lvl="1" indent="-457200">
              <a:buFont typeface="+mj-lt"/>
              <a:buAutoNum type="arabicPeriod"/>
            </a:pPr>
            <a:r>
              <a:rPr lang="en-US" altLang="zh-TW" sz="2000" dirty="0"/>
              <a:t>The model only outputs formatted text and lost the ability to chat normally</a:t>
            </a:r>
          </a:p>
          <a:p>
            <a:pPr marL="1257300" lvl="2" indent="-457200"/>
            <a:r>
              <a:rPr lang="en-US" altLang="zh-TW" sz="1600" dirty="0"/>
              <a:t>Adjust system prompt to instruct model to only use function call when applicable, consider using multi-agent systems (one for parsing functions, another for chatting)</a:t>
            </a:r>
          </a:p>
        </p:txBody>
      </p:sp>
      <p:sp>
        <p:nvSpPr>
          <p:cNvPr id="4" name="投影片編號版面配置區 3">
            <a:extLst>
              <a:ext uri="{FF2B5EF4-FFF2-40B4-BE49-F238E27FC236}">
                <a16:creationId xmlns:a16="http://schemas.microsoft.com/office/drawing/2014/main" id="{D946F3CA-D68C-4A9D-86B0-6BF0FA1EAC9D}"/>
              </a:ext>
            </a:extLst>
          </p:cNvPr>
          <p:cNvSpPr>
            <a:spLocks noGrp="1"/>
          </p:cNvSpPr>
          <p:nvPr>
            <p:ph type="sldNum" sz="quarter" idx="10"/>
          </p:nvPr>
        </p:nvSpPr>
        <p:spPr/>
        <p:txBody>
          <a:bodyPr/>
          <a:lstStyle/>
          <a:p>
            <a:pPr>
              <a:defRPr/>
            </a:pPr>
            <a:fld id="{CF627BE3-1269-44D5-A349-82FD5D94EBD8}" type="slidenum">
              <a:rPr lang="en-US" altLang="zh-TW" smtClean="0"/>
              <a:pPr>
                <a:defRPr/>
              </a:pPr>
              <a:t>24</a:t>
            </a:fld>
            <a:endParaRPr lang="en-US" altLang="zh-TW"/>
          </a:p>
        </p:txBody>
      </p:sp>
    </p:spTree>
    <p:extLst>
      <p:ext uri="{BB962C8B-B14F-4D97-AF65-F5344CB8AC3E}">
        <p14:creationId xmlns:p14="http://schemas.microsoft.com/office/powerpoint/2010/main" val="3472416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146FD8-9073-4D75-8BB6-6AA13D85FED0}"/>
              </a:ext>
            </a:extLst>
          </p:cNvPr>
          <p:cNvSpPr>
            <a:spLocks noGrp="1"/>
          </p:cNvSpPr>
          <p:nvPr>
            <p:ph type="title"/>
          </p:nvPr>
        </p:nvSpPr>
        <p:spPr/>
        <p:txBody>
          <a:bodyPr/>
          <a:lstStyle/>
          <a:p>
            <a:r>
              <a:rPr lang="en-US" altLang="zh-TW" sz="3200" dirty="0"/>
              <a:t>What Happens If You Lack the Essential Components?</a:t>
            </a:r>
            <a:endParaRPr lang="zh-TW" altLang="en-US" sz="3200" dirty="0"/>
          </a:p>
        </p:txBody>
      </p:sp>
      <p:sp>
        <p:nvSpPr>
          <p:cNvPr id="3" name="內容版面配置區 2">
            <a:extLst>
              <a:ext uri="{FF2B5EF4-FFF2-40B4-BE49-F238E27FC236}">
                <a16:creationId xmlns:a16="http://schemas.microsoft.com/office/drawing/2014/main" id="{9969048C-38C6-4F4B-BE8B-542496D4C967}"/>
              </a:ext>
            </a:extLst>
          </p:cNvPr>
          <p:cNvSpPr>
            <a:spLocks noGrp="1"/>
          </p:cNvSpPr>
          <p:nvPr>
            <p:ph idx="1"/>
          </p:nvPr>
        </p:nvSpPr>
        <p:spPr/>
        <p:txBody>
          <a:bodyPr/>
          <a:lstStyle/>
          <a:p>
            <a:pPr marL="0" indent="0">
              <a:buNone/>
            </a:pPr>
            <a:r>
              <a:rPr lang="en-US" altLang="zh-TW" sz="2400" dirty="0"/>
              <a:t>External API: does the application have official API support?</a:t>
            </a:r>
          </a:p>
          <a:p>
            <a:pPr>
              <a:buFont typeface="Wingdings" panose="05000000000000000000" pitchFamily="2" charset="2"/>
              <a:buChar char="ü"/>
            </a:pPr>
            <a:r>
              <a:rPr lang="en-US" altLang="zh-TW" sz="2400" dirty="0"/>
              <a:t>Yes</a:t>
            </a:r>
          </a:p>
          <a:p>
            <a:pPr marL="857250" lvl="1" indent="-457200">
              <a:buFont typeface="+mj-lt"/>
              <a:buAutoNum type="arabicPeriod"/>
            </a:pPr>
            <a:r>
              <a:rPr lang="en-US" altLang="zh-TW" sz="2000" dirty="0"/>
              <a:t>Then there’s no problem, just pick out the functions you need and determine what parameters to parse as inputs</a:t>
            </a:r>
          </a:p>
          <a:p>
            <a:pPr>
              <a:buFont typeface="Wingdings" panose="05000000000000000000" pitchFamily="2" charset="2"/>
              <a:buChar char="û"/>
            </a:pPr>
            <a:r>
              <a:rPr lang="en-US" altLang="zh-TW" sz="2400" dirty="0"/>
              <a:t>No</a:t>
            </a:r>
          </a:p>
          <a:p>
            <a:pPr marL="857250" marR="0" lvl="1" indent="-457200" algn="l" defTabSz="914400" rtl="0" eaLnBrk="0" fontAlgn="base" latinLnBrk="0" hangingPunct="0">
              <a:lnSpc>
                <a:spcPct val="100000"/>
              </a:lnSpc>
              <a:spcBef>
                <a:spcPct val="20000"/>
              </a:spcBef>
              <a:spcAft>
                <a:spcPct val="0"/>
              </a:spcAft>
              <a:buClrTx/>
              <a:buSzTx/>
              <a:buFont typeface="+mj-lt"/>
              <a:buAutoNum type="arabicPeriod"/>
              <a:tabLst/>
              <a:defRPr/>
            </a:pPr>
            <a:r>
              <a:rPr kumimoji="1" lang="en-US" altLang="zh-TW" sz="2000" b="0" i="0" u="none" strike="noStrike" kern="0" cap="none" spc="0" normalizeH="0" baseline="0" noProof="0" dirty="0">
                <a:ln>
                  <a:noFill/>
                </a:ln>
                <a:solidFill>
                  <a:srgbClr val="000000"/>
                </a:solidFill>
                <a:effectLst/>
                <a:uLnTx/>
                <a:uFillTx/>
                <a:latin typeface="Arial"/>
                <a:ea typeface="微軟正黑體"/>
              </a:rPr>
              <a:t>Hack the application and write your own API</a:t>
            </a:r>
          </a:p>
          <a:p>
            <a:pPr marL="857250" marR="0" lvl="1" indent="-457200" algn="l" defTabSz="914400" rtl="0" eaLnBrk="0" fontAlgn="base" latinLnBrk="0" hangingPunct="0">
              <a:lnSpc>
                <a:spcPct val="100000"/>
              </a:lnSpc>
              <a:spcBef>
                <a:spcPct val="20000"/>
              </a:spcBef>
              <a:spcAft>
                <a:spcPct val="0"/>
              </a:spcAft>
              <a:buClrTx/>
              <a:buSzTx/>
              <a:buFont typeface="+mj-lt"/>
              <a:buAutoNum type="arabicPeriod"/>
              <a:tabLst/>
              <a:defRPr/>
            </a:pPr>
            <a:r>
              <a:rPr kumimoji="1" lang="en-US" altLang="zh-TW" sz="2000" b="0" i="0" u="none" strike="noStrike" kern="0" cap="none" spc="0" normalizeH="0" baseline="0" noProof="0" dirty="0">
                <a:ln>
                  <a:noFill/>
                </a:ln>
                <a:solidFill>
                  <a:srgbClr val="000000"/>
                </a:solidFill>
                <a:effectLst/>
                <a:uLnTx/>
                <a:uFillTx/>
                <a:latin typeface="Arial"/>
                <a:ea typeface="微軟正黑體"/>
              </a:rPr>
              <a:t>Find alternative applications</a:t>
            </a:r>
            <a:endParaRPr lang="en-US" altLang="zh-TW" sz="2400" dirty="0"/>
          </a:p>
        </p:txBody>
      </p:sp>
      <p:sp>
        <p:nvSpPr>
          <p:cNvPr id="4" name="投影片編號版面配置區 3">
            <a:extLst>
              <a:ext uri="{FF2B5EF4-FFF2-40B4-BE49-F238E27FC236}">
                <a16:creationId xmlns:a16="http://schemas.microsoft.com/office/drawing/2014/main" id="{D946F3CA-D68C-4A9D-86B0-6BF0FA1EAC9D}"/>
              </a:ext>
            </a:extLst>
          </p:cNvPr>
          <p:cNvSpPr>
            <a:spLocks noGrp="1"/>
          </p:cNvSpPr>
          <p:nvPr>
            <p:ph type="sldNum" sz="quarter" idx="10"/>
          </p:nvPr>
        </p:nvSpPr>
        <p:spPr/>
        <p:txBody>
          <a:bodyPr/>
          <a:lstStyle/>
          <a:p>
            <a:pPr>
              <a:defRPr/>
            </a:pPr>
            <a:fld id="{CF627BE3-1269-44D5-A349-82FD5D94EBD8}" type="slidenum">
              <a:rPr lang="en-US" altLang="zh-TW" smtClean="0"/>
              <a:pPr>
                <a:defRPr/>
              </a:pPr>
              <a:t>25</a:t>
            </a:fld>
            <a:endParaRPr lang="en-US" altLang="zh-TW"/>
          </a:p>
        </p:txBody>
      </p:sp>
    </p:spTree>
    <p:extLst>
      <p:ext uri="{BB962C8B-B14F-4D97-AF65-F5344CB8AC3E}">
        <p14:creationId xmlns:p14="http://schemas.microsoft.com/office/powerpoint/2010/main" val="3996421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F82D2-E3FB-4FFC-AB85-43F6B7054319}"/>
              </a:ext>
            </a:extLst>
          </p:cNvPr>
          <p:cNvSpPr>
            <a:spLocks noGrp="1"/>
          </p:cNvSpPr>
          <p:nvPr>
            <p:ph type="title"/>
          </p:nvPr>
        </p:nvSpPr>
        <p:spPr/>
        <p:txBody>
          <a:bodyPr/>
          <a:lstStyle/>
          <a:p>
            <a:r>
              <a:rPr lang="en-US" altLang="zh-TW" dirty="0"/>
              <a:t>Our Model Can Call Functions, Now What?</a:t>
            </a:r>
            <a:br>
              <a:rPr lang="en-US" altLang="zh-TW" dirty="0"/>
            </a:br>
            <a:endParaRPr lang="zh-TW" altLang="en-US" dirty="0"/>
          </a:p>
        </p:txBody>
      </p:sp>
      <p:sp>
        <p:nvSpPr>
          <p:cNvPr id="3" name="內容版面配置區 2">
            <a:extLst>
              <a:ext uri="{FF2B5EF4-FFF2-40B4-BE49-F238E27FC236}">
                <a16:creationId xmlns:a16="http://schemas.microsoft.com/office/drawing/2014/main" id="{97B8B9FF-EA46-4BC9-8A9A-4B45C925BC1C}"/>
              </a:ext>
            </a:extLst>
          </p:cNvPr>
          <p:cNvSpPr>
            <a:spLocks noGrp="1"/>
          </p:cNvSpPr>
          <p:nvPr>
            <p:ph idx="1"/>
          </p:nvPr>
        </p:nvSpPr>
        <p:spPr/>
        <p:txBody>
          <a:bodyPr/>
          <a:lstStyle/>
          <a:p>
            <a:pPr marL="0" indent="0">
              <a:buNone/>
            </a:pPr>
            <a:r>
              <a:rPr lang="zh-TW" altLang="en-US" sz="2400" dirty="0"/>
              <a:t>✅ </a:t>
            </a:r>
            <a:r>
              <a:rPr lang="en-US" altLang="zh-TW" sz="2400" b="1" dirty="0"/>
              <a:t>Model:</a:t>
            </a:r>
            <a:r>
              <a:rPr lang="en-US" altLang="zh-TW" sz="2400" dirty="0"/>
              <a:t> does the model support function calling?</a:t>
            </a:r>
          </a:p>
          <a:p>
            <a:pPr marL="0" indent="0">
              <a:buNone/>
            </a:pPr>
            <a:r>
              <a:rPr lang="en-US" altLang="zh-TW" sz="2400" b="1" dirty="0"/>
              <a:t>❓️ Prompt:</a:t>
            </a:r>
            <a:r>
              <a:rPr lang="en-US" altLang="zh-TW" sz="2400" dirty="0"/>
              <a:t> do the function descriptions describe the task clearly? Is the prompt clear?</a:t>
            </a:r>
          </a:p>
          <a:p>
            <a:pPr marL="0" indent="0">
              <a:buNone/>
            </a:pPr>
            <a:r>
              <a:rPr lang="en-US" altLang="zh-TW" sz="2400" b="1" dirty="0"/>
              <a:t>❓️ External API:</a:t>
            </a:r>
            <a:r>
              <a:rPr lang="en-US" altLang="zh-TW" sz="2400" dirty="0"/>
              <a:t> does the application have API support?</a:t>
            </a:r>
          </a:p>
          <a:p>
            <a:pPr marL="0" indent="0">
              <a:buNone/>
            </a:pPr>
            <a:endParaRPr lang="en-US" altLang="zh-TW" sz="2400" dirty="0"/>
          </a:p>
          <a:p>
            <a:pPr marL="0" indent="0">
              <a:buNone/>
            </a:pPr>
            <a:endParaRPr lang="en-US" altLang="zh-TW" sz="2400" dirty="0"/>
          </a:p>
          <a:p>
            <a:pPr>
              <a:buFont typeface="Wingdings" panose="05000000000000000000" pitchFamily="2" charset="2"/>
              <a:buChar char="Ø"/>
            </a:pPr>
            <a:r>
              <a:rPr lang="en-US" altLang="zh-TW" sz="2400" dirty="0"/>
              <a:t>Before we craft our prompt, we need to know what task we are performing.</a:t>
            </a:r>
          </a:p>
        </p:txBody>
      </p:sp>
      <p:sp>
        <p:nvSpPr>
          <p:cNvPr id="4" name="投影片編號版面配置區 3">
            <a:extLst>
              <a:ext uri="{FF2B5EF4-FFF2-40B4-BE49-F238E27FC236}">
                <a16:creationId xmlns:a16="http://schemas.microsoft.com/office/drawing/2014/main" id="{567D7C10-D204-42B4-9FF5-111980046C82}"/>
              </a:ext>
            </a:extLst>
          </p:cNvPr>
          <p:cNvSpPr>
            <a:spLocks noGrp="1"/>
          </p:cNvSpPr>
          <p:nvPr>
            <p:ph type="sldNum" sz="quarter" idx="10"/>
          </p:nvPr>
        </p:nvSpPr>
        <p:spPr/>
        <p:txBody>
          <a:bodyPr/>
          <a:lstStyle/>
          <a:p>
            <a:pPr>
              <a:defRPr/>
            </a:pPr>
            <a:fld id="{CF627BE3-1269-44D5-A349-82FD5D94EBD8}" type="slidenum">
              <a:rPr lang="en-US" altLang="zh-TW" smtClean="0"/>
              <a:pPr>
                <a:defRPr/>
              </a:pPr>
              <a:t>26</a:t>
            </a:fld>
            <a:endParaRPr lang="en-US" altLang="zh-TW"/>
          </a:p>
        </p:txBody>
      </p:sp>
    </p:spTree>
    <p:extLst>
      <p:ext uri="{BB962C8B-B14F-4D97-AF65-F5344CB8AC3E}">
        <p14:creationId xmlns:p14="http://schemas.microsoft.com/office/powerpoint/2010/main" val="3250282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F82D2-E3FB-4FFC-AB85-43F6B7054319}"/>
              </a:ext>
            </a:extLst>
          </p:cNvPr>
          <p:cNvSpPr>
            <a:spLocks noGrp="1"/>
          </p:cNvSpPr>
          <p:nvPr>
            <p:ph type="title"/>
          </p:nvPr>
        </p:nvSpPr>
        <p:spPr/>
        <p:txBody>
          <a:bodyPr/>
          <a:lstStyle/>
          <a:p>
            <a:r>
              <a:rPr lang="en-US" altLang="zh-TW" dirty="0"/>
              <a:t>Our Model Can Call Functions, Now What?</a:t>
            </a:r>
            <a:br>
              <a:rPr lang="en-US" altLang="zh-TW" dirty="0"/>
            </a:br>
            <a:endParaRPr lang="zh-TW" altLang="en-US" dirty="0"/>
          </a:p>
        </p:txBody>
      </p:sp>
      <p:sp>
        <p:nvSpPr>
          <p:cNvPr id="3" name="內容版面配置區 2">
            <a:extLst>
              <a:ext uri="{FF2B5EF4-FFF2-40B4-BE49-F238E27FC236}">
                <a16:creationId xmlns:a16="http://schemas.microsoft.com/office/drawing/2014/main" id="{97B8B9FF-EA46-4BC9-8A9A-4B45C925BC1C}"/>
              </a:ext>
            </a:extLst>
          </p:cNvPr>
          <p:cNvSpPr>
            <a:spLocks noGrp="1"/>
          </p:cNvSpPr>
          <p:nvPr>
            <p:ph idx="1"/>
          </p:nvPr>
        </p:nvSpPr>
        <p:spPr/>
        <p:txBody>
          <a:bodyPr/>
          <a:lstStyle/>
          <a:p>
            <a:pPr rtl="0">
              <a:spcBef>
                <a:spcPts val="0"/>
              </a:spcBef>
              <a:spcAft>
                <a:spcPts val="1200"/>
              </a:spcAft>
            </a:pPr>
            <a:endParaRPr lang="en-US" altLang="zh-TW" sz="1800" dirty="0">
              <a:solidFill>
                <a:srgbClr val="595959"/>
              </a:solidFill>
              <a:latin typeface="Arial" panose="020B0604020202020204" pitchFamily="34" charset="0"/>
            </a:endParaRPr>
          </a:p>
          <a:p>
            <a:pPr rtl="0">
              <a:spcBef>
                <a:spcPts val="0"/>
              </a:spcBef>
              <a:spcAft>
                <a:spcPts val="1200"/>
              </a:spcAft>
            </a:pPr>
            <a:r>
              <a:rPr lang="en-US" altLang="zh-TW" sz="1800" b="0" i="0" u="none" strike="noStrike" dirty="0">
                <a:solidFill>
                  <a:srgbClr val="595959"/>
                </a:solidFill>
                <a:effectLst/>
                <a:latin typeface="Arial" panose="020B0604020202020204" pitchFamily="34" charset="0"/>
              </a:rPr>
              <a:t>Decide on which API you are using:</a:t>
            </a:r>
          </a:p>
          <a:p>
            <a:pPr lvl="1">
              <a:spcBef>
                <a:spcPts val="0"/>
              </a:spcBef>
              <a:spcAft>
                <a:spcPts val="1200"/>
              </a:spcAft>
            </a:pPr>
            <a:r>
              <a:rPr lang="en-US" altLang="zh-TW" sz="1400" dirty="0">
                <a:solidFill>
                  <a:srgbClr val="595959"/>
                </a:solidFill>
                <a:latin typeface="Arial" panose="020B0604020202020204" pitchFamily="34" charset="0"/>
              </a:rPr>
              <a:t>Example: Open-</a:t>
            </a:r>
            <a:r>
              <a:rPr lang="en-US" altLang="zh-TW" sz="1400" dirty="0" err="1">
                <a:solidFill>
                  <a:srgbClr val="595959"/>
                </a:solidFill>
                <a:latin typeface="Arial" panose="020B0604020202020204" pitchFamily="34" charset="0"/>
              </a:rPr>
              <a:t>Meteo</a:t>
            </a:r>
            <a:r>
              <a:rPr lang="en-US" altLang="zh-TW" sz="1400" dirty="0">
                <a:solidFill>
                  <a:srgbClr val="595959"/>
                </a:solidFill>
                <a:latin typeface="Arial" panose="020B0604020202020204" pitchFamily="34" charset="0"/>
              </a:rPr>
              <a:t> (free open source weather </a:t>
            </a:r>
          </a:p>
          <a:p>
            <a:pPr marL="457200" lvl="1" indent="0">
              <a:spcBef>
                <a:spcPts val="0"/>
              </a:spcBef>
              <a:spcAft>
                <a:spcPts val="1200"/>
              </a:spcAft>
              <a:buNone/>
            </a:pPr>
            <a:r>
              <a:rPr lang="en-US" altLang="zh-TW" sz="1400" dirty="0">
                <a:solidFill>
                  <a:srgbClr val="595959"/>
                </a:solidFill>
                <a:latin typeface="Arial" panose="020B0604020202020204" pitchFamily="34" charset="0"/>
              </a:rPr>
              <a:t>      forecast API)</a:t>
            </a:r>
          </a:p>
          <a:p>
            <a:pPr rtl="0">
              <a:spcBef>
                <a:spcPts val="0"/>
              </a:spcBef>
              <a:spcAft>
                <a:spcPts val="1200"/>
              </a:spcAft>
            </a:pPr>
            <a:r>
              <a:rPr lang="en-US" altLang="zh-TW" sz="1800" dirty="0">
                <a:solidFill>
                  <a:srgbClr val="595959"/>
                </a:solidFill>
                <a:latin typeface="Arial" panose="020B0604020202020204" pitchFamily="34" charset="0"/>
              </a:rPr>
              <a:t>Pick out the functions you will use:</a:t>
            </a:r>
          </a:p>
          <a:p>
            <a:pPr lvl="1">
              <a:spcBef>
                <a:spcPts val="0"/>
              </a:spcBef>
              <a:spcAft>
                <a:spcPts val="1200"/>
              </a:spcAft>
            </a:pPr>
            <a:r>
              <a:rPr lang="en-US" altLang="zh-TW" sz="1400" b="0" i="0" u="none" strike="noStrike" dirty="0">
                <a:solidFill>
                  <a:srgbClr val="595959"/>
                </a:solidFill>
                <a:effectLst/>
                <a:latin typeface="Arial" panose="020B0604020202020204" pitchFamily="34" charset="0"/>
              </a:rPr>
              <a:t>Example: </a:t>
            </a:r>
            <a:r>
              <a:rPr lang="en-US" altLang="zh-TW" sz="1400" b="0" i="0" u="none" strike="noStrike" dirty="0" err="1">
                <a:solidFill>
                  <a:srgbClr val="595959"/>
                </a:solidFill>
                <a:effectLst/>
                <a:latin typeface="Arial" panose="020B0604020202020204" pitchFamily="34" charset="0"/>
              </a:rPr>
              <a:t>get_weather</a:t>
            </a:r>
            <a:r>
              <a:rPr lang="en-US" altLang="zh-TW" sz="1400" b="0" i="0" u="none" strike="noStrike" dirty="0">
                <a:solidFill>
                  <a:srgbClr val="595959"/>
                </a:solidFill>
                <a:effectLst/>
                <a:latin typeface="Arial" panose="020B0604020202020204" pitchFamily="34" charset="0"/>
              </a:rPr>
              <a:t>(latitude, longitude)</a:t>
            </a:r>
          </a:p>
          <a:p>
            <a:pPr lvl="1">
              <a:spcBef>
                <a:spcPts val="0"/>
              </a:spcBef>
              <a:spcAft>
                <a:spcPts val="1200"/>
              </a:spcAft>
            </a:pPr>
            <a:r>
              <a:rPr lang="en-US" altLang="zh-TW" sz="1400" b="0" i="0" u="none" strike="noStrike" dirty="0">
                <a:solidFill>
                  <a:srgbClr val="595959"/>
                </a:solidFill>
                <a:effectLst/>
                <a:latin typeface="Arial" panose="020B0604020202020204" pitchFamily="34" charset="0"/>
              </a:rPr>
              <a:t>Input: (12, 12)</a:t>
            </a:r>
          </a:p>
          <a:p>
            <a:pPr lvl="1">
              <a:spcBef>
                <a:spcPts val="0"/>
              </a:spcBef>
              <a:spcAft>
                <a:spcPts val="1200"/>
              </a:spcAft>
            </a:pPr>
            <a:r>
              <a:rPr lang="en-US" altLang="zh-TW" sz="1400" dirty="0">
                <a:solidFill>
                  <a:srgbClr val="595959"/>
                </a:solidFill>
                <a:latin typeface="Arial" panose="020B0604020202020204" pitchFamily="34" charset="0"/>
              </a:rPr>
              <a:t>Output: json with </a:t>
            </a:r>
            <a:r>
              <a:rPr lang="en-US" altLang="zh-TW" sz="1400" b="1" dirty="0">
                <a:solidFill>
                  <a:srgbClr val="595959"/>
                </a:solidFill>
                <a:latin typeface="Arial" panose="020B0604020202020204" pitchFamily="34" charset="0"/>
              </a:rPr>
              <a:t>current time</a:t>
            </a:r>
            <a:r>
              <a:rPr lang="en-US" altLang="zh-TW" sz="1400" dirty="0">
                <a:solidFill>
                  <a:srgbClr val="595959"/>
                </a:solidFill>
                <a:latin typeface="Arial" panose="020B0604020202020204" pitchFamily="34" charset="0"/>
              </a:rPr>
              <a:t> and </a:t>
            </a:r>
            <a:r>
              <a:rPr lang="en-US" altLang="zh-TW" sz="1400" b="1" dirty="0">
                <a:solidFill>
                  <a:srgbClr val="595959"/>
                </a:solidFill>
                <a:latin typeface="Arial" panose="020B0604020202020204" pitchFamily="34" charset="0"/>
              </a:rPr>
              <a:t>temperature</a:t>
            </a:r>
          </a:p>
          <a:p>
            <a:pPr lvl="1">
              <a:spcBef>
                <a:spcPts val="0"/>
              </a:spcBef>
              <a:spcAft>
                <a:spcPts val="1200"/>
              </a:spcAft>
            </a:pPr>
            <a:r>
              <a:rPr lang="en-US" altLang="zh-TW" sz="1400" b="1" dirty="0">
                <a:solidFill>
                  <a:srgbClr val="595959"/>
                </a:solidFill>
                <a:latin typeface="Arial" panose="020B0604020202020204" pitchFamily="34" charset="0"/>
              </a:rPr>
              <a:t>Request: https://api.open-meteo.com/v1/forecast?latitude=</a:t>
            </a:r>
            <a:r>
              <a:rPr lang="en-US" altLang="zh-TW" sz="1400" b="1" dirty="0">
                <a:solidFill>
                  <a:srgbClr val="FF0000"/>
                </a:solidFill>
                <a:latin typeface="Arial" panose="020B0604020202020204" pitchFamily="34" charset="0"/>
              </a:rPr>
              <a:t>12</a:t>
            </a:r>
            <a:r>
              <a:rPr lang="en-US" altLang="zh-TW" sz="1400" b="1" dirty="0">
                <a:solidFill>
                  <a:srgbClr val="595959"/>
                </a:solidFill>
                <a:latin typeface="Arial" panose="020B0604020202020204" pitchFamily="34" charset="0"/>
              </a:rPr>
              <a:t>&amp;longitude=</a:t>
            </a:r>
            <a:r>
              <a:rPr lang="en-US" altLang="zh-TW" sz="1400" b="1" dirty="0">
                <a:solidFill>
                  <a:srgbClr val="FF0000"/>
                </a:solidFill>
                <a:latin typeface="Arial" panose="020B0604020202020204" pitchFamily="34" charset="0"/>
              </a:rPr>
              <a:t>12</a:t>
            </a:r>
            <a:r>
              <a:rPr lang="en-US" altLang="zh-TW" sz="1400" b="1" dirty="0">
                <a:solidFill>
                  <a:srgbClr val="595959"/>
                </a:solidFill>
                <a:latin typeface="Arial" panose="020B0604020202020204" pitchFamily="34" charset="0"/>
              </a:rPr>
              <a:t>&amp;current=</a:t>
            </a:r>
            <a:r>
              <a:rPr lang="en-US" altLang="zh-TW" sz="1400" b="1" dirty="0">
                <a:solidFill>
                  <a:srgbClr val="FF0000"/>
                </a:solidFill>
                <a:latin typeface="Arial" panose="020B0604020202020204" pitchFamily="34" charset="0"/>
              </a:rPr>
              <a:t>temperature_2m</a:t>
            </a:r>
          </a:p>
          <a:p>
            <a:pPr>
              <a:spcBef>
                <a:spcPts val="0"/>
              </a:spcBef>
              <a:spcAft>
                <a:spcPts val="1200"/>
              </a:spcAft>
            </a:pPr>
            <a:r>
              <a:rPr lang="en-US" altLang="zh-TW" sz="1800" b="0" i="0" u="none" strike="noStrike" dirty="0">
                <a:solidFill>
                  <a:srgbClr val="595959"/>
                </a:solidFill>
                <a:effectLst/>
                <a:latin typeface="Arial" panose="020B0604020202020204" pitchFamily="34" charset="0"/>
              </a:rPr>
              <a:t>API supports other functions like wind speed,</a:t>
            </a:r>
            <a:r>
              <a:rPr lang="en-US" altLang="zh-TW" sz="1800" dirty="0">
                <a:solidFill>
                  <a:srgbClr val="595959"/>
                </a:solidFill>
                <a:latin typeface="Arial" panose="020B0604020202020204" pitchFamily="34" charset="0"/>
              </a:rPr>
              <a:t> hourly temperature, etc.</a:t>
            </a:r>
          </a:p>
          <a:p>
            <a:pPr rtl="0">
              <a:spcBef>
                <a:spcPts val="0"/>
              </a:spcBef>
              <a:spcAft>
                <a:spcPts val="1200"/>
              </a:spcAft>
            </a:pPr>
            <a:endParaRPr lang="en-US" altLang="zh-TW" sz="1800" b="0" i="0" u="none" strike="noStrike" dirty="0">
              <a:solidFill>
                <a:srgbClr val="595959"/>
              </a:solidFill>
              <a:effectLst/>
              <a:latin typeface="Arial" panose="020B0604020202020204" pitchFamily="34" charset="0"/>
            </a:endParaRPr>
          </a:p>
          <a:p>
            <a:pPr rtl="0">
              <a:spcBef>
                <a:spcPts val="0"/>
              </a:spcBef>
              <a:spcAft>
                <a:spcPts val="1200"/>
              </a:spcAft>
            </a:pPr>
            <a:r>
              <a:rPr lang="en-US" altLang="zh-TW" sz="1800" b="1" dirty="0">
                <a:solidFill>
                  <a:srgbClr val="595959"/>
                </a:solidFill>
                <a:latin typeface="Arial" panose="020B0604020202020204" pitchFamily="34" charset="0"/>
              </a:rPr>
              <a:t>Next step:</a:t>
            </a:r>
            <a:r>
              <a:rPr lang="en-US" altLang="zh-TW" sz="1800" dirty="0">
                <a:solidFill>
                  <a:srgbClr val="595959"/>
                </a:solidFill>
                <a:latin typeface="Arial" panose="020B0604020202020204" pitchFamily="34" charset="0"/>
              </a:rPr>
              <a:t> </a:t>
            </a:r>
            <a:r>
              <a:rPr lang="en-US" altLang="zh-TW" sz="1800" b="0" i="0" u="none" strike="noStrike" dirty="0">
                <a:solidFill>
                  <a:srgbClr val="595959"/>
                </a:solidFill>
                <a:effectLst/>
                <a:latin typeface="Arial" panose="020B0604020202020204" pitchFamily="34" charset="0"/>
              </a:rPr>
              <a:t>crafting functions/tools for LLM to use (description + prompts = use these APIs)</a:t>
            </a:r>
            <a:endParaRPr lang="en-US" altLang="zh-TW" b="0" dirty="0">
              <a:effectLst/>
            </a:endParaRPr>
          </a:p>
        </p:txBody>
      </p:sp>
      <p:sp>
        <p:nvSpPr>
          <p:cNvPr id="4" name="投影片編號版面配置區 3">
            <a:extLst>
              <a:ext uri="{FF2B5EF4-FFF2-40B4-BE49-F238E27FC236}">
                <a16:creationId xmlns:a16="http://schemas.microsoft.com/office/drawing/2014/main" id="{567D7C10-D204-42B4-9FF5-111980046C82}"/>
              </a:ext>
            </a:extLst>
          </p:cNvPr>
          <p:cNvSpPr>
            <a:spLocks noGrp="1"/>
          </p:cNvSpPr>
          <p:nvPr>
            <p:ph type="sldNum" sz="quarter" idx="10"/>
          </p:nvPr>
        </p:nvSpPr>
        <p:spPr/>
        <p:txBody>
          <a:bodyPr/>
          <a:lstStyle/>
          <a:p>
            <a:pPr>
              <a:defRPr/>
            </a:pPr>
            <a:fld id="{CF627BE3-1269-44D5-A349-82FD5D94EBD8}" type="slidenum">
              <a:rPr lang="en-US" altLang="zh-TW" smtClean="0"/>
              <a:pPr>
                <a:defRPr/>
              </a:pPr>
              <a:t>27</a:t>
            </a:fld>
            <a:endParaRPr lang="en-US" altLang="zh-TW"/>
          </a:p>
        </p:txBody>
      </p:sp>
      <p:pic>
        <p:nvPicPr>
          <p:cNvPr id="10" name="圖片 9">
            <a:extLst>
              <a:ext uri="{FF2B5EF4-FFF2-40B4-BE49-F238E27FC236}">
                <a16:creationId xmlns:a16="http://schemas.microsoft.com/office/drawing/2014/main" id="{ECAF15EE-337D-404F-9585-29AE5220AF7F}"/>
              </a:ext>
            </a:extLst>
          </p:cNvPr>
          <p:cNvPicPr>
            <a:picLocks noChangeAspect="1"/>
          </p:cNvPicPr>
          <p:nvPr/>
        </p:nvPicPr>
        <p:blipFill>
          <a:blip r:embed="rId3"/>
          <a:stretch>
            <a:fillRect/>
          </a:stretch>
        </p:blipFill>
        <p:spPr>
          <a:xfrm>
            <a:off x="5983640" y="1017589"/>
            <a:ext cx="5957989" cy="3523613"/>
          </a:xfrm>
          <a:prstGeom prst="rect">
            <a:avLst/>
          </a:prstGeom>
        </p:spPr>
      </p:pic>
      <p:sp>
        <p:nvSpPr>
          <p:cNvPr id="11" name="文字方塊 10">
            <a:extLst>
              <a:ext uri="{FF2B5EF4-FFF2-40B4-BE49-F238E27FC236}">
                <a16:creationId xmlns:a16="http://schemas.microsoft.com/office/drawing/2014/main" id="{1FC614EA-75DC-4657-B490-A08BBB9D451A}"/>
              </a:ext>
            </a:extLst>
          </p:cNvPr>
          <p:cNvSpPr txBox="1"/>
          <p:nvPr/>
        </p:nvSpPr>
        <p:spPr>
          <a:xfrm>
            <a:off x="8376323" y="2782669"/>
            <a:ext cx="2894651" cy="646331"/>
          </a:xfrm>
          <a:prstGeom prst="rect">
            <a:avLst/>
          </a:prstGeom>
          <a:noFill/>
          <a:ln>
            <a:solidFill>
              <a:schemeClr val="tx1"/>
            </a:solidFill>
          </a:ln>
        </p:spPr>
        <p:txBody>
          <a:bodyPr wrap="square" rtlCol="0">
            <a:spAutoFit/>
          </a:bodyPr>
          <a:lstStyle/>
          <a:p>
            <a:pPr algn="ctr"/>
            <a:r>
              <a:rPr lang="en-US" altLang="zh-TW" dirty="0"/>
              <a:t>Open-</a:t>
            </a:r>
            <a:r>
              <a:rPr lang="en-US" altLang="zh-TW" dirty="0" err="1"/>
              <a:t>Meteo’s</a:t>
            </a:r>
            <a:r>
              <a:rPr lang="en-US" altLang="zh-TW" dirty="0"/>
              <a:t> API returns an easily parsed json</a:t>
            </a:r>
            <a:endParaRPr lang="zh-TW" altLang="en-US" dirty="0"/>
          </a:p>
        </p:txBody>
      </p:sp>
    </p:spTree>
    <p:extLst>
      <p:ext uri="{BB962C8B-B14F-4D97-AF65-F5344CB8AC3E}">
        <p14:creationId xmlns:p14="http://schemas.microsoft.com/office/powerpoint/2010/main" val="2263023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Function Calling Prompt Crafting</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p:txBody>
          <a:bodyPr/>
          <a:lstStyle/>
          <a:p>
            <a:pPr marL="0" indent="0">
              <a:buNone/>
            </a:pPr>
            <a:r>
              <a:rPr lang="en-US" altLang="zh-TW" sz="2400" dirty="0"/>
              <a:t>A prompt for function calling contains the following:</a:t>
            </a:r>
          </a:p>
          <a:p>
            <a:r>
              <a:rPr lang="en-US" altLang="zh-TW" sz="2400" dirty="0"/>
              <a:t>General direction/role assignment</a:t>
            </a:r>
          </a:p>
          <a:p>
            <a:r>
              <a:rPr lang="en-US" altLang="zh-TW" sz="2400" dirty="0"/>
              <a:t>Function list</a:t>
            </a:r>
          </a:p>
          <a:p>
            <a:pPr lvl="1"/>
            <a:r>
              <a:rPr lang="en-US" altLang="zh-TW" sz="2000" dirty="0"/>
              <a:t>Function name</a:t>
            </a:r>
          </a:p>
          <a:p>
            <a:pPr lvl="1"/>
            <a:r>
              <a:rPr lang="en-US" altLang="zh-TW" sz="2000" dirty="0"/>
              <a:t>Description</a:t>
            </a:r>
          </a:p>
          <a:p>
            <a:pPr lvl="1"/>
            <a:r>
              <a:rPr lang="en-US" altLang="zh-TW" sz="2000" dirty="0"/>
              <a:t>Function parameter names</a:t>
            </a:r>
          </a:p>
          <a:p>
            <a:pPr lvl="1"/>
            <a:r>
              <a:rPr lang="en-US" altLang="zh-TW" sz="2000" dirty="0"/>
              <a:t>Function parameter descriptions</a:t>
            </a:r>
          </a:p>
          <a:p>
            <a:pPr lvl="1"/>
            <a:r>
              <a:rPr lang="en-US" altLang="zh-TW" sz="2000" dirty="0"/>
              <a:t>Required inputs</a:t>
            </a:r>
          </a:p>
          <a:p>
            <a:r>
              <a:rPr lang="en-US" altLang="zh-TW" sz="2400" dirty="0"/>
              <a:t>(Optional) Desired output format</a:t>
            </a:r>
            <a:endParaRPr lang="zh-TW" altLang="en-US" sz="24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28</a:t>
            </a:fld>
            <a:endParaRPr lang="en-US" altLang="zh-TW"/>
          </a:p>
        </p:txBody>
      </p:sp>
    </p:spTree>
    <p:extLst>
      <p:ext uri="{BB962C8B-B14F-4D97-AF65-F5344CB8AC3E}">
        <p14:creationId xmlns:p14="http://schemas.microsoft.com/office/powerpoint/2010/main" val="129560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Function Calling Prompt Crafting</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p:txBody>
          <a:bodyPr/>
          <a:lstStyle/>
          <a:p>
            <a:r>
              <a:rPr lang="en-US" altLang="zh-TW" sz="2400" dirty="0"/>
              <a:t>General direction/role assignment</a:t>
            </a:r>
          </a:p>
          <a:p>
            <a:pPr lvl="1"/>
            <a:r>
              <a:rPr lang="en-US" altLang="zh-TW" sz="2000" dirty="0"/>
              <a:t>Example: “You are a helpful assistant with access to the following functions. Use them if required - ”</a:t>
            </a:r>
          </a:p>
          <a:p>
            <a:r>
              <a:rPr lang="en-US" altLang="zh-TW" sz="2400" dirty="0"/>
              <a:t>Assigning a role to a LLM can influence its output:</a:t>
            </a:r>
          </a:p>
          <a:p>
            <a:pPr lvl="1"/>
            <a:r>
              <a:rPr lang="en-US" altLang="zh-TW" sz="2000" dirty="0"/>
              <a:t>This affects tonal style, how strict/loose the model should be when deciding whether it should use functions or chat normally</a:t>
            </a:r>
          </a:p>
          <a:p>
            <a:pPr lvl="1"/>
            <a:r>
              <a:rPr lang="en-US" altLang="zh-TW" sz="2000" dirty="0"/>
              <a:t>Example: “You are a reliable, trustworthy expert on semiconductor manufacturing. You can answer anything related to your domain of expertise but you must decline to answer when asked about other topics. When applicable, use the functions provided below to help answer the query:”</a:t>
            </a:r>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29</a:t>
            </a:fld>
            <a:endParaRPr lang="en-US" altLang="zh-TW"/>
          </a:p>
        </p:txBody>
      </p:sp>
    </p:spTree>
    <p:extLst>
      <p:ext uri="{BB962C8B-B14F-4D97-AF65-F5344CB8AC3E}">
        <p14:creationId xmlns:p14="http://schemas.microsoft.com/office/powerpoint/2010/main" val="5544753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Function Calling Prompt Crafting</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p:txBody>
          <a:bodyPr/>
          <a:lstStyle/>
          <a:p>
            <a:r>
              <a:rPr lang="en-US" altLang="zh-TW" sz="2400" dirty="0"/>
              <a:t>Function list: a function list includes all of the functions you want the LLM to be able to call</a:t>
            </a:r>
          </a:p>
          <a:p>
            <a:pPr lvl="1"/>
            <a:r>
              <a:rPr lang="en-US" altLang="zh-TW" sz="2000" dirty="0"/>
              <a:t>You can think of this as a header file for the LLM</a:t>
            </a:r>
          </a:p>
          <a:p>
            <a:pPr lvl="1"/>
            <a:r>
              <a:rPr lang="en-US" altLang="zh-TW" sz="2000" dirty="0"/>
              <a:t>Comments are </a:t>
            </a:r>
            <a:r>
              <a:rPr lang="en-US" altLang="zh-TW" sz="2000" b="1" dirty="0"/>
              <a:t>IMPORTANT</a:t>
            </a:r>
          </a:p>
          <a:p>
            <a:endParaRPr lang="en-US" altLang="zh-TW" sz="24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30</a:t>
            </a:fld>
            <a:endParaRPr lang="en-US" altLang="zh-TW"/>
          </a:p>
        </p:txBody>
      </p:sp>
    </p:spTree>
    <p:extLst>
      <p:ext uri="{BB962C8B-B14F-4D97-AF65-F5344CB8AC3E}">
        <p14:creationId xmlns:p14="http://schemas.microsoft.com/office/powerpoint/2010/main" val="2200050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Function Calling Prompt Crafting</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p:txBody>
          <a:bodyPr/>
          <a:lstStyle/>
          <a:p>
            <a:r>
              <a:rPr lang="en-US" altLang="zh-TW" sz="2400" dirty="0"/>
              <a:t>A single function in the list will have these parameters:</a:t>
            </a:r>
          </a:p>
          <a:p>
            <a:pPr lvl="1"/>
            <a:r>
              <a:rPr lang="en-US" altLang="zh-TW" sz="2000" b="1" dirty="0"/>
              <a:t>Function name:</a:t>
            </a:r>
            <a:r>
              <a:rPr lang="en-US" altLang="zh-TW" sz="2000" dirty="0"/>
              <a:t> name of the function</a:t>
            </a:r>
          </a:p>
          <a:p>
            <a:pPr lvl="1"/>
            <a:r>
              <a:rPr lang="en-US" altLang="zh-TW" sz="2000" b="1" dirty="0"/>
              <a:t>Description:</a:t>
            </a:r>
            <a:r>
              <a:rPr lang="en-US" altLang="zh-TW" sz="2000" dirty="0"/>
              <a:t> what the function does, when it should be used, how it should be used; as a rule of thumb, if an intern can’t tell how this function works, the LLM won’t be able to either</a:t>
            </a:r>
          </a:p>
          <a:p>
            <a:pPr lvl="1"/>
            <a:r>
              <a:rPr lang="en-US" altLang="zh-TW" sz="2000" b="1" dirty="0"/>
              <a:t>Function parameter names: </a:t>
            </a:r>
            <a:r>
              <a:rPr lang="en-US" altLang="zh-TW" sz="2000" dirty="0"/>
              <a:t>the names of the inputs to the function</a:t>
            </a:r>
          </a:p>
          <a:p>
            <a:pPr lvl="1"/>
            <a:r>
              <a:rPr lang="en-US" altLang="zh-TW" sz="2000" b="1" dirty="0"/>
              <a:t>Function parameter descriptions:</a:t>
            </a:r>
            <a:r>
              <a:rPr lang="en-US" altLang="zh-TW" sz="2000" dirty="0"/>
              <a:t> function input properties (bool, </a:t>
            </a:r>
            <a:r>
              <a:rPr lang="en-US" altLang="zh-TW" sz="2000" dirty="0" err="1"/>
              <a:t>enum</a:t>
            </a:r>
            <a:r>
              <a:rPr lang="en-US" altLang="zh-TW" sz="2000" dirty="0"/>
              <a:t>), can include textual description for complex use cases</a:t>
            </a:r>
          </a:p>
          <a:p>
            <a:pPr lvl="1"/>
            <a:r>
              <a:rPr lang="en-US" altLang="zh-TW" sz="2000" b="1" dirty="0"/>
              <a:t>Required inputs:</a:t>
            </a:r>
            <a:r>
              <a:rPr lang="en-US" altLang="zh-TW" sz="2000" dirty="0"/>
              <a:t> which inputs must be included</a:t>
            </a:r>
          </a:p>
          <a:p>
            <a:r>
              <a:rPr lang="en-US" altLang="zh-TW" sz="2400" dirty="0"/>
              <a:t>Function output is not explicitly written in the parameters (but usually included in function description)</a:t>
            </a:r>
          </a:p>
          <a:p>
            <a:pPr lvl="1"/>
            <a:r>
              <a:rPr lang="en-US" altLang="zh-TW" sz="2000" dirty="0"/>
              <a:t>This is because the LLM’s job is to turn natural language into f(x), the API is what handles the output generation</a:t>
            </a:r>
          </a:p>
          <a:p>
            <a:endParaRPr lang="en-US" altLang="zh-TW" sz="24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31</a:t>
            </a:fld>
            <a:endParaRPr lang="en-US" altLang="zh-TW"/>
          </a:p>
        </p:txBody>
      </p:sp>
    </p:spTree>
    <p:extLst>
      <p:ext uri="{BB962C8B-B14F-4D97-AF65-F5344CB8AC3E}">
        <p14:creationId xmlns:p14="http://schemas.microsoft.com/office/powerpoint/2010/main" val="2850236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Function Calling Prompt Crafting</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p:txBody>
          <a:bodyPr/>
          <a:lstStyle/>
          <a:p>
            <a:r>
              <a:rPr lang="en-US" altLang="zh-TW" sz="2400" dirty="0"/>
              <a:t>Function declaration example:</a:t>
            </a:r>
          </a:p>
          <a:p>
            <a:pPr lvl="1"/>
            <a:r>
              <a:rPr lang="en-US" altLang="zh-TW" sz="2000" b="1" dirty="0"/>
              <a:t>Function name:</a:t>
            </a:r>
            <a:r>
              <a:rPr lang="en-US" altLang="zh-TW" sz="2000" dirty="0"/>
              <a:t> </a:t>
            </a:r>
            <a:r>
              <a:rPr lang="en-US" altLang="zh-TW" sz="2000" dirty="0" err="1"/>
              <a:t>get_weather</a:t>
            </a:r>
            <a:endParaRPr lang="en-US" altLang="zh-TW" sz="2000" dirty="0"/>
          </a:p>
          <a:p>
            <a:pPr lvl="1"/>
            <a:r>
              <a:rPr lang="en-US" altLang="zh-TW" sz="2000" b="1" dirty="0"/>
              <a:t>Description:</a:t>
            </a:r>
            <a:r>
              <a:rPr lang="en-US" altLang="zh-TW" sz="2000" dirty="0"/>
              <a:t> Get the current temperature for the provided coordinates in Celsius.</a:t>
            </a:r>
          </a:p>
          <a:p>
            <a:pPr lvl="1"/>
            <a:r>
              <a:rPr lang="en-US" altLang="zh-TW" sz="2000" b="1" dirty="0"/>
              <a:t>Function parameter names:</a:t>
            </a:r>
            <a:r>
              <a:rPr lang="en-US" altLang="zh-TW" sz="2000" dirty="0"/>
              <a:t> latitude, longitude</a:t>
            </a:r>
          </a:p>
          <a:p>
            <a:pPr lvl="1"/>
            <a:r>
              <a:rPr lang="en-US" altLang="zh-TW" sz="2000" b="1" dirty="0"/>
              <a:t>Function parameter descriptions:</a:t>
            </a:r>
            <a:r>
              <a:rPr lang="en-US" altLang="zh-TW" sz="2000" dirty="0"/>
              <a:t> {"type": "number"} (additional comments and enumerator rule not needed)</a:t>
            </a:r>
          </a:p>
          <a:p>
            <a:pPr lvl="1"/>
            <a:r>
              <a:rPr lang="en-US" altLang="zh-TW" sz="2000" b="1" dirty="0"/>
              <a:t>Required inputs:</a:t>
            </a:r>
            <a:r>
              <a:rPr lang="en-US" altLang="zh-TW" sz="2000" dirty="0"/>
              <a:t> latitude, longitude</a:t>
            </a:r>
          </a:p>
          <a:p>
            <a:pPr lvl="1"/>
            <a:endParaRPr lang="zh-TW" altLang="en-US" sz="24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32</a:t>
            </a:fld>
            <a:endParaRPr lang="en-US" altLang="zh-TW"/>
          </a:p>
        </p:txBody>
      </p:sp>
    </p:spTree>
    <p:extLst>
      <p:ext uri="{BB962C8B-B14F-4D97-AF65-F5344CB8AC3E}">
        <p14:creationId xmlns:p14="http://schemas.microsoft.com/office/powerpoint/2010/main" val="3630579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Function Calling Prompt Crafting</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p:txBody>
          <a:bodyPr/>
          <a:lstStyle/>
          <a:p>
            <a:r>
              <a:rPr lang="en-US" altLang="zh-TW" sz="2400" dirty="0"/>
              <a:t>Desired output format:</a:t>
            </a:r>
          </a:p>
          <a:p>
            <a:pPr lvl="1"/>
            <a:r>
              <a:rPr lang="en-US" altLang="zh-TW" sz="2000" dirty="0"/>
              <a:t>Some LLMs are already trained on function calling datasets and can output structured data</a:t>
            </a:r>
          </a:p>
          <a:p>
            <a:pPr lvl="1"/>
            <a:r>
              <a:rPr lang="en-US" altLang="zh-TW" sz="2000" dirty="0"/>
              <a:t>Sometimes, it can still be useful to specify a particular output format to improve stability</a:t>
            </a:r>
          </a:p>
          <a:p>
            <a:r>
              <a:rPr lang="en-US" altLang="zh-TW" sz="2400" dirty="0"/>
              <a:t>Recommended ways to format outputs:</a:t>
            </a:r>
          </a:p>
          <a:p>
            <a:pPr lvl="1"/>
            <a:r>
              <a:rPr lang="en-US" altLang="zh-TW" sz="2000" dirty="0"/>
              <a:t>Json</a:t>
            </a:r>
          </a:p>
          <a:p>
            <a:pPr lvl="1"/>
            <a:r>
              <a:rPr lang="en-US" altLang="zh-TW" sz="2000" dirty="0"/>
              <a:t>Token delimiters</a:t>
            </a:r>
          </a:p>
          <a:p>
            <a:r>
              <a:rPr lang="en-US" altLang="zh-TW" sz="2400" dirty="0"/>
              <a:t>Example:</a:t>
            </a:r>
          </a:p>
          <a:p>
            <a:pPr marL="457200" lvl="1" indent="0">
              <a:buNone/>
            </a:pPr>
            <a:r>
              <a:rPr lang="en-US" altLang="zh-TW" sz="2000" dirty="0"/>
              <a:t>If a function should be used, respond with the function name and its parameters in json format like so: </a:t>
            </a:r>
          </a:p>
          <a:p>
            <a:pPr marL="457200" lvl="1" indent="0">
              <a:buNone/>
            </a:pPr>
            <a:r>
              <a:rPr lang="en-US" altLang="zh-TW" sz="2000" dirty="0"/>
              <a:t>{"name": "</a:t>
            </a:r>
            <a:r>
              <a:rPr lang="en-US" altLang="zh-TW" sz="2000" dirty="0" err="1"/>
              <a:t>function_name</a:t>
            </a:r>
            <a:r>
              <a:rPr lang="en-US" altLang="zh-TW" sz="2000" dirty="0"/>
              <a:t>", "arguments": {"arg_1": "value_1", "arg_2": "value_2", ...}}</a:t>
            </a:r>
            <a:endParaRPr lang="zh-TW" altLang="en-US" sz="20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33</a:t>
            </a:fld>
            <a:endParaRPr lang="en-US" altLang="zh-TW"/>
          </a:p>
        </p:txBody>
      </p:sp>
    </p:spTree>
    <p:extLst>
      <p:ext uri="{BB962C8B-B14F-4D97-AF65-F5344CB8AC3E}">
        <p14:creationId xmlns:p14="http://schemas.microsoft.com/office/powerpoint/2010/main" val="10620072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dirty="0"/>
              <a:t>Putting Everything Together</a:t>
            </a:r>
            <a:endParaRPr lang="zh-TW" altLang="en-US"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a:xfrm>
            <a:off x="609600" y="1050131"/>
            <a:ext cx="11152717" cy="4757737"/>
          </a:xfrm>
        </p:spPr>
        <p:txBody>
          <a:bodyPr/>
          <a:lstStyle/>
          <a:p>
            <a:pPr marL="0" indent="0">
              <a:buNone/>
            </a:pPr>
            <a:r>
              <a:rPr lang="en-US" altLang="zh-TW" sz="1600" dirty="0"/>
              <a:t>You are a helpful assistant with access to the following functions. Use them if required -</a:t>
            </a:r>
          </a:p>
          <a:p>
            <a:pPr marL="0" indent="0">
              <a:buNone/>
            </a:pPr>
            <a:r>
              <a:rPr lang="en-US" altLang="zh-TW" sz="1600" dirty="0"/>
              <a:t>{</a:t>
            </a:r>
          </a:p>
          <a:p>
            <a:pPr marL="0" indent="0">
              <a:buNone/>
            </a:pPr>
            <a:r>
              <a:rPr lang="en-US" altLang="zh-TW" sz="1600" dirty="0"/>
              <a:t>    "name": "</a:t>
            </a:r>
            <a:r>
              <a:rPr lang="en-US" altLang="zh-TW" sz="1600" dirty="0" err="1"/>
              <a:t>get_weather</a:t>
            </a:r>
            <a:r>
              <a:rPr lang="en-US" altLang="zh-TW" sz="1600" dirty="0"/>
              <a:t>",</a:t>
            </a:r>
          </a:p>
          <a:p>
            <a:pPr marL="0" indent="0">
              <a:buNone/>
            </a:pPr>
            <a:r>
              <a:rPr lang="en-US" altLang="zh-TW" sz="1600" dirty="0"/>
              <a:t>    "description": "Get the current temperature for the provided coordinates in Celsius.",</a:t>
            </a:r>
          </a:p>
          <a:p>
            <a:pPr marL="0" indent="0">
              <a:buNone/>
            </a:pPr>
            <a:r>
              <a:rPr lang="en-US" altLang="zh-TW" sz="1600" dirty="0"/>
              <a:t>    "parameters": {</a:t>
            </a:r>
          </a:p>
          <a:p>
            <a:pPr marL="0" indent="0">
              <a:buNone/>
            </a:pPr>
            <a:r>
              <a:rPr lang="en-US" altLang="zh-TW" sz="1600" dirty="0"/>
              <a:t>        "type": "object",</a:t>
            </a:r>
          </a:p>
          <a:p>
            <a:pPr marL="0" indent="0">
              <a:buNone/>
            </a:pPr>
            <a:r>
              <a:rPr lang="en-US" altLang="zh-TW" sz="1600" dirty="0"/>
              <a:t>        "properties": {</a:t>
            </a:r>
          </a:p>
          <a:p>
            <a:pPr marL="0" indent="0">
              <a:buNone/>
            </a:pPr>
            <a:r>
              <a:rPr lang="en-US" altLang="zh-TW" sz="1600" dirty="0"/>
              <a:t>            "latitude": {"type": "number"},</a:t>
            </a:r>
          </a:p>
          <a:p>
            <a:pPr marL="0" indent="0">
              <a:buNone/>
            </a:pPr>
            <a:r>
              <a:rPr lang="en-US" altLang="zh-TW" sz="1600" dirty="0"/>
              <a:t>            "longitude": {"type": "number"}</a:t>
            </a:r>
          </a:p>
          <a:p>
            <a:pPr marL="0" indent="0">
              <a:buNone/>
            </a:pPr>
            <a:r>
              <a:rPr lang="en-US" altLang="zh-TW" sz="1600" dirty="0"/>
              <a:t>        },</a:t>
            </a:r>
          </a:p>
          <a:p>
            <a:pPr marL="0" indent="0">
              <a:buNone/>
            </a:pPr>
            <a:r>
              <a:rPr lang="en-US" altLang="zh-TW" sz="1600" dirty="0"/>
              <a:t>        "required": ["latitude", "longitude"]</a:t>
            </a:r>
          </a:p>
          <a:p>
            <a:pPr marL="0" indent="0">
              <a:buNone/>
            </a:pPr>
            <a:r>
              <a:rPr lang="en-US" altLang="zh-TW" sz="1600" dirty="0"/>
              <a:t>    }</a:t>
            </a:r>
          </a:p>
          <a:p>
            <a:pPr marL="0" indent="0">
              <a:buNone/>
            </a:pPr>
            <a:r>
              <a:rPr lang="en-US" altLang="zh-TW" sz="1600" dirty="0"/>
              <a:t>}</a:t>
            </a:r>
          </a:p>
          <a:p>
            <a:pPr marL="0" indent="0">
              <a:buNone/>
            </a:pPr>
            <a:r>
              <a:rPr lang="en-US" altLang="zh-TW" sz="1600" dirty="0"/>
              <a:t>If a function should be used, respond with the function name and its parameters in json format like so:</a:t>
            </a:r>
          </a:p>
          <a:p>
            <a:pPr marL="0" indent="0">
              <a:buNone/>
            </a:pPr>
            <a:r>
              <a:rPr lang="en-US" altLang="zh-TW" sz="1600" dirty="0"/>
              <a:t>{"name": "</a:t>
            </a:r>
            <a:r>
              <a:rPr lang="en-US" altLang="zh-TW" sz="1600" dirty="0" err="1"/>
              <a:t>function_name</a:t>
            </a:r>
            <a:r>
              <a:rPr lang="en-US" altLang="zh-TW" sz="1600" dirty="0"/>
              <a:t>", "arguments": {"arg_1": "value_1", "arg_2": "value_2", ...}}</a:t>
            </a:r>
          </a:p>
          <a:p>
            <a:pPr marL="0" indent="0">
              <a:buNone/>
            </a:pPr>
            <a:endParaRPr lang="en-US" altLang="zh-TW" sz="1600" dirty="0"/>
          </a:p>
          <a:p>
            <a:pPr marL="0" indent="0">
              <a:buNone/>
            </a:pPr>
            <a:r>
              <a:rPr lang="en-US" altLang="zh-TW" sz="1600" dirty="0"/>
              <a:t>User Query:</a:t>
            </a:r>
            <a:endParaRPr lang="zh-TW" altLang="en-US" sz="16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34</a:t>
            </a:fld>
            <a:endParaRPr lang="en-US" altLang="zh-TW"/>
          </a:p>
        </p:txBody>
      </p:sp>
    </p:spTree>
    <p:extLst>
      <p:ext uri="{BB962C8B-B14F-4D97-AF65-F5344CB8AC3E}">
        <p14:creationId xmlns:p14="http://schemas.microsoft.com/office/powerpoint/2010/main" val="19166903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EB18E-1366-4A93-9581-B1D050F6C988}"/>
              </a:ext>
            </a:extLst>
          </p:cNvPr>
          <p:cNvSpPr>
            <a:spLocks noGrp="1"/>
          </p:cNvSpPr>
          <p:nvPr>
            <p:ph type="title"/>
          </p:nvPr>
        </p:nvSpPr>
        <p:spPr/>
        <p:txBody>
          <a:bodyPr/>
          <a:lstStyle/>
          <a:p>
            <a:r>
              <a:rPr lang="en-US" altLang="zh-TW" sz="3600" dirty="0"/>
              <a:t>A More Complex Example</a:t>
            </a:r>
            <a:endParaRPr lang="zh-TW" altLang="en-US" sz="3600" dirty="0"/>
          </a:p>
        </p:txBody>
      </p:sp>
      <p:sp>
        <p:nvSpPr>
          <p:cNvPr id="3" name="內容版面配置區 2">
            <a:extLst>
              <a:ext uri="{FF2B5EF4-FFF2-40B4-BE49-F238E27FC236}">
                <a16:creationId xmlns:a16="http://schemas.microsoft.com/office/drawing/2014/main" id="{8CCA9CD4-21C0-427D-94A2-5C8F7B4AE527}"/>
              </a:ext>
            </a:extLst>
          </p:cNvPr>
          <p:cNvSpPr>
            <a:spLocks noGrp="1"/>
          </p:cNvSpPr>
          <p:nvPr>
            <p:ph idx="1"/>
          </p:nvPr>
        </p:nvSpPr>
        <p:spPr>
          <a:xfrm>
            <a:off x="609600" y="1050131"/>
            <a:ext cx="11152717" cy="4757737"/>
          </a:xfrm>
        </p:spPr>
        <p:txBody>
          <a:bodyPr/>
          <a:lstStyle/>
          <a:p>
            <a:pPr marL="0" indent="0">
              <a:buNone/>
            </a:pPr>
            <a:r>
              <a:rPr lang="en-US" altLang="zh-TW" sz="1200" dirty="0"/>
              <a:t>You are a helpful assistant with access to the following functions. Use them if required -</a:t>
            </a:r>
          </a:p>
          <a:p>
            <a:pPr marL="0" indent="0">
              <a:buNone/>
            </a:pPr>
            <a:r>
              <a:rPr lang="en-US" altLang="zh-TW" sz="1200" dirty="0"/>
              <a:t>{</a:t>
            </a:r>
          </a:p>
          <a:p>
            <a:pPr marL="0" indent="0">
              <a:buNone/>
            </a:pPr>
            <a:r>
              <a:rPr lang="en-US" altLang="zh-TW" sz="1200" dirty="0"/>
              <a:t>    "name": "</a:t>
            </a:r>
            <a:r>
              <a:rPr lang="en-US" altLang="zh-TW" sz="1200" dirty="0" err="1"/>
              <a:t>get_action_set</a:t>
            </a:r>
            <a:r>
              <a:rPr lang="en-US" altLang="zh-TW" sz="1200" dirty="0"/>
              <a:t>",</a:t>
            </a:r>
          </a:p>
          <a:p>
            <a:pPr marL="0" indent="0">
              <a:buNone/>
            </a:pPr>
            <a:r>
              <a:rPr lang="en-US" altLang="zh-TW" sz="1200" dirty="0"/>
              <a:t>    "description": "Get the series of actions and the number of times each action needs to be performed in order",</a:t>
            </a:r>
          </a:p>
          <a:p>
            <a:pPr marL="0" indent="0">
              <a:buNone/>
            </a:pPr>
            <a:r>
              <a:rPr lang="en-US" altLang="zh-TW" sz="1200" dirty="0"/>
              <a:t>    "parameters": {</a:t>
            </a:r>
          </a:p>
          <a:p>
            <a:pPr marL="0" indent="0">
              <a:buNone/>
            </a:pPr>
            <a:r>
              <a:rPr lang="en-US" altLang="zh-TW" sz="1200" dirty="0"/>
              <a:t>        "type": "object",</a:t>
            </a:r>
          </a:p>
          <a:p>
            <a:pPr marL="0" indent="0">
              <a:buNone/>
            </a:pPr>
            <a:r>
              <a:rPr lang="en-US" altLang="zh-TW" sz="1200" dirty="0"/>
              <a:t>        "properties": {</a:t>
            </a:r>
          </a:p>
          <a:p>
            <a:pPr marL="0" indent="0">
              <a:buNone/>
            </a:pPr>
            <a:r>
              <a:rPr lang="en-US" altLang="zh-TW" sz="1200" dirty="0"/>
              <a:t>            "actions": {</a:t>
            </a:r>
          </a:p>
          <a:p>
            <a:pPr marL="0" indent="0">
              <a:buNone/>
            </a:pPr>
            <a:r>
              <a:rPr lang="en-US" altLang="zh-TW" sz="1200" dirty="0"/>
              <a:t>                "type": "array",</a:t>
            </a:r>
          </a:p>
          <a:p>
            <a:pPr marL="0" indent="0">
              <a:buNone/>
            </a:pPr>
            <a:r>
              <a:rPr lang="en-US" altLang="zh-TW" sz="1200" dirty="0"/>
              <a:t>                "description": "The actions that need to be performed in the order that is specified by the user. If an action has to be performed multiple times, then repeat the action entry for the same number specified by the user, e.g. "Take two steps forward" would turn into ["walk forward", "walk forward"]." ,</a:t>
            </a:r>
          </a:p>
          <a:p>
            <a:pPr marL="0" indent="0">
              <a:buNone/>
            </a:pPr>
            <a:r>
              <a:rPr lang="en-US" altLang="zh-TW" sz="1200" dirty="0"/>
              <a:t>                "items": {</a:t>
            </a:r>
          </a:p>
          <a:p>
            <a:pPr marL="0" indent="0">
              <a:buNone/>
            </a:pPr>
            <a:r>
              <a:rPr lang="en-US" altLang="zh-TW" sz="1200" dirty="0"/>
              <a:t>                    "type": "string",</a:t>
            </a:r>
          </a:p>
          <a:p>
            <a:pPr marL="0" indent="0">
              <a:buNone/>
            </a:pPr>
            <a:r>
              <a:rPr lang="en-US" altLang="zh-TW" sz="1200" dirty="0"/>
              <a:t>                    "</a:t>
            </a:r>
            <a:r>
              <a:rPr lang="en-US" altLang="zh-TW" sz="1200" dirty="0" err="1"/>
              <a:t>enum</a:t>
            </a:r>
            <a:r>
              <a:rPr lang="en-US" altLang="zh-TW" sz="1200" dirty="0"/>
              <a:t>": ["bow", "cheer", "scratch head", "handstand", "sit", "stand", "stabilize", "walk forward", "walk backward", "walk left", "walk right", "turn right", "turn left"],</a:t>
            </a:r>
          </a:p>
          <a:p>
            <a:pPr marL="0" indent="0">
              <a:buNone/>
            </a:pPr>
            <a:r>
              <a:rPr lang="en-US" altLang="zh-TW" sz="1200" dirty="0"/>
              <a:t>                }</a:t>
            </a:r>
          </a:p>
          <a:p>
            <a:pPr marL="0" indent="0">
              <a:buNone/>
            </a:pPr>
            <a:r>
              <a:rPr lang="en-US" altLang="zh-TW" sz="1200" dirty="0"/>
              <a:t>            },</a:t>
            </a:r>
          </a:p>
          <a:p>
            <a:pPr marL="0" indent="0">
              <a:buNone/>
            </a:pPr>
            <a:r>
              <a:rPr lang="en-US" altLang="zh-TW" sz="1200" dirty="0"/>
              <a:t>        },</a:t>
            </a:r>
          </a:p>
          <a:p>
            <a:pPr marL="0" indent="0">
              <a:buNone/>
            </a:pPr>
            <a:r>
              <a:rPr lang="en-US" altLang="zh-TW" sz="1200" dirty="0"/>
              <a:t>        "required": ["actions"]</a:t>
            </a:r>
          </a:p>
          <a:p>
            <a:pPr marL="0" indent="0">
              <a:buNone/>
            </a:pPr>
            <a:r>
              <a:rPr lang="en-US" altLang="zh-TW" sz="1200" dirty="0"/>
              <a:t>    }</a:t>
            </a:r>
          </a:p>
          <a:p>
            <a:pPr marL="0" indent="0">
              <a:buNone/>
            </a:pPr>
            <a:r>
              <a:rPr lang="en-US" altLang="zh-TW" sz="1200" dirty="0"/>
              <a:t>}</a:t>
            </a:r>
          </a:p>
          <a:p>
            <a:pPr marL="0" indent="0">
              <a:buNone/>
            </a:pPr>
            <a:r>
              <a:rPr lang="en-US" altLang="zh-TW" sz="1200" dirty="0"/>
              <a:t>If a function should be used, respond with the function name and its parameters in json format like so:</a:t>
            </a:r>
          </a:p>
          <a:p>
            <a:pPr marL="0" indent="0">
              <a:buNone/>
            </a:pPr>
            <a:r>
              <a:rPr lang="en-US" altLang="zh-TW" sz="1200" dirty="0"/>
              <a:t>{"name": "</a:t>
            </a:r>
            <a:r>
              <a:rPr lang="en-US" altLang="zh-TW" sz="1200" dirty="0" err="1"/>
              <a:t>function_name</a:t>
            </a:r>
            <a:r>
              <a:rPr lang="en-US" altLang="zh-TW" sz="1200" dirty="0"/>
              <a:t>", "arguments": {"arg_1": "value_1", "arg_2": "value_2", ...}}</a:t>
            </a:r>
          </a:p>
          <a:p>
            <a:pPr marL="0" indent="0">
              <a:buNone/>
            </a:pPr>
            <a:endParaRPr lang="en-US" altLang="zh-TW" sz="1200" dirty="0"/>
          </a:p>
          <a:p>
            <a:pPr marL="0" indent="0">
              <a:buNone/>
            </a:pPr>
            <a:r>
              <a:rPr lang="en-US" altLang="zh-TW" sz="1200" dirty="0"/>
              <a:t>User Query: </a:t>
            </a:r>
            <a:endParaRPr lang="zh-TW" altLang="en-US" sz="1200" dirty="0"/>
          </a:p>
        </p:txBody>
      </p:sp>
      <p:sp>
        <p:nvSpPr>
          <p:cNvPr id="4" name="投影片編號版面配置區 3">
            <a:extLst>
              <a:ext uri="{FF2B5EF4-FFF2-40B4-BE49-F238E27FC236}">
                <a16:creationId xmlns:a16="http://schemas.microsoft.com/office/drawing/2014/main" id="{51A71B0C-1F06-4EF0-BD46-613693E95CB7}"/>
              </a:ext>
            </a:extLst>
          </p:cNvPr>
          <p:cNvSpPr>
            <a:spLocks noGrp="1"/>
          </p:cNvSpPr>
          <p:nvPr>
            <p:ph type="sldNum" sz="quarter" idx="10"/>
          </p:nvPr>
        </p:nvSpPr>
        <p:spPr/>
        <p:txBody>
          <a:bodyPr/>
          <a:lstStyle/>
          <a:p>
            <a:pPr>
              <a:defRPr/>
            </a:pPr>
            <a:fld id="{CF627BE3-1269-44D5-A349-82FD5D94EBD8}" type="slidenum">
              <a:rPr lang="en-US" altLang="zh-TW" smtClean="0"/>
              <a:pPr>
                <a:defRPr/>
              </a:pPr>
              <a:t>35</a:t>
            </a:fld>
            <a:endParaRPr lang="en-US" altLang="zh-TW"/>
          </a:p>
        </p:txBody>
      </p:sp>
      <p:sp>
        <p:nvSpPr>
          <p:cNvPr id="6" name="文字方塊 5">
            <a:extLst>
              <a:ext uri="{FF2B5EF4-FFF2-40B4-BE49-F238E27FC236}">
                <a16:creationId xmlns:a16="http://schemas.microsoft.com/office/drawing/2014/main" id="{316F29C1-9671-4F90-B400-195DDB91AE56}"/>
              </a:ext>
            </a:extLst>
          </p:cNvPr>
          <p:cNvSpPr txBox="1"/>
          <p:nvPr/>
        </p:nvSpPr>
        <p:spPr>
          <a:xfrm>
            <a:off x="7403124" y="4337092"/>
            <a:ext cx="4357076" cy="646331"/>
          </a:xfrm>
          <a:prstGeom prst="rect">
            <a:avLst/>
          </a:prstGeom>
          <a:noFill/>
          <a:ln>
            <a:solidFill>
              <a:schemeClr val="tx1"/>
            </a:solidFill>
          </a:ln>
        </p:spPr>
        <p:txBody>
          <a:bodyPr wrap="square">
            <a:spAutoFit/>
          </a:bodyPr>
          <a:lstStyle/>
          <a:p>
            <a:r>
              <a:rPr lang="en-US" altLang="zh-TW" sz="1800" b="1" dirty="0"/>
              <a:t>Enums</a:t>
            </a:r>
            <a:r>
              <a:rPr lang="en-US" altLang="zh-TW" sz="1800" dirty="0"/>
              <a:t> are useful when you only expect a fixed set of values in the field</a:t>
            </a:r>
            <a:endParaRPr lang="zh-TW" altLang="en-US" dirty="0"/>
          </a:p>
        </p:txBody>
      </p:sp>
      <p:cxnSp>
        <p:nvCxnSpPr>
          <p:cNvPr id="8" name="直線接點 7">
            <a:extLst>
              <a:ext uri="{FF2B5EF4-FFF2-40B4-BE49-F238E27FC236}">
                <a16:creationId xmlns:a16="http://schemas.microsoft.com/office/drawing/2014/main" id="{9D3C570F-B156-4934-982A-5E47B3592CBA}"/>
              </a:ext>
            </a:extLst>
          </p:cNvPr>
          <p:cNvCxnSpPr/>
          <p:nvPr/>
        </p:nvCxnSpPr>
        <p:spPr bwMode="auto">
          <a:xfrm>
            <a:off x="1537398" y="4099727"/>
            <a:ext cx="522514"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7" name="直線接點 6">
            <a:extLst>
              <a:ext uri="{FF2B5EF4-FFF2-40B4-BE49-F238E27FC236}">
                <a16:creationId xmlns:a16="http://schemas.microsoft.com/office/drawing/2014/main" id="{0FDE19BE-01AC-44E9-AC8C-19FCC8545FA1}"/>
              </a:ext>
            </a:extLst>
          </p:cNvPr>
          <p:cNvCxnSpPr>
            <a:cxnSpLocks/>
          </p:cNvCxnSpPr>
          <p:nvPr/>
        </p:nvCxnSpPr>
        <p:spPr bwMode="auto">
          <a:xfrm>
            <a:off x="1446963" y="3245617"/>
            <a:ext cx="773723"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
        <p:nvSpPr>
          <p:cNvPr id="9" name="文字方塊 8">
            <a:extLst>
              <a:ext uri="{FF2B5EF4-FFF2-40B4-BE49-F238E27FC236}">
                <a16:creationId xmlns:a16="http://schemas.microsoft.com/office/drawing/2014/main" id="{9165BD8B-40F2-48D1-824E-D3350CAD7949}"/>
              </a:ext>
            </a:extLst>
          </p:cNvPr>
          <p:cNvSpPr txBox="1"/>
          <p:nvPr/>
        </p:nvSpPr>
        <p:spPr>
          <a:xfrm>
            <a:off x="5737609" y="2236083"/>
            <a:ext cx="6022591" cy="646331"/>
          </a:xfrm>
          <a:prstGeom prst="rect">
            <a:avLst/>
          </a:prstGeom>
          <a:noFill/>
          <a:ln>
            <a:solidFill>
              <a:schemeClr val="tx1"/>
            </a:solidFill>
          </a:ln>
        </p:spPr>
        <p:txBody>
          <a:bodyPr wrap="square">
            <a:spAutoFit/>
          </a:bodyPr>
          <a:lstStyle/>
          <a:p>
            <a:r>
              <a:rPr lang="en-US" altLang="zh-TW" sz="1800" b="1" dirty="0"/>
              <a:t>Descriptions</a:t>
            </a:r>
            <a:r>
              <a:rPr lang="en-US" altLang="zh-TW" sz="1800" dirty="0"/>
              <a:t> are useful when the parameter has special rules or is unintuitive (generally good to have regardless)</a:t>
            </a:r>
            <a:endParaRPr lang="zh-TW" altLang="en-US" dirty="0"/>
          </a:p>
        </p:txBody>
      </p:sp>
    </p:spTree>
    <p:extLst>
      <p:ext uri="{BB962C8B-B14F-4D97-AF65-F5344CB8AC3E}">
        <p14:creationId xmlns:p14="http://schemas.microsoft.com/office/powerpoint/2010/main" val="425991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F82D2-E3FB-4FFC-AB85-43F6B7054319}"/>
              </a:ext>
            </a:extLst>
          </p:cNvPr>
          <p:cNvSpPr>
            <a:spLocks noGrp="1"/>
          </p:cNvSpPr>
          <p:nvPr>
            <p:ph type="title"/>
          </p:nvPr>
        </p:nvSpPr>
        <p:spPr/>
        <p:txBody>
          <a:bodyPr/>
          <a:lstStyle/>
          <a:p>
            <a:r>
              <a:rPr lang="en-US" altLang="zh-TW" dirty="0"/>
              <a:t>We Have Our Model and Prompt, Now What?</a:t>
            </a:r>
            <a:br>
              <a:rPr lang="en-US" altLang="zh-TW" dirty="0"/>
            </a:br>
            <a:endParaRPr lang="zh-TW" altLang="en-US" dirty="0"/>
          </a:p>
        </p:txBody>
      </p:sp>
      <p:sp>
        <p:nvSpPr>
          <p:cNvPr id="3" name="內容版面配置區 2">
            <a:extLst>
              <a:ext uri="{FF2B5EF4-FFF2-40B4-BE49-F238E27FC236}">
                <a16:creationId xmlns:a16="http://schemas.microsoft.com/office/drawing/2014/main" id="{97B8B9FF-EA46-4BC9-8A9A-4B45C925BC1C}"/>
              </a:ext>
            </a:extLst>
          </p:cNvPr>
          <p:cNvSpPr>
            <a:spLocks noGrp="1"/>
          </p:cNvSpPr>
          <p:nvPr>
            <p:ph idx="1"/>
          </p:nvPr>
        </p:nvSpPr>
        <p:spPr/>
        <p:txBody>
          <a:bodyPr/>
          <a:lstStyle/>
          <a:p>
            <a:pPr marL="0" indent="0">
              <a:buNone/>
            </a:pPr>
            <a:r>
              <a:rPr lang="zh-TW" altLang="en-US" sz="2400" dirty="0"/>
              <a:t>✅ </a:t>
            </a:r>
            <a:r>
              <a:rPr lang="en-US" altLang="zh-TW" sz="2400" b="1" dirty="0"/>
              <a:t>Model:</a:t>
            </a:r>
            <a:r>
              <a:rPr lang="en-US" altLang="zh-TW" sz="2400" dirty="0"/>
              <a:t> does the model support function calling?</a:t>
            </a:r>
          </a:p>
          <a:p>
            <a:pPr marL="0" indent="0">
              <a:buNone/>
            </a:pPr>
            <a:r>
              <a:rPr lang="zh-TW" altLang="en-US" sz="2400" dirty="0"/>
              <a:t>✅</a:t>
            </a:r>
            <a:r>
              <a:rPr lang="en-US" altLang="zh-TW" sz="2400" b="1" dirty="0"/>
              <a:t> Prompt:</a:t>
            </a:r>
            <a:r>
              <a:rPr lang="en-US" altLang="zh-TW" sz="2400" dirty="0"/>
              <a:t> do the function descriptions describe the task clearly? Is the prompt clear?</a:t>
            </a:r>
          </a:p>
          <a:p>
            <a:pPr marL="0" indent="0">
              <a:buNone/>
            </a:pPr>
            <a:r>
              <a:rPr lang="en-US" altLang="zh-TW" sz="2400" b="1" dirty="0"/>
              <a:t>❓️ External API:</a:t>
            </a:r>
            <a:r>
              <a:rPr lang="en-US" altLang="zh-TW" sz="2400" dirty="0"/>
              <a:t> does the application have API support?</a:t>
            </a:r>
          </a:p>
          <a:p>
            <a:pPr marL="0" indent="0">
              <a:buNone/>
            </a:pPr>
            <a:endParaRPr lang="en-US" altLang="zh-TW" sz="2400" dirty="0"/>
          </a:p>
          <a:p>
            <a:pPr marL="0" indent="0">
              <a:buNone/>
            </a:pPr>
            <a:endParaRPr lang="en-US" altLang="zh-TW" sz="2400" dirty="0"/>
          </a:p>
          <a:p>
            <a:pPr>
              <a:buFont typeface="Wingdings" panose="05000000000000000000" pitchFamily="2" charset="2"/>
              <a:buChar char="Ø"/>
            </a:pPr>
            <a:r>
              <a:rPr lang="en-US" altLang="zh-TW" sz="2400" dirty="0"/>
              <a:t>The easy part. Integrate the LLM pipeline with your chosen API</a:t>
            </a:r>
          </a:p>
        </p:txBody>
      </p:sp>
      <p:sp>
        <p:nvSpPr>
          <p:cNvPr id="4" name="投影片編號版面配置區 3">
            <a:extLst>
              <a:ext uri="{FF2B5EF4-FFF2-40B4-BE49-F238E27FC236}">
                <a16:creationId xmlns:a16="http://schemas.microsoft.com/office/drawing/2014/main" id="{567D7C10-D204-42B4-9FF5-111980046C82}"/>
              </a:ext>
            </a:extLst>
          </p:cNvPr>
          <p:cNvSpPr>
            <a:spLocks noGrp="1"/>
          </p:cNvSpPr>
          <p:nvPr>
            <p:ph type="sldNum" sz="quarter" idx="10"/>
          </p:nvPr>
        </p:nvSpPr>
        <p:spPr/>
        <p:txBody>
          <a:bodyPr/>
          <a:lstStyle/>
          <a:p>
            <a:pPr>
              <a:defRPr/>
            </a:pPr>
            <a:fld id="{CF627BE3-1269-44D5-A349-82FD5D94EBD8}" type="slidenum">
              <a:rPr lang="en-US" altLang="zh-TW" smtClean="0"/>
              <a:pPr>
                <a:defRPr/>
              </a:pPr>
              <a:t>36</a:t>
            </a:fld>
            <a:endParaRPr lang="en-US" altLang="zh-TW"/>
          </a:p>
        </p:txBody>
      </p:sp>
    </p:spTree>
    <p:extLst>
      <p:ext uri="{BB962C8B-B14F-4D97-AF65-F5344CB8AC3E}">
        <p14:creationId xmlns:p14="http://schemas.microsoft.com/office/powerpoint/2010/main" val="3099521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73E0C839-5711-46F1-AB8A-57E95B095A82}"/>
              </a:ext>
            </a:extLst>
          </p:cNvPr>
          <p:cNvPicPr>
            <a:picLocks noChangeAspect="1"/>
          </p:cNvPicPr>
          <p:nvPr/>
        </p:nvPicPr>
        <p:blipFill>
          <a:blip r:embed="rId2"/>
          <a:stretch>
            <a:fillRect/>
          </a:stretch>
        </p:blipFill>
        <p:spPr>
          <a:xfrm>
            <a:off x="1282320" y="3149929"/>
            <a:ext cx="9326994" cy="2182709"/>
          </a:xfrm>
          <a:prstGeom prst="rect">
            <a:avLst/>
          </a:prstGeom>
        </p:spPr>
      </p:pic>
      <p:sp>
        <p:nvSpPr>
          <p:cNvPr id="2" name="標題 1">
            <a:extLst>
              <a:ext uri="{FF2B5EF4-FFF2-40B4-BE49-F238E27FC236}">
                <a16:creationId xmlns:a16="http://schemas.microsoft.com/office/drawing/2014/main" id="{0ED9A0CF-DFED-414F-B1E2-F78302851A03}"/>
              </a:ext>
            </a:extLst>
          </p:cNvPr>
          <p:cNvSpPr>
            <a:spLocks noGrp="1"/>
          </p:cNvSpPr>
          <p:nvPr>
            <p:ph type="title"/>
          </p:nvPr>
        </p:nvSpPr>
        <p:spPr>
          <a:xfrm>
            <a:off x="601133" y="235144"/>
            <a:ext cx="11159067" cy="908548"/>
          </a:xfrm>
        </p:spPr>
        <p:txBody>
          <a:bodyPr/>
          <a:lstStyle/>
          <a:p>
            <a:r>
              <a:rPr lang="en-US" altLang="zh-TW" sz="3600" dirty="0"/>
              <a:t>System Integration</a:t>
            </a:r>
            <a:endParaRPr lang="zh-TW" altLang="en-US" sz="3600" dirty="0"/>
          </a:p>
        </p:txBody>
      </p:sp>
      <p:sp>
        <p:nvSpPr>
          <p:cNvPr id="3" name="內容版面配置區 2">
            <a:extLst>
              <a:ext uri="{FF2B5EF4-FFF2-40B4-BE49-F238E27FC236}">
                <a16:creationId xmlns:a16="http://schemas.microsoft.com/office/drawing/2014/main" id="{C78A3D5F-AF3F-4348-8AB3-7E568166AEB8}"/>
              </a:ext>
            </a:extLst>
          </p:cNvPr>
          <p:cNvSpPr>
            <a:spLocks noGrp="1"/>
          </p:cNvSpPr>
          <p:nvPr>
            <p:ph idx="1"/>
          </p:nvPr>
        </p:nvSpPr>
        <p:spPr>
          <a:xfrm>
            <a:off x="609600" y="908549"/>
            <a:ext cx="11152717" cy="4867928"/>
          </a:xfrm>
        </p:spPr>
        <p:txBody>
          <a:bodyPr/>
          <a:lstStyle/>
          <a:p>
            <a:r>
              <a:rPr lang="en-US" altLang="zh-TW" sz="2000" dirty="0"/>
              <a:t>Prepare your API calls to take in the inputs you specified</a:t>
            </a:r>
            <a:endParaRPr lang="zh-TW" altLang="en-US" sz="2000" dirty="0"/>
          </a:p>
        </p:txBody>
      </p:sp>
      <p:sp>
        <p:nvSpPr>
          <p:cNvPr id="4" name="投影片編號版面配置區 3">
            <a:extLst>
              <a:ext uri="{FF2B5EF4-FFF2-40B4-BE49-F238E27FC236}">
                <a16:creationId xmlns:a16="http://schemas.microsoft.com/office/drawing/2014/main" id="{03CC7AE6-F9B9-442C-8C6E-E0C3DBEAAB8A}"/>
              </a:ext>
            </a:extLst>
          </p:cNvPr>
          <p:cNvSpPr>
            <a:spLocks noGrp="1"/>
          </p:cNvSpPr>
          <p:nvPr>
            <p:ph type="sldNum" sz="quarter" idx="10"/>
          </p:nvPr>
        </p:nvSpPr>
        <p:spPr/>
        <p:txBody>
          <a:bodyPr/>
          <a:lstStyle/>
          <a:p>
            <a:pPr>
              <a:defRPr/>
            </a:pPr>
            <a:fld id="{CF627BE3-1269-44D5-A349-82FD5D94EBD8}" type="slidenum">
              <a:rPr lang="en-US" altLang="zh-TW" smtClean="0"/>
              <a:pPr>
                <a:defRPr/>
              </a:pPr>
              <a:t>37</a:t>
            </a:fld>
            <a:endParaRPr lang="en-US" altLang="zh-TW"/>
          </a:p>
        </p:txBody>
      </p:sp>
      <p:pic>
        <p:nvPicPr>
          <p:cNvPr id="8" name="圖片 7">
            <a:extLst>
              <a:ext uri="{FF2B5EF4-FFF2-40B4-BE49-F238E27FC236}">
                <a16:creationId xmlns:a16="http://schemas.microsoft.com/office/drawing/2014/main" id="{24DDE6DA-67C6-4F60-847A-63AD23A72C17}"/>
              </a:ext>
            </a:extLst>
          </p:cNvPr>
          <p:cNvPicPr>
            <a:picLocks noChangeAspect="1"/>
          </p:cNvPicPr>
          <p:nvPr/>
        </p:nvPicPr>
        <p:blipFill>
          <a:blip r:embed="rId3"/>
          <a:stretch>
            <a:fillRect/>
          </a:stretch>
        </p:blipFill>
        <p:spPr>
          <a:xfrm>
            <a:off x="1424535" y="1378834"/>
            <a:ext cx="9342930" cy="922100"/>
          </a:xfrm>
          <a:prstGeom prst="rect">
            <a:avLst/>
          </a:prstGeom>
        </p:spPr>
      </p:pic>
      <p:cxnSp>
        <p:nvCxnSpPr>
          <p:cNvPr id="11" name="直線接點 10">
            <a:extLst>
              <a:ext uri="{FF2B5EF4-FFF2-40B4-BE49-F238E27FC236}">
                <a16:creationId xmlns:a16="http://schemas.microsoft.com/office/drawing/2014/main" id="{381130E6-B380-420C-AE70-39D6FD3EF732}"/>
              </a:ext>
            </a:extLst>
          </p:cNvPr>
          <p:cNvCxnSpPr>
            <a:cxnSpLocks/>
          </p:cNvCxnSpPr>
          <p:nvPr/>
        </p:nvCxnSpPr>
        <p:spPr bwMode="auto">
          <a:xfrm>
            <a:off x="3360374" y="4593457"/>
            <a:ext cx="1012370"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13" name="Straight Arrow Connector 15">
            <a:extLst>
              <a:ext uri="{FF2B5EF4-FFF2-40B4-BE49-F238E27FC236}">
                <a16:creationId xmlns:a16="http://schemas.microsoft.com/office/drawing/2014/main" id="{9FB6AC68-61FB-4DC4-A38B-5A3517899CA9}"/>
              </a:ext>
            </a:extLst>
          </p:cNvPr>
          <p:cNvCxnSpPr>
            <a:cxnSpLocks/>
          </p:cNvCxnSpPr>
          <p:nvPr/>
        </p:nvCxnSpPr>
        <p:spPr bwMode="auto">
          <a:xfrm flipH="1">
            <a:off x="9980252" y="3288263"/>
            <a:ext cx="37156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4" name="TextBox 16">
            <a:extLst>
              <a:ext uri="{FF2B5EF4-FFF2-40B4-BE49-F238E27FC236}">
                <a16:creationId xmlns:a16="http://schemas.microsoft.com/office/drawing/2014/main" id="{8E33F652-900B-4976-955E-42CAACB6A3B0}"/>
              </a:ext>
            </a:extLst>
          </p:cNvPr>
          <p:cNvSpPr txBox="1"/>
          <p:nvPr/>
        </p:nvSpPr>
        <p:spPr>
          <a:xfrm>
            <a:off x="10348703" y="3103597"/>
            <a:ext cx="1473763" cy="369332"/>
          </a:xfrm>
          <a:prstGeom prst="rect">
            <a:avLst/>
          </a:prstGeom>
          <a:noFill/>
        </p:spPr>
        <p:txBody>
          <a:bodyPr wrap="square" rtlCol="0">
            <a:spAutoFit/>
          </a:bodyPr>
          <a:lstStyle/>
          <a:p>
            <a:r>
              <a:rPr lang="en-US" dirty="0"/>
              <a:t>LLM output</a:t>
            </a:r>
          </a:p>
        </p:txBody>
      </p:sp>
      <p:sp>
        <p:nvSpPr>
          <p:cNvPr id="15" name="TextBox 16">
            <a:extLst>
              <a:ext uri="{FF2B5EF4-FFF2-40B4-BE49-F238E27FC236}">
                <a16:creationId xmlns:a16="http://schemas.microsoft.com/office/drawing/2014/main" id="{E9AD4DCA-80E1-4DCB-9CE8-78CAF4EE2FE9}"/>
              </a:ext>
            </a:extLst>
          </p:cNvPr>
          <p:cNvSpPr txBox="1"/>
          <p:nvPr/>
        </p:nvSpPr>
        <p:spPr>
          <a:xfrm>
            <a:off x="7681123" y="3874334"/>
            <a:ext cx="4510877" cy="369332"/>
          </a:xfrm>
          <a:prstGeom prst="rect">
            <a:avLst/>
          </a:prstGeom>
          <a:noFill/>
        </p:spPr>
        <p:txBody>
          <a:bodyPr wrap="square" rtlCol="0">
            <a:spAutoFit/>
          </a:bodyPr>
          <a:lstStyle/>
          <a:p>
            <a:r>
              <a:rPr lang="en-US" altLang="zh-TW" dirty="0"/>
              <a:t>API</a:t>
            </a:r>
            <a:r>
              <a:rPr lang="zh-TW" altLang="en-US" dirty="0"/>
              <a:t> </a:t>
            </a:r>
            <a:r>
              <a:rPr lang="en-US" altLang="zh-TW" dirty="0"/>
              <a:t>call using LLM output as parameters</a:t>
            </a:r>
            <a:endParaRPr lang="en-US" dirty="0"/>
          </a:p>
        </p:txBody>
      </p:sp>
      <p:cxnSp>
        <p:nvCxnSpPr>
          <p:cNvPr id="17" name="Straight Arrow Connector 15">
            <a:extLst>
              <a:ext uri="{FF2B5EF4-FFF2-40B4-BE49-F238E27FC236}">
                <a16:creationId xmlns:a16="http://schemas.microsoft.com/office/drawing/2014/main" id="{5B43DB3A-1B0F-44D6-8B0E-DB4899F37A2C}"/>
              </a:ext>
            </a:extLst>
          </p:cNvPr>
          <p:cNvCxnSpPr>
            <a:cxnSpLocks/>
          </p:cNvCxnSpPr>
          <p:nvPr/>
        </p:nvCxnSpPr>
        <p:spPr bwMode="auto">
          <a:xfrm flipH="1">
            <a:off x="4130125" y="1668739"/>
            <a:ext cx="37156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8" name="TextBox 16">
            <a:extLst>
              <a:ext uri="{FF2B5EF4-FFF2-40B4-BE49-F238E27FC236}">
                <a16:creationId xmlns:a16="http://schemas.microsoft.com/office/drawing/2014/main" id="{EAA1AFD6-7A04-446B-B7CA-312A7693705E}"/>
              </a:ext>
            </a:extLst>
          </p:cNvPr>
          <p:cNvSpPr txBox="1"/>
          <p:nvPr/>
        </p:nvSpPr>
        <p:spPr>
          <a:xfrm>
            <a:off x="4498576" y="1484073"/>
            <a:ext cx="4510877" cy="369332"/>
          </a:xfrm>
          <a:prstGeom prst="rect">
            <a:avLst/>
          </a:prstGeom>
          <a:noFill/>
        </p:spPr>
        <p:txBody>
          <a:bodyPr wrap="square" rtlCol="0">
            <a:spAutoFit/>
          </a:bodyPr>
          <a:lstStyle/>
          <a:p>
            <a:r>
              <a:rPr lang="en-US" altLang="zh-TW" dirty="0"/>
              <a:t>Prepare the API functions you require</a:t>
            </a:r>
            <a:endParaRPr lang="en-US" dirty="0"/>
          </a:p>
        </p:txBody>
      </p:sp>
      <p:cxnSp>
        <p:nvCxnSpPr>
          <p:cNvPr id="9" name="接點: 肘形 8">
            <a:extLst>
              <a:ext uri="{FF2B5EF4-FFF2-40B4-BE49-F238E27FC236}">
                <a16:creationId xmlns:a16="http://schemas.microsoft.com/office/drawing/2014/main" id="{5B52B31F-961F-441F-A186-5486FD8A1D5B}"/>
              </a:ext>
            </a:extLst>
          </p:cNvPr>
          <p:cNvCxnSpPr>
            <a:cxnSpLocks/>
          </p:cNvCxnSpPr>
          <p:nvPr/>
        </p:nvCxnSpPr>
        <p:spPr bwMode="auto">
          <a:xfrm rot="10800000" flipV="1">
            <a:off x="9880520" y="4169095"/>
            <a:ext cx="1183719" cy="349788"/>
          </a:xfrm>
          <a:prstGeom prst="bentConnector3">
            <a:avLst>
              <a:gd name="adj1" fmla="val -379"/>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5023915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62EF4A-7B58-4786-A1C5-1758BEBCFFAF}"/>
              </a:ext>
            </a:extLst>
          </p:cNvPr>
          <p:cNvSpPr>
            <a:spLocks noGrp="1"/>
          </p:cNvSpPr>
          <p:nvPr>
            <p:ph type="title"/>
          </p:nvPr>
        </p:nvSpPr>
        <p:spPr/>
        <p:txBody>
          <a:bodyPr/>
          <a:lstStyle/>
          <a:p>
            <a:r>
              <a:rPr lang="en-US" altLang="zh-TW" dirty="0"/>
              <a:t>Before We Continue</a:t>
            </a:r>
            <a:endParaRPr lang="zh-TW" altLang="en-US" dirty="0"/>
          </a:p>
        </p:txBody>
      </p:sp>
      <p:sp>
        <p:nvSpPr>
          <p:cNvPr id="3" name="內容版面配置區 2">
            <a:extLst>
              <a:ext uri="{FF2B5EF4-FFF2-40B4-BE49-F238E27FC236}">
                <a16:creationId xmlns:a16="http://schemas.microsoft.com/office/drawing/2014/main" id="{15495E3A-8AE6-4E3A-BE78-53A642AFD1E3}"/>
              </a:ext>
            </a:extLst>
          </p:cNvPr>
          <p:cNvSpPr>
            <a:spLocks noGrp="1"/>
          </p:cNvSpPr>
          <p:nvPr>
            <p:ph idx="1"/>
          </p:nvPr>
        </p:nvSpPr>
        <p:spPr/>
        <p:txBody>
          <a:bodyPr/>
          <a:lstStyle/>
          <a:p>
            <a:r>
              <a:rPr lang="en-US" altLang="zh-TW" sz="2400" dirty="0"/>
              <a:t>For those who would like to run the demos during the practical section, the code will be available at: </a:t>
            </a:r>
            <a:r>
              <a:rPr lang="en-US" altLang="zh-TW" sz="2400" dirty="0">
                <a:hlinkClick r:id="rId2"/>
              </a:rPr>
              <a:t>https://github.com/jonathansimple/intro-to-llms</a:t>
            </a:r>
            <a:endParaRPr lang="en-US" altLang="zh-TW" sz="2400" dirty="0"/>
          </a:p>
          <a:p>
            <a:r>
              <a:rPr lang="en-US" altLang="zh-TW" sz="2400" dirty="0"/>
              <a:t>The relevant programs are in the </a:t>
            </a:r>
            <a:r>
              <a:rPr lang="en-US" altLang="zh-TW" sz="2400" b="1" dirty="0" err="1">
                <a:solidFill>
                  <a:srgbClr val="FF0000"/>
                </a:solidFill>
              </a:rPr>
              <a:t>vllm</a:t>
            </a:r>
            <a:r>
              <a:rPr lang="en-US" altLang="zh-TW" sz="2400" b="1" dirty="0">
                <a:solidFill>
                  <a:srgbClr val="FF0000"/>
                </a:solidFill>
              </a:rPr>
              <a:t> </a:t>
            </a:r>
            <a:r>
              <a:rPr lang="en-US" altLang="zh-TW" sz="2400" dirty="0"/>
              <a:t>folder</a:t>
            </a:r>
            <a:endParaRPr lang="zh-TW" altLang="en-US" sz="2400" dirty="0"/>
          </a:p>
        </p:txBody>
      </p:sp>
      <p:sp>
        <p:nvSpPr>
          <p:cNvPr id="4" name="投影片編號版面配置區 3">
            <a:extLst>
              <a:ext uri="{FF2B5EF4-FFF2-40B4-BE49-F238E27FC236}">
                <a16:creationId xmlns:a16="http://schemas.microsoft.com/office/drawing/2014/main" id="{985FE2E2-6DC6-4FB8-AA29-D9197AB5561F}"/>
              </a:ext>
            </a:extLst>
          </p:cNvPr>
          <p:cNvSpPr>
            <a:spLocks noGrp="1"/>
          </p:cNvSpPr>
          <p:nvPr>
            <p:ph type="sldNum" sz="quarter" idx="10"/>
          </p:nvPr>
        </p:nvSpPr>
        <p:spPr/>
        <p:txBody>
          <a:bodyPr/>
          <a:lstStyle/>
          <a:p>
            <a:pPr>
              <a:defRPr/>
            </a:pPr>
            <a:fld id="{CF627BE3-1269-44D5-A349-82FD5D94EBD8}" type="slidenum">
              <a:rPr lang="en-US" altLang="zh-TW" smtClean="0"/>
              <a:pPr>
                <a:defRPr/>
              </a:pPr>
              <a:t>38</a:t>
            </a:fld>
            <a:endParaRPr lang="en-US" altLang="zh-TW"/>
          </a:p>
        </p:txBody>
      </p:sp>
      <p:pic>
        <p:nvPicPr>
          <p:cNvPr id="6" name="圖片 5">
            <a:extLst>
              <a:ext uri="{FF2B5EF4-FFF2-40B4-BE49-F238E27FC236}">
                <a16:creationId xmlns:a16="http://schemas.microsoft.com/office/drawing/2014/main" id="{39C16778-E8F4-48AC-BA00-B09A31282E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3769" y="2753139"/>
            <a:ext cx="3444462" cy="3444462"/>
          </a:xfrm>
          <a:prstGeom prst="rect">
            <a:avLst/>
          </a:prstGeom>
        </p:spPr>
      </p:pic>
      <p:sp>
        <p:nvSpPr>
          <p:cNvPr id="7" name="文字方塊 6">
            <a:extLst>
              <a:ext uri="{FF2B5EF4-FFF2-40B4-BE49-F238E27FC236}">
                <a16:creationId xmlns:a16="http://schemas.microsoft.com/office/drawing/2014/main" id="{E00C8D37-04B2-493E-8925-789E3D8E0732}"/>
              </a:ext>
            </a:extLst>
          </p:cNvPr>
          <p:cNvSpPr txBox="1"/>
          <p:nvPr/>
        </p:nvSpPr>
        <p:spPr>
          <a:xfrm>
            <a:off x="4424294" y="6061634"/>
            <a:ext cx="3343412" cy="369332"/>
          </a:xfrm>
          <a:prstGeom prst="rect">
            <a:avLst/>
          </a:prstGeom>
          <a:noFill/>
        </p:spPr>
        <p:txBody>
          <a:bodyPr wrap="square" rtlCol="0">
            <a:spAutoFit/>
          </a:bodyPr>
          <a:lstStyle/>
          <a:p>
            <a:pPr algn="ctr"/>
            <a:r>
              <a:rPr lang="en-US" altLang="zh-TW" dirty="0"/>
              <a:t>QR code to the GitHub repo</a:t>
            </a:r>
            <a:endParaRPr lang="zh-TW" altLang="en-US" dirty="0"/>
          </a:p>
        </p:txBody>
      </p:sp>
    </p:spTree>
    <p:extLst>
      <p:ext uri="{BB962C8B-B14F-4D97-AF65-F5344CB8AC3E}">
        <p14:creationId xmlns:p14="http://schemas.microsoft.com/office/powerpoint/2010/main" val="30972709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10421357" cy="1758697"/>
          </a:xfrm>
        </p:spPr>
        <p:txBody>
          <a:bodyPr/>
          <a:lstStyle/>
          <a:p>
            <a:r>
              <a:rPr lang="en-US" altLang="zh-TW" sz="5400" dirty="0"/>
              <a:t>Difference Between Nvidia/CUDA and AMD/ROCm Platforms</a:t>
            </a:r>
          </a:p>
        </p:txBody>
      </p:sp>
    </p:spTree>
    <p:extLst>
      <p:ext uri="{BB962C8B-B14F-4D97-AF65-F5344CB8AC3E}">
        <p14:creationId xmlns:p14="http://schemas.microsoft.com/office/powerpoint/2010/main" val="16289532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4B1611-2464-464A-A2D6-5D66AF0D21D9}"/>
              </a:ext>
            </a:extLst>
          </p:cNvPr>
          <p:cNvSpPr>
            <a:spLocks noGrp="1"/>
          </p:cNvSpPr>
          <p:nvPr>
            <p:ph type="title"/>
          </p:nvPr>
        </p:nvSpPr>
        <p:spPr>
          <a:xfrm>
            <a:off x="609600" y="79512"/>
            <a:ext cx="11159067" cy="908548"/>
          </a:xfrm>
        </p:spPr>
        <p:txBody>
          <a:bodyPr/>
          <a:lstStyle/>
          <a:p>
            <a:r>
              <a:rPr lang="en-US" altLang="zh-TW" dirty="0"/>
              <a:t>Difference Between AMD and Nvidia Platforms</a:t>
            </a:r>
            <a:endParaRPr lang="zh-TW" altLang="en-US" dirty="0"/>
          </a:p>
        </p:txBody>
      </p:sp>
      <p:graphicFrame>
        <p:nvGraphicFramePr>
          <p:cNvPr id="5" name="表格 5">
            <a:extLst>
              <a:ext uri="{FF2B5EF4-FFF2-40B4-BE49-F238E27FC236}">
                <a16:creationId xmlns:a16="http://schemas.microsoft.com/office/drawing/2014/main" id="{CEA37C6C-DF5F-455A-8539-BC2C6937D8F4}"/>
              </a:ext>
            </a:extLst>
          </p:cNvPr>
          <p:cNvGraphicFramePr>
            <a:graphicFrameLocks noGrp="1"/>
          </p:cNvGraphicFramePr>
          <p:nvPr>
            <p:ph idx="1"/>
            <p:extLst>
              <p:ext uri="{D42A27DB-BD31-4B8C-83A1-F6EECF244321}">
                <p14:modId xmlns:p14="http://schemas.microsoft.com/office/powerpoint/2010/main" val="3143877567"/>
              </p:ext>
            </p:extLst>
          </p:nvPr>
        </p:nvGraphicFramePr>
        <p:xfrm>
          <a:off x="609600" y="908548"/>
          <a:ext cx="10820400" cy="1651000"/>
        </p:xfrm>
        <a:graphic>
          <a:graphicData uri="http://schemas.openxmlformats.org/drawingml/2006/table">
            <a:tbl>
              <a:tblPr firstRow="1" bandRow="1">
                <a:tableStyleId>{073A0DAA-6AF3-43AB-8588-CEC1D06C72B9}</a:tableStyleId>
              </a:tblPr>
              <a:tblGrid>
                <a:gridCol w="1696278">
                  <a:extLst>
                    <a:ext uri="{9D8B030D-6E8A-4147-A177-3AD203B41FA5}">
                      <a16:colId xmlns:a16="http://schemas.microsoft.com/office/drawing/2014/main" val="1503817602"/>
                    </a:ext>
                  </a:extLst>
                </a:gridCol>
                <a:gridCol w="1461052">
                  <a:extLst>
                    <a:ext uri="{9D8B030D-6E8A-4147-A177-3AD203B41FA5}">
                      <a16:colId xmlns:a16="http://schemas.microsoft.com/office/drawing/2014/main" val="1978396379"/>
                    </a:ext>
                  </a:extLst>
                </a:gridCol>
                <a:gridCol w="3334910">
                  <a:extLst>
                    <a:ext uri="{9D8B030D-6E8A-4147-A177-3AD203B41FA5}">
                      <a16:colId xmlns:a16="http://schemas.microsoft.com/office/drawing/2014/main" val="1446696976"/>
                    </a:ext>
                  </a:extLst>
                </a:gridCol>
                <a:gridCol w="2164080">
                  <a:extLst>
                    <a:ext uri="{9D8B030D-6E8A-4147-A177-3AD203B41FA5}">
                      <a16:colId xmlns:a16="http://schemas.microsoft.com/office/drawing/2014/main" val="2157066813"/>
                    </a:ext>
                  </a:extLst>
                </a:gridCol>
                <a:gridCol w="2164080">
                  <a:extLst>
                    <a:ext uri="{9D8B030D-6E8A-4147-A177-3AD203B41FA5}">
                      <a16:colId xmlns:a16="http://schemas.microsoft.com/office/drawing/2014/main" val="2678391834"/>
                    </a:ext>
                  </a:extLst>
                </a:gridCol>
              </a:tblGrid>
              <a:tr h="370840">
                <a:tc>
                  <a:txBody>
                    <a:bodyPr/>
                    <a:lstStyle/>
                    <a:p>
                      <a:r>
                        <a:rPr lang="en-US" altLang="zh-TW" dirty="0"/>
                        <a:t>Platform</a:t>
                      </a:r>
                      <a:endParaRPr lang="zh-TW" altLang="en-US" dirty="0"/>
                    </a:p>
                  </a:txBody>
                  <a:tcPr/>
                </a:tc>
                <a:tc>
                  <a:txBody>
                    <a:bodyPr/>
                    <a:lstStyle/>
                    <a:p>
                      <a:r>
                        <a:rPr lang="en-US" altLang="zh-TW" dirty="0"/>
                        <a:t>Driver</a:t>
                      </a:r>
                      <a:endParaRPr lang="zh-TW" altLang="en-US" dirty="0"/>
                    </a:p>
                  </a:txBody>
                  <a:tcPr/>
                </a:tc>
                <a:tc>
                  <a:txBody>
                    <a:bodyPr/>
                    <a:lstStyle/>
                    <a:p>
                      <a:r>
                        <a:rPr lang="en-US" altLang="zh-TW" dirty="0"/>
                        <a:t>Library</a:t>
                      </a:r>
                      <a:endParaRPr lang="zh-TW" altLang="en-US" dirty="0"/>
                    </a:p>
                  </a:txBody>
                  <a:tcPr/>
                </a:tc>
                <a:tc>
                  <a:txBody>
                    <a:bodyPr/>
                    <a:lstStyle/>
                    <a:p>
                      <a:r>
                        <a:rPr lang="en-US" altLang="zh-TW" dirty="0"/>
                        <a:t>Source Code</a:t>
                      </a:r>
                      <a:endParaRPr lang="zh-TW" altLang="en-US" dirty="0"/>
                    </a:p>
                  </a:txBody>
                  <a:tcPr/>
                </a:tc>
                <a:tc>
                  <a:txBody>
                    <a:bodyPr/>
                    <a:lstStyle/>
                    <a:p>
                      <a:r>
                        <a:rPr lang="en-US" altLang="zh-TW" dirty="0"/>
                        <a:t>Operating System</a:t>
                      </a:r>
                      <a:endParaRPr lang="zh-TW" altLang="en-US" dirty="0"/>
                    </a:p>
                  </a:txBody>
                  <a:tcPr/>
                </a:tc>
                <a:extLst>
                  <a:ext uri="{0D108BD9-81ED-4DB2-BD59-A6C34878D82A}">
                    <a16:rowId xmlns:a16="http://schemas.microsoft.com/office/drawing/2014/main" val="3971886872"/>
                  </a:ext>
                </a:extLst>
              </a:tr>
              <a:tr h="370840">
                <a:tc>
                  <a:txBody>
                    <a:bodyPr/>
                    <a:lstStyle/>
                    <a:p>
                      <a:r>
                        <a:rPr lang="en-US" altLang="zh-TW" dirty="0"/>
                        <a:t>AMD</a:t>
                      </a:r>
                      <a:endParaRPr lang="zh-TW" altLang="en-US" dirty="0"/>
                    </a:p>
                  </a:txBody>
                  <a:tcPr/>
                </a:tc>
                <a:tc>
                  <a:txBody>
                    <a:bodyPr/>
                    <a:lstStyle/>
                    <a:p>
                      <a:r>
                        <a:rPr lang="en-US" altLang="zh-TW" dirty="0"/>
                        <a:t>ROCm</a:t>
                      </a:r>
                      <a:endParaRPr lang="zh-TW" altLang="en-US" dirty="0"/>
                    </a:p>
                  </a:txBody>
                  <a:tcPr/>
                </a:tc>
                <a:tc>
                  <a:txBody>
                    <a:bodyPr/>
                    <a:lstStyle/>
                    <a:p>
                      <a:r>
                        <a:rPr lang="en-US" altLang="zh-TW" dirty="0"/>
                        <a:t>ROCm-compliant libraries (ex. torch==2.8.0+rocm7.2)</a:t>
                      </a:r>
                      <a:endParaRPr lang="zh-TW" altLang="en-US" dirty="0"/>
                    </a:p>
                  </a:txBody>
                  <a:tcPr/>
                </a:tc>
                <a:tc>
                  <a:txBody>
                    <a:bodyPr/>
                    <a:lstStyle/>
                    <a:p>
                      <a:r>
                        <a:rPr lang="en-US" altLang="zh-TW" b="1" dirty="0"/>
                        <a:t>No difference</a:t>
                      </a:r>
                      <a:endParaRPr lang="zh-TW" altLang="en-US" b="1" dirty="0"/>
                    </a:p>
                  </a:txBody>
                  <a:tcPr/>
                </a:tc>
                <a:tc>
                  <a:txBody>
                    <a:bodyPr/>
                    <a:lstStyle/>
                    <a:p>
                      <a:r>
                        <a:rPr lang="en-US" altLang="zh-TW" b="0" dirty="0"/>
                        <a:t>Linux, partial Windows support </a:t>
                      </a:r>
                      <a:endParaRPr lang="zh-TW" altLang="en-US" b="0" dirty="0"/>
                    </a:p>
                  </a:txBody>
                  <a:tcPr/>
                </a:tc>
                <a:extLst>
                  <a:ext uri="{0D108BD9-81ED-4DB2-BD59-A6C34878D82A}">
                    <a16:rowId xmlns:a16="http://schemas.microsoft.com/office/drawing/2014/main" val="1271174867"/>
                  </a:ext>
                </a:extLst>
              </a:tr>
              <a:tr h="370840">
                <a:tc>
                  <a:txBody>
                    <a:bodyPr/>
                    <a:lstStyle/>
                    <a:p>
                      <a:r>
                        <a:rPr lang="en-US" altLang="zh-TW" dirty="0"/>
                        <a:t>Nvidia</a:t>
                      </a:r>
                      <a:endParaRPr lang="zh-TW" altLang="en-US" dirty="0"/>
                    </a:p>
                  </a:txBody>
                  <a:tcPr/>
                </a:tc>
                <a:tc>
                  <a:txBody>
                    <a:bodyPr/>
                    <a:lstStyle/>
                    <a:p>
                      <a:r>
                        <a:rPr lang="en-US" altLang="zh-TW" dirty="0"/>
                        <a:t>CUDA</a:t>
                      </a:r>
                      <a:endParaRPr lang="zh-TW" altLang="en-US" dirty="0"/>
                    </a:p>
                  </a:txBody>
                  <a:tcPr/>
                </a:tc>
                <a:tc>
                  <a:txBody>
                    <a:bodyPr/>
                    <a:lstStyle/>
                    <a:p>
                      <a:r>
                        <a:rPr lang="en-US" altLang="zh-TW" dirty="0"/>
                        <a:t>CUDA-compliant libraries (ex. torch==2.8.0+cu126)</a:t>
                      </a:r>
                      <a:endParaRPr lang="zh-TW" altLang="en-US" dirty="0"/>
                    </a:p>
                  </a:txBody>
                  <a:tcPr/>
                </a:tc>
                <a:tc>
                  <a:txBody>
                    <a:bodyPr/>
                    <a:lstStyle/>
                    <a:p>
                      <a:r>
                        <a:rPr lang="en-US" altLang="zh-TW" b="1" dirty="0"/>
                        <a:t>No difference</a:t>
                      </a:r>
                      <a:endParaRPr lang="zh-TW" altLang="en-US" dirty="0"/>
                    </a:p>
                  </a:txBody>
                  <a:tcPr/>
                </a:tc>
                <a:tc>
                  <a:txBody>
                    <a:bodyPr/>
                    <a:lstStyle/>
                    <a:p>
                      <a:r>
                        <a:rPr lang="en-US" altLang="zh-TW" dirty="0"/>
                        <a:t>Linux, Windows</a:t>
                      </a:r>
                      <a:endParaRPr lang="zh-TW" altLang="en-US" dirty="0"/>
                    </a:p>
                  </a:txBody>
                  <a:tcPr/>
                </a:tc>
                <a:extLst>
                  <a:ext uri="{0D108BD9-81ED-4DB2-BD59-A6C34878D82A}">
                    <a16:rowId xmlns:a16="http://schemas.microsoft.com/office/drawing/2014/main" val="434360431"/>
                  </a:ext>
                </a:extLst>
              </a:tr>
            </a:tbl>
          </a:graphicData>
        </a:graphic>
      </p:graphicFrame>
      <p:sp>
        <p:nvSpPr>
          <p:cNvPr id="4" name="投影片編號版面配置區 3">
            <a:extLst>
              <a:ext uri="{FF2B5EF4-FFF2-40B4-BE49-F238E27FC236}">
                <a16:creationId xmlns:a16="http://schemas.microsoft.com/office/drawing/2014/main" id="{1AD2BDD3-040D-4DAA-8A92-2189540B5547}"/>
              </a:ext>
            </a:extLst>
          </p:cNvPr>
          <p:cNvSpPr>
            <a:spLocks noGrp="1"/>
          </p:cNvSpPr>
          <p:nvPr>
            <p:ph type="sldNum" sz="quarter" idx="10"/>
          </p:nvPr>
        </p:nvSpPr>
        <p:spPr/>
        <p:txBody>
          <a:bodyPr/>
          <a:lstStyle/>
          <a:p>
            <a:pPr>
              <a:defRPr/>
            </a:pPr>
            <a:fld id="{CF627BE3-1269-44D5-A349-82FD5D94EBD8}" type="slidenum">
              <a:rPr lang="en-US" altLang="zh-TW" smtClean="0"/>
              <a:pPr>
                <a:defRPr/>
              </a:pPr>
              <a:t>40</a:t>
            </a:fld>
            <a:endParaRPr lang="en-US" altLang="zh-TW"/>
          </a:p>
        </p:txBody>
      </p:sp>
      <p:sp>
        <p:nvSpPr>
          <p:cNvPr id="6" name="文字方塊 5">
            <a:extLst>
              <a:ext uri="{FF2B5EF4-FFF2-40B4-BE49-F238E27FC236}">
                <a16:creationId xmlns:a16="http://schemas.microsoft.com/office/drawing/2014/main" id="{F57D93CF-C682-401E-BBA1-C80A48D64DBB}"/>
              </a:ext>
            </a:extLst>
          </p:cNvPr>
          <p:cNvSpPr txBox="1"/>
          <p:nvPr/>
        </p:nvSpPr>
        <p:spPr>
          <a:xfrm>
            <a:off x="654326" y="2604553"/>
            <a:ext cx="10730948" cy="3970318"/>
          </a:xfrm>
          <a:prstGeom prst="rect">
            <a:avLst/>
          </a:prstGeom>
          <a:noFill/>
        </p:spPr>
        <p:txBody>
          <a:bodyPr wrap="square">
            <a:spAutoFit/>
          </a:bodyPr>
          <a:lstStyle/>
          <a:p>
            <a:r>
              <a:rPr lang="en-US" altLang="zh-TW" u="sng" dirty="0"/>
              <a:t>Drivers &amp; Library:</a:t>
            </a:r>
          </a:p>
          <a:p>
            <a:pPr marL="285750" indent="-285750">
              <a:buFont typeface="Arial" panose="020B0604020202020204" pitchFamily="34" charset="0"/>
              <a:buChar char="•"/>
            </a:pPr>
            <a:r>
              <a:rPr lang="en-US" altLang="zh-TW" dirty="0"/>
              <a:t>To make use of hardware (GPU) acceleration features, the platform specific version of the Python library/packages and the correct hardware drivers need to be installed.</a:t>
            </a:r>
          </a:p>
          <a:p>
            <a:pPr marL="285750" indent="-285750">
              <a:buFont typeface="Arial" panose="020B0604020202020204" pitchFamily="34" charset="0"/>
              <a:buChar char="•"/>
            </a:pPr>
            <a:r>
              <a:rPr lang="en-US" altLang="zh-TW" dirty="0"/>
              <a:t>For Windows ROCm support, you will need to look into the rocm.nightlies.amd.com wheels for ROCm compatible </a:t>
            </a:r>
            <a:r>
              <a:rPr lang="en-US" altLang="zh-TW" dirty="0" err="1"/>
              <a:t>Pytorch</a:t>
            </a:r>
            <a:r>
              <a:rPr lang="en-US" altLang="zh-TW" dirty="0"/>
              <a:t> drivers</a:t>
            </a:r>
          </a:p>
          <a:p>
            <a:endParaRPr lang="en-US" altLang="zh-TW" dirty="0"/>
          </a:p>
          <a:p>
            <a:r>
              <a:rPr lang="en-US" altLang="zh-TW" u="sng" dirty="0"/>
              <a:t>Source Code:</a:t>
            </a:r>
          </a:p>
          <a:p>
            <a:pPr marL="285750" indent="-285750">
              <a:buFont typeface="Arial" panose="020B0604020202020204" pitchFamily="34" charset="0"/>
              <a:buChar char="•"/>
            </a:pPr>
            <a:r>
              <a:rPr lang="en-US" altLang="zh-TW" dirty="0"/>
              <a:t>Code for both ecosystems remains exactly the same. Keywords used in CUDA environment such as </a:t>
            </a:r>
            <a:r>
              <a:rPr lang="en-US" altLang="zh-TW" dirty="0">
                <a:latin typeface="Consolas" panose="020B0609020204030204" pitchFamily="49" charset="0"/>
              </a:rPr>
              <a:t>model.to(“</a:t>
            </a:r>
            <a:r>
              <a:rPr lang="en-US" altLang="zh-TW" dirty="0" err="1">
                <a:solidFill>
                  <a:srgbClr val="FF0000"/>
                </a:solidFill>
                <a:latin typeface="Consolas" panose="020B0609020204030204" pitchFamily="49" charset="0"/>
              </a:rPr>
              <a:t>cuda</a:t>
            </a:r>
            <a:r>
              <a:rPr lang="en-US" altLang="zh-TW" dirty="0">
                <a:latin typeface="Consolas" panose="020B0609020204030204" pitchFamily="49" charset="0"/>
              </a:rPr>
              <a:t>”)</a:t>
            </a:r>
            <a:r>
              <a:rPr lang="en-US" altLang="zh-TW" dirty="0"/>
              <a:t> is used for </a:t>
            </a:r>
            <a:r>
              <a:rPr lang="en-US" altLang="zh-TW" b="1" dirty="0"/>
              <a:t>both </a:t>
            </a:r>
            <a:r>
              <a:rPr lang="en-US" altLang="zh-TW" dirty="0"/>
              <a:t>ROCm and CUDA projects.</a:t>
            </a:r>
          </a:p>
          <a:p>
            <a:pPr marL="285750" indent="-285750">
              <a:buFont typeface="Arial" panose="020B0604020202020204" pitchFamily="34" charset="0"/>
              <a:buChar char="•"/>
            </a:pPr>
            <a:r>
              <a:rPr lang="en-US" altLang="zh-TW" dirty="0"/>
              <a:t>For server API calls (</a:t>
            </a:r>
            <a:r>
              <a:rPr lang="en-US" altLang="zh-TW" dirty="0" err="1"/>
              <a:t>OpenAI</a:t>
            </a:r>
            <a:r>
              <a:rPr lang="en-US" altLang="zh-TW" dirty="0"/>
              <a:t>, </a:t>
            </a:r>
            <a:r>
              <a:rPr lang="en-US" altLang="zh-TW" dirty="0" err="1"/>
              <a:t>vLLM</a:t>
            </a:r>
            <a:r>
              <a:rPr lang="en-US" altLang="zh-TW" dirty="0"/>
              <a:t>, </a:t>
            </a:r>
            <a:r>
              <a:rPr lang="en-US" altLang="zh-TW" dirty="0" err="1"/>
              <a:t>Ollama</a:t>
            </a:r>
            <a:r>
              <a:rPr lang="en-US" altLang="zh-TW" dirty="0"/>
              <a:t>, etc.), the method for sending requests is the same for both platforms</a:t>
            </a:r>
          </a:p>
          <a:p>
            <a:endParaRPr lang="en-US" altLang="zh-TW" dirty="0"/>
          </a:p>
          <a:p>
            <a:r>
              <a:rPr lang="en-US" altLang="zh-TW" u="sng" dirty="0"/>
              <a:t>Operating Systems:</a:t>
            </a:r>
          </a:p>
          <a:p>
            <a:pPr marL="285750" indent="-285750">
              <a:buFont typeface="Arial" panose="020B0604020202020204" pitchFamily="34" charset="0"/>
              <a:buChar char="•"/>
            </a:pPr>
            <a:r>
              <a:rPr lang="en-US" altLang="zh-TW" dirty="0"/>
              <a:t>If you wish to run ROCm on Windows, you will need to use </a:t>
            </a:r>
            <a:r>
              <a:rPr lang="en-US" altLang="zh-TW" dirty="0" err="1"/>
              <a:t>wsl</a:t>
            </a:r>
            <a:r>
              <a:rPr lang="en-US" altLang="zh-TW" dirty="0"/>
              <a:t>.</a:t>
            </a:r>
            <a:endParaRPr lang="zh-TW" altLang="en-US" dirty="0"/>
          </a:p>
        </p:txBody>
      </p:sp>
    </p:spTree>
    <p:extLst>
      <p:ext uri="{BB962C8B-B14F-4D97-AF65-F5344CB8AC3E}">
        <p14:creationId xmlns:p14="http://schemas.microsoft.com/office/powerpoint/2010/main" val="3064396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62EF4A-7B58-4786-A1C5-1758BEBCFFAF}"/>
              </a:ext>
            </a:extLst>
          </p:cNvPr>
          <p:cNvSpPr>
            <a:spLocks noGrp="1"/>
          </p:cNvSpPr>
          <p:nvPr>
            <p:ph type="title"/>
          </p:nvPr>
        </p:nvSpPr>
        <p:spPr/>
        <p:txBody>
          <a:bodyPr/>
          <a:lstStyle/>
          <a:p>
            <a:r>
              <a:rPr lang="en-US" altLang="zh-TW" dirty="0"/>
              <a:t>Setting Up Your Environment</a:t>
            </a:r>
            <a:endParaRPr lang="zh-TW" altLang="en-US" dirty="0"/>
          </a:p>
        </p:txBody>
      </p:sp>
      <p:sp>
        <p:nvSpPr>
          <p:cNvPr id="3" name="內容版面配置區 2">
            <a:extLst>
              <a:ext uri="{FF2B5EF4-FFF2-40B4-BE49-F238E27FC236}">
                <a16:creationId xmlns:a16="http://schemas.microsoft.com/office/drawing/2014/main" id="{15495E3A-8AE6-4E3A-BE78-53A642AFD1E3}"/>
              </a:ext>
            </a:extLst>
          </p:cNvPr>
          <p:cNvSpPr>
            <a:spLocks noGrp="1"/>
          </p:cNvSpPr>
          <p:nvPr>
            <p:ph idx="1"/>
          </p:nvPr>
        </p:nvSpPr>
        <p:spPr/>
        <p:txBody>
          <a:bodyPr/>
          <a:lstStyle/>
          <a:p>
            <a:r>
              <a:rPr lang="en-US" altLang="zh-TW" sz="2400" dirty="0"/>
              <a:t>For today, you don’t need to worry about having an AMD PC/laptop or setting up ROCm</a:t>
            </a:r>
          </a:p>
          <a:p>
            <a:pPr lvl="1"/>
            <a:r>
              <a:rPr lang="en-US" altLang="zh-TW" sz="2000" dirty="0"/>
              <a:t>You can apply for a free user account to use the ITRI MI300 server; to set up a ROCm environment on </a:t>
            </a:r>
            <a:r>
              <a:rPr lang="en-US" altLang="zh-TW" sz="2000" dirty="0" err="1"/>
              <a:t>MLSteam</a:t>
            </a:r>
            <a:r>
              <a:rPr lang="en-US" altLang="zh-TW" sz="2000" dirty="0"/>
              <a:t>, you’ll need to use Docker images provided by AMD</a:t>
            </a:r>
          </a:p>
          <a:p>
            <a:r>
              <a:rPr lang="en-US" altLang="zh-TW" sz="2400" dirty="0"/>
              <a:t>You can use any computer/laptop for today’s in-lecture demo (AMD/Nvidia/CPU only devices are all compatible)</a:t>
            </a:r>
          </a:p>
          <a:p>
            <a:pPr lvl="1"/>
            <a:r>
              <a:rPr lang="en-US" altLang="zh-TW" sz="2000" dirty="0"/>
              <a:t>The demos are quick and uses very lightweight local models or offloads heavy computation to the AMD server</a:t>
            </a:r>
          </a:p>
          <a:p>
            <a:endParaRPr lang="zh-TW" altLang="en-US" sz="2400" dirty="0"/>
          </a:p>
        </p:txBody>
      </p:sp>
      <p:sp>
        <p:nvSpPr>
          <p:cNvPr id="4" name="投影片編號版面配置區 3">
            <a:extLst>
              <a:ext uri="{FF2B5EF4-FFF2-40B4-BE49-F238E27FC236}">
                <a16:creationId xmlns:a16="http://schemas.microsoft.com/office/drawing/2014/main" id="{985FE2E2-6DC6-4FB8-AA29-D9197AB5561F}"/>
              </a:ext>
            </a:extLst>
          </p:cNvPr>
          <p:cNvSpPr>
            <a:spLocks noGrp="1"/>
          </p:cNvSpPr>
          <p:nvPr>
            <p:ph type="sldNum" sz="quarter" idx="10"/>
          </p:nvPr>
        </p:nvSpPr>
        <p:spPr/>
        <p:txBody>
          <a:bodyPr/>
          <a:lstStyle/>
          <a:p>
            <a:pPr>
              <a:defRPr/>
            </a:pPr>
            <a:fld id="{CF627BE3-1269-44D5-A349-82FD5D94EBD8}" type="slidenum">
              <a:rPr lang="en-US" altLang="zh-TW" smtClean="0"/>
              <a:pPr>
                <a:defRPr/>
              </a:pPr>
              <a:t>41</a:t>
            </a:fld>
            <a:endParaRPr lang="en-US" altLang="zh-TW"/>
          </a:p>
        </p:txBody>
      </p:sp>
    </p:spTree>
    <p:extLst>
      <p:ext uri="{BB962C8B-B14F-4D97-AF65-F5344CB8AC3E}">
        <p14:creationId xmlns:p14="http://schemas.microsoft.com/office/powerpoint/2010/main" val="41929593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10421357" cy="1758697"/>
          </a:xfrm>
        </p:spPr>
        <p:txBody>
          <a:bodyPr/>
          <a:lstStyle/>
          <a:p>
            <a:r>
              <a:rPr lang="en-US" altLang="zh-TW" sz="5400" dirty="0"/>
              <a:t>Interfacing with the MI300 Server</a:t>
            </a:r>
          </a:p>
        </p:txBody>
      </p:sp>
    </p:spTree>
    <p:extLst>
      <p:ext uri="{BB962C8B-B14F-4D97-AF65-F5344CB8AC3E}">
        <p14:creationId xmlns:p14="http://schemas.microsoft.com/office/powerpoint/2010/main" val="598795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FF8A6C-4878-4EEC-B5C8-CA5410F53D58}"/>
              </a:ext>
            </a:extLst>
          </p:cNvPr>
          <p:cNvSpPr>
            <a:spLocks noGrp="1"/>
          </p:cNvSpPr>
          <p:nvPr>
            <p:ph type="title"/>
          </p:nvPr>
        </p:nvSpPr>
        <p:spPr/>
        <p:txBody>
          <a:bodyPr/>
          <a:lstStyle/>
          <a:p>
            <a:r>
              <a:rPr lang="en-US" altLang="zh-TW" dirty="0"/>
              <a:t>MI300 Server Information</a:t>
            </a:r>
            <a:endParaRPr lang="zh-TW" altLang="en-US" dirty="0"/>
          </a:p>
        </p:txBody>
      </p:sp>
      <p:sp>
        <p:nvSpPr>
          <p:cNvPr id="3" name="內容版面配置區 2">
            <a:extLst>
              <a:ext uri="{FF2B5EF4-FFF2-40B4-BE49-F238E27FC236}">
                <a16:creationId xmlns:a16="http://schemas.microsoft.com/office/drawing/2014/main" id="{9F654E9F-59F8-4F58-9D11-57D129CF90A4}"/>
              </a:ext>
            </a:extLst>
          </p:cNvPr>
          <p:cNvSpPr>
            <a:spLocks noGrp="1"/>
          </p:cNvSpPr>
          <p:nvPr>
            <p:ph idx="1"/>
          </p:nvPr>
        </p:nvSpPr>
        <p:spPr/>
        <p:txBody>
          <a:bodyPr/>
          <a:lstStyle/>
          <a:p>
            <a:r>
              <a:rPr lang="en-US" altLang="zh-TW" sz="2800" dirty="0"/>
              <a:t>VRAM capacity: 192 GB </a:t>
            </a:r>
          </a:p>
          <a:p>
            <a:r>
              <a:rPr lang="en-US" altLang="zh-TW" sz="2800" dirty="0"/>
              <a:t>Server IP: </a:t>
            </a:r>
            <a:r>
              <a:rPr lang="en-US" altLang="zh-TW" sz="2800" u="sng" dirty="0"/>
              <a:t>210.61.209.139</a:t>
            </a:r>
          </a:p>
          <a:p>
            <a:r>
              <a:rPr lang="en-US" altLang="zh-TW" sz="2800" dirty="0"/>
              <a:t>Models are hosted via </a:t>
            </a:r>
            <a:r>
              <a:rPr lang="en-US" altLang="zh-TW" sz="2800" dirty="0" err="1"/>
              <a:t>vLLM</a:t>
            </a:r>
            <a:endParaRPr lang="en-US" altLang="zh-TW" sz="2800" dirty="0"/>
          </a:p>
          <a:p>
            <a:pPr lvl="1"/>
            <a:r>
              <a:rPr lang="en-US" altLang="zh-TW" sz="2400" dirty="0" err="1"/>
              <a:t>Qwen</a:t>
            </a:r>
            <a:r>
              <a:rPr lang="en-US" altLang="zh-TW" sz="2400" dirty="0"/>
              <a:t>/Qwen3-30B-A3B (port 45600)</a:t>
            </a:r>
          </a:p>
          <a:p>
            <a:r>
              <a:rPr lang="en-US" altLang="zh-TW" sz="2800" dirty="0"/>
              <a:t>You can interact with the server through the Python </a:t>
            </a:r>
            <a:r>
              <a:rPr lang="en-US" altLang="zh-TW" sz="2800" dirty="0" err="1"/>
              <a:t>openai</a:t>
            </a:r>
            <a:r>
              <a:rPr lang="en-US" altLang="zh-TW" sz="2800" dirty="0"/>
              <a:t> library</a:t>
            </a:r>
          </a:p>
          <a:p>
            <a:pPr lvl="1"/>
            <a:r>
              <a:rPr lang="en-US" altLang="zh-TW" sz="2400" dirty="0"/>
              <a:t>Run pip install </a:t>
            </a:r>
            <a:r>
              <a:rPr lang="en-US" altLang="zh-TW" sz="2400" dirty="0" err="1"/>
              <a:t>openai</a:t>
            </a:r>
            <a:endParaRPr lang="en-US" altLang="zh-TW" sz="2400" dirty="0"/>
          </a:p>
          <a:p>
            <a:r>
              <a:rPr lang="en-US" altLang="zh-TW" sz="2800" dirty="0"/>
              <a:t>Access deadline: 5/3/2026</a:t>
            </a:r>
            <a:endParaRPr lang="zh-TW" altLang="en-US" sz="2800" dirty="0"/>
          </a:p>
        </p:txBody>
      </p:sp>
      <p:sp>
        <p:nvSpPr>
          <p:cNvPr id="4" name="投影片編號版面配置區 3">
            <a:extLst>
              <a:ext uri="{FF2B5EF4-FFF2-40B4-BE49-F238E27FC236}">
                <a16:creationId xmlns:a16="http://schemas.microsoft.com/office/drawing/2014/main" id="{A06D2E9A-2AB8-481E-89B0-D071EA4CE96F}"/>
              </a:ext>
            </a:extLst>
          </p:cNvPr>
          <p:cNvSpPr>
            <a:spLocks noGrp="1"/>
          </p:cNvSpPr>
          <p:nvPr>
            <p:ph type="sldNum" sz="quarter" idx="10"/>
          </p:nvPr>
        </p:nvSpPr>
        <p:spPr/>
        <p:txBody>
          <a:bodyPr/>
          <a:lstStyle/>
          <a:p>
            <a:pPr>
              <a:defRPr/>
            </a:pPr>
            <a:fld id="{CF627BE3-1269-44D5-A349-82FD5D94EBD8}" type="slidenum">
              <a:rPr lang="en-US" altLang="zh-TW" smtClean="0"/>
              <a:pPr>
                <a:defRPr/>
              </a:pPr>
              <a:t>43</a:t>
            </a:fld>
            <a:endParaRPr lang="en-US" altLang="zh-TW"/>
          </a:p>
        </p:txBody>
      </p:sp>
    </p:spTree>
    <p:extLst>
      <p:ext uri="{BB962C8B-B14F-4D97-AF65-F5344CB8AC3E}">
        <p14:creationId xmlns:p14="http://schemas.microsoft.com/office/powerpoint/2010/main" val="13647384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AB15A1-8262-446E-8F2B-F6EC0040CAFE}"/>
              </a:ext>
            </a:extLst>
          </p:cNvPr>
          <p:cNvSpPr>
            <a:spLocks noGrp="1"/>
          </p:cNvSpPr>
          <p:nvPr>
            <p:ph type="title"/>
          </p:nvPr>
        </p:nvSpPr>
        <p:spPr>
          <a:xfrm>
            <a:off x="601133" y="179305"/>
            <a:ext cx="11159067" cy="908548"/>
          </a:xfrm>
        </p:spPr>
        <p:txBody>
          <a:bodyPr/>
          <a:lstStyle/>
          <a:p>
            <a:r>
              <a:rPr lang="en-US" altLang="zh-TW" dirty="0" err="1"/>
              <a:t>vLLM</a:t>
            </a:r>
            <a:r>
              <a:rPr lang="en-US" altLang="zh-TW" dirty="0"/>
              <a:t> Interface</a:t>
            </a:r>
            <a:endParaRPr lang="zh-TW" altLang="en-US" dirty="0"/>
          </a:p>
        </p:txBody>
      </p:sp>
      <p:sp>
        <p:nvSpPr>
          <p:cNvPr id="4" name="投影片編號版面配置區 3">
            <a:extLst>
              <a:ext uri="{FF2B5EF4-FFF2-40B4-BE49-F238E27FC236}">
                <a16:creationId xmlns:a16="http://schemas.microsoft.com/office/drawing/2014/main" id="{EB761436-3435-47A5-AE84-29F6B716EB16}"/>
              </a:ext>
            </a:extLst>
          </p:cNvPr>
          <p:cNvSpPr>
            <a:spLocks noGrp="1"/>
          </p:cNvSpPr>
          <p:nvPr>
            <p:ph type="sldNum" sz="quarter" idx="10"/>
          </p:nvPr>
        </p:nvSpPr>
        <p:spPr/>
        <p:txBody>
          <a:bodyPr/>
          <a:lstStyle/>
          <a:p>
            <a:pPr>
              <a:defRPr/>
            </a:pPr>
            <a:fld id="{CF627BE3-1269-44D5-A349-82FD5D94EBD8}" type="slidenum">
              <a:rPr lang="en-US" altLang="zh-TW" smtClean="0"/>
              <a:pPr>
                <a:defRPr/>
              </a:pPr>
              <a:t>44</a:t>
            </a:fld>
            <a:endParaRPr lang="en-US" altLang="zh-TW"/>
          </a:p>
        </p:txBody>
      </p:sp>
      <p:pic>
        <p:nvPicPr>
          <p:cNvPr id="6" name="圖片 5">
            <a:extLst>
              <a:ext uri="{FF2B5EF4-FFF2-40B4-BE49-F238E27FC236}">
                <a16:creationId xmlns:a16="http://schemas.microsoft.com/office/drawing/2014/main" id="{0301BD79-E822-4D85-A639-E9F04B15E7FC}"/>
              </a:ext>
            </a:extLst>
          </p:cNvPr>
          <p:cNvPicPr>
            <a:picLocks noChangeAspect="1"/>
          </p:cNvPicPr>
          <p:nvPr/>
        </p:nvPicPr>
        <p:blipFill>
          <a:blip r:embed="rId2"/>
          <a:stretch>
            <a:fillRect/>
          </a:stretch>
        </p:blipFill>
        <p:spPr>
          <a:xfrm>
            <a:off x="0" y="874333"/>
            <a:ext cx="12192000" cy="5323268"/>
          </a:xfrm>
          <a:prstGeom prst="rect">
            <a:avLst/>
          </a:prstGeom>
        </p:spPr>
      </p:pic>
      <p:sp>
        <p:nvSpPr>
          <p:cNvPr id="3" name="矩形 2">
            <a:extLst>
              <a:ext uri="{FF2B5EF4-FFF2-40B4-BE49-F238E27FC236}">
                <a16:creationId xmlns:a16="http://schemas.microsoft.com/office/drawing/2014/main" id="{6D31CB23-6F93-47B1-B197-4DD59A63C4AC}"/>
              </a:ext>
            </a:extLst>
          </p:cNvPr>
          <p:cNvSpPr/>
          <p:nvPr/>
        </p:nvSpPr>
        <p:spPr bwMode="auto">
          <a:xfrm>
            <a:off x="3707296" y="3429000"/>
            <a:ext cx="2156791" cy="168965"/>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7" name="矩形 6">
            <a:extLst>
              <a:ext uri="{FF2B5EF4-FFF2-40B4-BE49-F238E27FC236}">
                <a16:creationId xmlns:a16="http://schemas.microsoft.com/office/drawing/2014/main" id="{A2DEE0CB-9980-41F5-9725-18B5A2720A44}"/>
              </a:ext>
            </a:extLst>
          </p:cNvPr>
          <p:cNvSpPr/>
          <p:nvPr/>
        </p:nvSpPr>
        <p:spPr bwMode="auto">
          <a:xfrm>
            <a:off x="3707295" y="4025348"/>
            <a:ext cx="2773018" cy="168965"/>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5" name="文字方塊 4">
            <a:extLst>
              <a:ext uri="{FF2B5EF4-FFF2-40B4-BE49-F238E27FC236}">
                <a16:creationId xmlns:a16="http://schemas.microsoft.com/office/drawing/2014/main" id="{443FC1B2-C89D-4857-BBB9-E807A1804CA8}"/>
              </a:ext>
            </a:extLst>
          </p:cNvPr>
          <p:cNvSpPr txBox="1"/>
          <p:nvPr/>
        </p:nvSpPr>
        <p:spPr>
          <a:xfrm>
            <a:off x="5966791" y="3212801"/>
            <a:ext cx="5950226" cy="646331"/>
          </a:xfrm>
          <a:prstGeom prst="rect">
            <a:avLst/>
          </a:prstGeom>
          <a:noFill/>
        </p:spPr>
        <p:txBody>
          <a:bodyPr wrap="square" rtlCol="0">
            <a:spAutoFit/>
          </a:bodyPr>
          <a:lstStyle/>
          <a:p>
            <a:r>
              <a:rPr lang="en-US" altLang="zh-TW" dirty="0">
                <a:solidFill>
                  <a:srgbClr val="FF0000"/>
                </a:solidFill>
              </a:rPr>
              <a:t>Gets the active model’s information, fast command that is good for making sure you can connect to the server</a:t>
            </a:r>
            <a:endParaRPr lang="zh-TW" altLang="en-US" dirty="0">
              <a:solidFill>
                <a:srgbClr val="FF0000"/>
              </a:solidFill>
            </a:endParaRPr>
          </a:p>
        </p:txBody>
      </p:sp>
      <p:sp>
        <p:nvSpPr>
          <p:cNvPr id="8" name="文字方塊 7">
            <a:extLst>
              <a:ext uri="{FF2B5EF4-FFF2-40B4-BE49-F238E27FC236}">
                <a16:creationId xmlns:a16="http://schemas.microsoft.com/office/drawing/2014/main" id="{0EDE0666-4B1E-4187-A365-5B8ABA32AD51}"/>
              </a:ext>
            </a:extLst>
          </p:cNvPr>
          <p:cNvSpPr txBox="1"/>
          <p:nvPr/>
        </p:nvSpPr>
        <p:spPr>
          <a:xfrm>
            <a:off x="6480312" y="3925164"/>
            <a:ext cx="5950226" cy="369332"/>
          </a:xfrm>
          <a:prstGeom prst="rect">
            <a:avLst/>
          </a:prstGeom>
          <a:noFill/>
        </p:spPr>
        <p:txBody>
          <a:bodyPr wrap="square" rtlCol="0">
            <a:spAutoFit/>
          </a:bodyPr>
          <a:lstStyle/>
          <a:p>
            <a:r>
              <a:rPr lang="en-US" altLang="zh-TW" dirty="0">
                <a:solidFill>
                  <a:srgbClr val="FF0000"/>
                </a:solidFill>
              </a:rPr>
              <a:t>The API you use to send queries to the LLM</a:t>
            </a:r>
            <a:endParaRPr lang="zh-TW" altLang="en-US" dirty="0">
              <a:solidFill>
                <a:srgbClr val="FF0000"/>
              </a:solidFill>
            </a:endParaRPr>
          </a:p>
        </p:txBody>
      </p:sp>
    </p:spTree>
    <p:extLst>
      <p:ext uri="{BB962C8B-B14F-4D97-AF65-F5344CB8AC3E}">
        <p14:creationId xmlns:p14="http://schemas.microsoft.com/office/powerpoint/2010/main" val="23830798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9AC8C4-19C6-4470-B4DE-8F471DE59124}"/>
              </a:ext>
            </a:extLst>
          </p:cNvPr>
          <p:cNvSpPr>
            <a:spLocks noGrp="1"/>
          </p:cNvSpPr>
          <p:nvPr>
            <p:ph type="title"/>
          </p:nvPr>
        </p:nvSpPr>
        <p:spPr/>
        <p:txBody>
          <a:bodyPr/>
          <a:lstStyle/>
          <a:p>
            <a:r>
              <a:rPr lang="en-US" altLang="zh-TW" dirty="0"/>
              <a:t>How to Access Server Resources</a:t>
            </a:r>
            <a:endParaRPr lang="zh-TW" altLang="en-US" dirty="0"/>
          </a:p>
        </p:txBody>
      </p:sp>
      <p:sp>
        <p:nvSpPr>
          <p:cNvPr id="3" name="內容版面配置區 2">
            <a:extLst>
              <a:ext uri="{FF2B5EF4-FFF2-40B4-BE49-F238E27FC236}">
                <a16:creationId xmlns:a16="http://schemas.microsoft.com/office/drawing/2014/main" id="{44B48CD8-22E6-4143-91E7-CAAC026B6262}"/>
              </a:ext>
            </a:extLst>
          </p:cNvPr>
          <p:cNvSpPr>
            <a:spLocks noGrp="1"/>
          </p:cNvSpPr>
          <p:nvPr>
            <p:ph idx="1"/>
          </p:nvPr>
        </p:nvSpPr>
        <p:spPr>
          <a:xfrm>
            <a:off x="609600" y="1206499"/>
            <a:ext cx="11152717" cy="4757737"/>
          </a:xfrm>
        </p:spPr>
        <p:txBody>
          <a:bodyPr/>
          <a:lstStyle/>
          <a:p>
            <a:r>
              <a:rPr lang="en-US" altLang="zh-TW" sz="2400" dirty="0"/>
              <a:t>You can query the server via command line or Python:</a:t>
            </a:r>
          </a:p>
          <a:p>
            <a:pPr marL="0" indent="0">
              <a:buNone/>
            </a:pPr>
            <a:endParaRPr lang="en-US" altLang="zh-TW" sz="2400" u="sng" dirty="0"/>
          </a:p>
          <a:p>
            <a:pPr marL="0" indent="0">
              <a:buNone/>
            </a:pPr>
            <a:r>
              <a:rPr lang="en-US" altLang="zh-TW" sz="2400" u="sng" dirty="0"/>
              <a:t>Terminal/Command Line (Windows):</a:t>
            </a:r>
          </a:p>
          <a:p>
            <a:r>
              <a:rPr lang="en-US" altLang="zh-TW" sz="2400" dirty="0"/>
              <a:t>To see the model information of the LLM hosted at the given port and to test connection to server:</a:t>
            </a:r>
          </a:p>
          <a:p>
            <a:pPr marL="0" indent="0" algn="ctr">
              <a:buNone/>
            </a:pPr>
            <a:r>
              <a:rPr lang="en-US" altLang="zh-TW" sz="2000" dirty="0">
                <a:latin typeface="Consolas" panose="020B0609020204030204" pitchFamily="49" charset="0"/>
              </a:rPr>
              <a:t>curl.exe 210.61.209.139:45600/v1/models</a:t>
            </a:r>
          </a:p>
          <a:p>
            <a:pPr marL="0" indent="0" algn="ctr">
              <a:buNone/>
            </a:pPr>
            <a:endParaRPr lang="en-US" altLang="zh-TW" sz="2000" dirty="0">
              <a:latin typeface="Consolas" panose="020B0609020204030204" pitchFamily="49" charset="0"/>
            </a:endParaRPr>
          </a:p>
          <a:p>
            <a:pPr marL="0" indent="0" algn="ctr">
              <a:buNone/>
            </a:pPr>
            <a:endParaRPr lang="en-US" altLang="zh-TW" sz="2000" dirty="0">
              <a:latin typeface="Consolas" panose="020B0609020204030204" pitchFamily="49" charset="0"/>
            </a:endParaRPr>
          </a:p>
          <a:p>
            <a:pPr marL="0" indent="0" algn="ctr">
              <a:buNone/>
            </a:pPr>
            <a:endParaRPr lang="en-US" altLang="zh-TW" sz="2000" dirty="0">
              <a:latin typeface="Consolas" panose="020B0609020204030204" pitchFamily="49" charset="0"/>
            </a:endParaRPr>
          </a:p>
          <a:p>
            <a:pPr marL="0" indent="0" algn="ctr">
              <a:buNone/>
            </a:pPr>
            <a:endParaRPr lang="en-US" altLang="zh-TW" sz="2000" dirty="0">
              <a:latin typeface="Consolas" panose="020B0609020204030204" pitchFamily="49" charset="0"/>
            </a:endParaRPr>
          </a:p>
          <a:p>
            <a:r>
              <a:rPr lang="en-US" altLang="zh-TW" sz="2400" dirty="0"/>
              <a:t>To send a request to the server:</a:t>
            </a:r>
          </a:p>
          <a:p>
            <a:pPr marL="0" indent="0" algn="ctr">
              <a:buNone/>
            </a:pPr>
            <a:r>
              <a:rPr lang="en-US" altLang="zh-TW" sz="1800" dirty="0">
                <a:latin typeface="Consolas" panose="020B0609020204030204" pitchFamily="49" charset="0"/>
              </a:rPr>
              <a:t>curl.exe -s http://210.61.209.139:45600/v1/chat/completions -H "Content-Type: application/json" --data-raw "{\"model\":\"Qwen/Qwen3-30B-A3B\",\"messages\":[{\"role\":\"user\",\"content\":\"Hi\"}]}"</a:t>
            </a:r>
            <a:endParaRPr lang="zh-TW" altLang="en-US" sz="1800" dirty="0">
              <a:latin typeface="Consolas" panose="020B0609020204030204" pitchFamily="49" charset="0"/>
            </a:endParaRPr>
          </a:p>
        </p:txBody>
      </p:sp>
      <p:sp>
        <p:nvSpPr>
          <p:cNvPr id="4" name="投影片編號版面配置區 3">
            <a:extLst>
              <a:ext uri="{FF2B5EF4-FFF2-40B4-BE49-F238E27FC236}">
                <a16:creationId xmlns:a16="http://schemas.microsoft.com/office/drawing/2014/main" id="{99D889A6-A8F7-46A7-8619-F9F31703B57C}"/>
              </a:ext>
            </a:extLst>
          </p:cNvPr>
          <p:cNvSpPr>
            <a:spLocks noGrp="1"/>
          </p:cNvSpPr>
          <p:nvPr>
            <p:ph type="sldNum" sz="quarter" idx="10"/>
          </p:nvPr>
        </p:nvSpPr>
        <p:spPr/>
        <p:txBody>
          <a:bodyPr/>
          <a:lstStyle/>
          <a:p>
            <a:pPr>
              <a:defRPr/>
            </a:pPr>
            <a:fld id="{CF627BE3-1269-44D5-A349-82FD5D94EBD8}" type="slidenum">
              <a:rPr lang="en-US" altLang="zh-TW" smtClean="0"/>
              <a:pPr>
                <a:defRPr/>
              </a:pPr>
              <a:t>45</a:t>
            </a:fld>
            <a:endParaRPr lang="en-US" altLang="zh-TW"/>
          </a:p>
        </p:txBody>
      </p:sp>
      <p:pic>
        <p:nvPicPr>
          <p:cNvPr id="6" name="圖片 5">
            <a:extLst>
              <a:ext uri="{FF2B5EF4-FFF2-40B4-BE49-F238E27FC236}">
                <a16:creationId xmlns:a16="http://schemas.microsoft.com/office/drawing/2014/main" id="{5CF126A0-C274-446D-9A46-D2744374C876}"/>
              </a:ext>
            </a:extLst>
          </p:cNvPr>
          <p:cNvPicPr>
            <a:picLocks noChangeAspect="1"/>
          </p:cNvPicPr>
          <p:nvPr/>
        </p:nvPicPr>
        <p:blipFill>
          <a:blip r:embed="rId2"/>
          <a:stretch>
            <a:fillRect/>
          </a:stretch>
        </p:blipFill>
        <p:spPr>
          <a:xfrm>
            <a:off x="601133" y="3947941"/>
            <a:ext cx="11126164" cy="1082134"/>
          </a:xfrm>
          <a:prstGeom prst="rect">
            <a:avLst/>
          </a:prstGeom>
        </p:spPr>
      </p:pic>
      <p:sp>
        <p:nvSpPr>
          <p:cNvPr id="7" name="矩形 6">
            <a:extLst>
              <a:ext uri="{FF2B5EF4-FFF2-40B4-BE49-F238E27FC236}">
                <a16:creationId xmlns:a16="http://schemas.microsoft.com/office/drawing/2014/main" id="{D2FEBC87-6477-4012-B7BA-33026BFC7412}"/>
              </a:ext>
            </a:extLst>
          </p:cNvPr>
          <p:cNvSpPr/>
          <p:nvPr/>
        </p:nvSpPr>
        <p:spPr bwMode="auto">
          <a:xfrm>
            <a:off x="3061252" y="4094922"/>
            <a:ext cx="2375452" cy="238539"/>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Tree>
    <p:extLst>
      <p:ext uri="{BB962C8B-B14F-4D97-AF65-F5344CB8AC3E}">
        <p14:creationId xmlns:p14="http://schemas.microsoft.com/office/powerpoint/2010/main" val="19850724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8A9CD88-8F18-45DF-BBA9-E696BA71CADF}"/>
              </a:ext>
            </a:extLst>
          </p:cNvPr>
          <p:cNvSpPr/>
          <p:nvPr/>
        </p:nvSpPr>
        <p:spPr bwMode="auto">
          <a:xfrm>
            <a:off x="601133" y="2097157"/>
            <a:ext cx="10262337" cy="3846443"/>
          </a:xfrm>
          <a:prstGeom prst="rect">
            <a:avLst/>
          </a:prstGeom>
          <a:solidFill>
            <a:schemeClr val="accent4">
              <a:lumMod val="75000"/>
              <a:lumOff val="2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2" name="標題 1">
            <a:extLst>
              <a:ext uri="{FF2B5EF4-FFF2-40B4-BE49-F238E27FC236}">
                <a16:creationId xmlns:a16="http://schemas.microsoft.com/office/drawing/2014/main" id="{709AC8C4-19C6-4470-B4DE-8F471DE59124}"/>
              </a:ext>
            </a:extLst>
          </p:cNvPr>
          <p:cNvSpPr>
            <a:spLocks noGrp="1"/>
          </p:cNvSpPr>
          <p:nvPr>
            <p:ph type="title"/>
          </p:nvPr>
        </p:nvSpPr>
        <p:spPr/>
        <p:txBody>
          <a:bodyPr/>
          <a:lstStyle/>
          <a:p>
            <a:r>
              <a:rPr lang="en-US" altLang="zh-TW" dirty="0"/>
              <a:t>How to Access Server Resources</a:t>
            </a:r>
            <a:endParaRPr lang="zh-TW" altLang="en-US" dirty="0"/>
          </a:p>
        </p:txBody>
      </p:sp>
      <p:sp>
        <p:nvSpPr>
          <p:cNvPr id="3" name="內容版面配置區 2">
            <a:extLst>
              <a:ext uri="{FF2B5EF4-FFF2-40B4-BE49-F238E27FC236}">
                <a16:creationId xmlns:a16="http://schemas.microsoft.com/office/drawing/2014/main" id="{44B48CD8-22E6-4143-91E7-CAAC026B6262}"/>
              </a:ext>
            </a:extLst>
          </p:cNvPr>
          <p:cNvSpPr>
            <a:spLocks noGrp="1"/>
          </p:cNvSpPr>
          <p:nvPr>
            <p:ph idx="1"/>
          </p:nvPr>
        </p:nvSpPr>
        <p:spPr/>
        <p:txBody>
          <a:bodyPr/>
          <a:lstStyle/>
          <a:p>
            <a:pPr marL="0" indent="0">
              <a:buNone/>
            </a:pPr>
            <a:r>
              <a:rPr lang="en-US" altLang="zh-TW" sz="2400" u="sng" dirty="0"/>
              <a:t>To send a request to the server in Python:</a:t>
            </a:r>
          </a:p>
          <a:p>
            <a:pPr marL="0" indent="0">
              <a:buNone/>
            </a:pPr>
            <a:endParaRPr lang="en-US" altLang="zh-TW" sz="1100" b="0" dirty="0">
              <a:solidFill>
                <a:srgbClr val="C586C0"/>
              </a:solidFill>
              <a:effectLst/>
              <a:latin typeface="Consolas" panose="020B0609020204030204" pitchFamily="49" charset="0"/>
            </a:endParaRPr>
          </a:p>
          <a:p>
            <a:pPr marL="0" indent="0">
              <a:buNone/>
            </a:pPr>
            <a:endParaRPr lang="en-US" altLang="zh-TW" sz="1100" b="0" dirty="0">
              <a:solidFill>
                <a:srgbClr val="C586C0"/>
              </a:solidFill>
              <a:effectLst/>
              <a:latin typeface="Consolas" panose="020B0609020204030204" pitchFamily="49" charset="0"/>
            </a:endParaRPr>
          </a:p>
          <a:p>
            <a:pPr marL="0" indent="0">
              <a:buNone/>
            </a:pPr>
            <a:r>
              <a:rPr lang="en-US" altLang="zh-TW" sz="1100" b="0" dirty="0">
                <a:solidFill>
                  <a:srgbClr val="C586C0"/>
                </a:solidFill>
                <a:effectLst/>
                <a:latin typeface="Consolas" panose="020B0609020204030204" pitchFamily="49" charset="0"/>
              </a:rPr>
              <a:t>f</a:t>
            </a:r>
            <a:r>
              <a:rPr lang="en-US" altLang="zh-TW" sz="1200" b="0" dirty="0">
                <a:solidFill>
                  <a:srgbClr val="C586C0"/>
                </a:solidFill>
                <a:effectLst/>
                <a:latin typeface="Consolas" panose="020B0609020204030204" pitchFamily="49" charset="0"/>
              </a:rPr>
              <a:t>rom</a:t>
            </a:r>
            <a:r>
              <a:rPr lang="en-US" altLang="zh-TW" sz="1200" b="0" dirty="0">
                <a:solidFill>
                  <a:srgbClr val="CCCCCC"/>
                </a:solidFill>
                <a:effectLst/>
                <a:latin typeface="Consolas" panose="020B0609020204030204" pitchFamily="49" charset="0"/>
              </a:rPr>
              <a:t> </a:t>
            </a:r>
            <a:r>
              <a:rPr lang="en-US" altLang="zh-TW" sz="1200" b="0" dirty="0" err="1">
                <a:solidFill>
                  <a:srgbClr val="4EC9B0"/>
                </a:solidFill>
                <a:effectLst/>
                <a:latin typeface="Consolas" panose="020B0609020204030204" pitchFamily="49" charset="0"/>
              </a:rPr>
              <a:t>openai</a:t>
            </a:r>
            <a:r>
              <a:rPr lang="en-US" altLang="zh-TW" sz="1200" b="0" dirty="0">
                <a:solidFill>
                  <a:srgbClr val="CCCCCC"/>
                </a:solidFill>
                <a:effectLst/>
                <a:latin typeface="Consolas" panose="020B0609020204030204" pitchFamily="49" charset="0"/>
              </a:rPr>
              <a:t> </a:t>
            </a:r>
            <a:r>
              <a:rPr lang="en-US" altLang="zh-TW" sz="1200" b="0" dirty="0">
                <a:solidFill>
                  <a:srgbClr val="C586C0"/>
                </a:solidFill>
                <a:effectLst/>
                <a:latin typeface="Consolas" panose="020B0609020204030204" pitchFamily="49" charset="0"/>
              </a:rPr>
              <a:t>import</a:t>
            </a:r>
            <a:r>
              <a:rPr lang="en-US" altLang="zh-TW" sz="1200" b="0" dirty="0">
                <a:solidFill>
                  <a:srgbClr val="CCCCCC"/>
                </a:solidFill>
                <a:effectLst/>
                <a:latin typeface="Consolas" panose="020B0609020204030204" pitchFamily="49" charset="0"/>
              </a:rPr>
              <a:t> </a:t>
            </a:r>
            <a:r>
              <a:rPr lang="en-US" altLang="zh-TW" sz="1200" b="0" dirty="0" err="1">
                <a:solidFill>
                  <a:srgbClr val="4EC9B0"/>
                </a:solidFill>
                <a:effectLst/>
                <a:latin typeface="Consolas" panose="020B0609020204030204" pitchFamily="49" charset="0"/>
              </a:rPr>
              <a:t>OpenAI</a:t>
            </a:r>
            <a:endParaRPr lang="en-US" altLang="zh-TW" sz="1200" b="0" dirty="0">
              <a:solidFill>
                <a:srgbClr val="CCCCCC"/>
              </a:solidFill>
              <a:effectLst/>
              <a:latin typeface="Consolas" panose="020B0609020204030204" pitchFamily="49" charset="0"/>
            </a:endParaRPr>
          </a:p>
          <a:p>
            <a:pPr marL="0" indent="0">
              <a:buNone/>
            </a:pPr>
            <a:br>
              <a:rPr lang="en-US" altLang="zh-TW" sz="1200" b="0" dirty="0">
                <a:solidFill>
                  <a:srgbClr val="CCCCCC"/>
                </a:solidFill>
                <a:effectLst/>
                <a:latin typeface="Consolas" panose="020B0609020204030204" pitchFamily="49" charset="0"/>
              </a:rPr>
            </a:br>
            <a:r>
              <a:rPr lang="en-US" altLang="zh-TW" sz="1200" b="0" dirty="0">
                <a:solidFill>
                  <a:srgbClr val="9CDCFE"/>
                </a:solidFill>
                <a:effectLst/>
                <a:latin typeface="Consolas" panose="020B0609020204030204" pitchFamily="49" charset="0"/>
              </a:rPr>
              <a:t>client</a:t>
            </a:r>
            <a:r>
              <a:rPr lang="en-US" altLang="zh-TW" sz="1200" b="0" dirty="0">
                <a:solidFill>
                  <a:srgbClr val="CCCCCC"/>
                </a:solidFill>
                <a:effectLst/>
                <a:latin typeface="Consolas" panose="020B0609020204030204" pitchFamily="49" charset="0"/>
              </a:rPr>
              <a:t> </a:t>
            </a:r>
            <a:r>
              <a:rPr lang="en-US" altLang="zh-TW" sz="1200" b="0" dirty="0">
                <a:solidFill>
                  <a:srgbClr val="D4D4D4"/>
                </a:solidFill>
                <a:effectLst/>
                <a:latin typeface="Consolas" panose="020B0609020204030204" pitchFamily="49" charset="0"/>
              </a:rPr>
              <a:t>=</a:t>
            </a:r>
            <a:r>
              <a:rPr lang="en-US" altLang="zh-TW" sz="1200" b="0" dirty="0">
                <a:solidFill>
                  <a:srgbClr val="CCCCCC"/>
                </a:solidFill>
                <a:effectLst/>
                <a:latin typeface="Consolas" panose="020B0609020204030204" pitchFamily="49" charset="0"/>
              </a:rPr>
              <a:t> </a:t>
            </a:r>
            <a:r>
              <a:rPr lang="en-US" altLang="zh-TW" sz="1200" b="0" dirty="0" err="1">
                <a:solidFill>
                  <a:srgbClr val="4EC9B0"/>
                </a:solidFill>
                <a:effectLst/>
                <a:latin typeface="Consolas" panose="020B0609020204030204" pitchFamily="49" charset="0"/>
              </a:rPr>
              <a:t>OpenAI</a:t>
            </a:r>
            <a:r>
              <a:rPr lang="en-US" altLang="zh-TW" sz="1200" b="0" dirty="0">
                <a:solidFill>
                  <a:srgbClr val="CCCCCC"/>
                </a:solidFill>
                <a:effectLst/>
                <a:latin typeface="Consolas" panose="020B0609020204030204" pitchFamily="49" charset="0"/>
              </a:rPr>
              <a:t>(</a:t>
            </a:r>
          </a:p>
          <a:p>
            <a:pPr marL="0" indent="0">
              <a:buNone/>
            </a:pPr>
            <a:r>
              <a:rPr lang="en-US" altLang="zh-TW" sz="1200" b="0" dirty="0">
                <a:solidFill>
                  <a:srgbClr val="CCCCCC"/>
                </a:solidFill>
                <a:effectLst/>
                <a:latin typeface="Consolas" panose="020B0609020204030204" pitchFamily="49" charset="0"/>
              </a:rPr>
              <a:t>    </a:t>
            </a:r>
            <a:r>
              <a:rPr lang="en-US" altLang="zh-TW" sz="1200" b="0" dirty="0" err="1">
                <a:solidFill>
                  <a:srgbClr val="9CDCFE"/>
                </a:solidFill>
                <a:effectLst/>
                <a:latin typeface="Consolas" panose="020B0609020204030204" pitchFamily="49" charset="0"/>
              </a:rPr>
              <a:t>base_url</a:t>
            </a:r>
            <a:r>
              <a:rPr lang="en-US" altLang="zh-TW" sz="1200" b="0" dirty="0">
                <a:solidFill>
                  <a:srgbClr val="D4D4D4"/>
                </a:solidFill>
                <a:effectLst/>
                <a:latin typeface="Consolas" panose="020B0609020204030204" pitchFamily="49" charset="0"/>
              </a:rPr>
              <a:t>=</a:t>
            </a:r>
            <a:r>
              <a:rPr lang="en-US" altLang="zh-TW" sz="1200" b="0" dirty="0">
                <a:solidFill>
                  <a:srgbClr val="CE9178"/>
                </a:solidFill>
                <a:effectLst/>
                <a:latin typeface="Consolas" panose="020B0609020204030204" pitchFamily="49" charset="0"/>
              </a:rPr>
              <a:t>"http://210.61.209.139:45600/v1"</a:t>
            </a:r>
            <a:r>
              <a:rPr lang="en-US" altLang="zh-TW" sz="1200" b="0" dirty="0">
                <a:solidFill>
                  <a:srgbClr val="CCCCCC"/>
                </a:solidFill>
                <a:effectLst/>
                <a:latin typeface="Consolas" panose="020B0609020204030204" pitchFamily="49" charset="0"/>
              </a:rPr>
              <a:t>,   </a:t>
            </a:r>
            <a:r>
              <a:rPr lang="en-US" altLang="zh-TW" sz="1200" b="0" dirty="0">
                <a:solidFill>
                  <a:srgbClr val="6A9955"/>
                </a:solidFill>
                <a:effectLst/>
                <a:latin typeface="Consolas" panose="020B0609020204030204" pitchFamily="49" charset="0"/>
              </a:rPr>
              <a:t># your </a:t>
            </a:r>
            <a:r>
              <a:rPr lang="en-US" altLang="zh-TW" sz="1200" b="0" dirty="0" err="1">
                <a:solidFill>
                  <a:srgbClr val="6A9955"/>
                </a:solidFill>
                <a:effectLst/>
                <a:latin typeface="Consolas" panose="020B0609020204030204" pitchFamily="49" charset="0"/>
              </a:rPr>
              <a:t>vLLM</a:t>
            </a:r>
            <a:r>
              <a:rPr lang="en-US" altLang="zh-TW" sz="1200" b="0" dirty="0">
                <a:solidFill>
                  <a:srgbClr val="6A9955"/>
                </a:solidFill>
                <a:effectLst/>
                <a:latin typeface="Consolas" panose="020B0609020204030204" pitchFamily="49" charset="0"/>
              </a:rPr>
              <a:t> server</a:t>
            </a:r>
            <a:endParaRPr lang="en-US" altLang="zh-TW" sz="1200" b="0" dirty="0">
              <a:solidFill>
                <a:srgbClr val="CCCCCC"/>
              </a:solidFill>
              <a:effectLst/>
              <a:latin typeface="Consolas" panose="020B0609020204030204" pitchFamily="49" charset="0"/>
            </a:endParaRPr>
          </a:p>
          <a:p>
            <a:pPr marL="0" indent="0">
              <a:buNone/>
            </a:pPr>
            <a:r>
              <a:rPr lang="en-US" altLang="zh-TW" sz="1200" b="0" dirty="0">
                <a:solidFill>
                  <a:srgbClr val="CCCCCC"/>
                </a:solidFill>
                <a:effectLst/>
                <a:latin typeface="Consolas" panose="020B0609020204030204" pitchFamily="49" charset="0"/>
              </a:rPr>
              <a:t>    </a:t>
            </a:r>
            <a:r>
              <a:rPr lang="en-US" altLang="zh-TW" sz="1200" b="0" dirty="0" err="1">
                <a:solidFill>
                  <a:srgbClr val="9CDCFE"/>
                </a:solidFill>
                <a:effectLst/>
                <a:latin typeface="Consolas" panose="020B0609020204030204" pitchFamily="49" charset="0"/>
              </a:rPr>
              <a:t>api_key</a:t>
            </a:r>
            <a:r>
              <a:rPr lang="en-US" altLang="zh-TW" sz="1200" b="0" dirty="0">
                <a:solidFill>
                  <a:srgbClr val="D4D4D4"/>
                </a:solidFill>
                <a:effectLst/>
                <a:latin typeface="Consolas" panose="020B0609020204030204" pitchFamily="49" charset="0"/>
              </a:rPr>
              <a:t>=</a:t>
            </a:r>
            <a:r>
              <a:rPr lang="en-US" altLang="zh-TW" sz="1200" b="0" dirty="0">
                <a:solidFill>
                  <a:srgbClr val="CE9178"/>
                </a:solidFill>
                <a:effectLst/>
                <a:latin typeface="Consolas" panose="020B0609020204030204" pitchFamily="49" charset="0"/>
              </a:rPr>
              <a:t>"token-abc123"</a:t>
            </a:r>
            <a:r>
              <a:rPr lang="en-US" altLang="zh-TW" sz="1200" b="0" dirty="0">
                <a:solidFill>
                  <a:srgbClr val="CCCCCC"/>
                </a:solidFill>
                <a:effectLst/>
                <a:latin typeface="Consolas" panose="020B0609020204030204" pitchFamily="49" charset="0"/>
              </a:rPr>
              <a:t>,                </a:t>
            </a:r>
            <a:r>
              <a:rPr lang="en-US" altLang="zh-TW" sz="1200" b="0" dirty="0">
                <a:solidFill>
                  <a:srgbClr val="6A9955"/>
                </a:solidFill>
                <a:effectLst/>
                <a:latin typeface="Consolas" panose="020B0609020204030204" pitchFamily="49" charset="0"/>
              </a:rPr>
              <a:t># you must include this field but it won’t be used, fill with dummy values</a:t>
            </a:r>
            <a:endParaRPr lang="en-US" altLang="zh-TW" sz="1200" b="0" dirty="0">
              <a:solidFill>
                <a:srgbClr val="CCCCCC"/>
              </a:solidFill>
              <a:effectLst/>
              <a:latin typeface="Consolas" panose="020B0609020204030204" pitchFamily="49" charset="0"/>
            </a:endParaRPr>
          </a:p>
          <a:p>
            <a:pPr marL="0" indent="0">
              <a:buNone/>
            </a:pPr>
            <a:r>
              <a:rPr lang="en-US" altLang="zh-TW" sz="1200" b="0" dirty="0">
                <a:solidFill>
                  <a:srgbClr val="CCCCCC"/>
                </a:solidFill>
                <a:effectLst/>
                <a:latin typeface="Consolas" panose="020B0609020204030204" pitchFamily="49" charset="0"/>
              </a:rPr>
              <a:t>)</a:t>
            </a:r>
          </a:p>
          <a:p>
            <a:pPr marL="0" indent="0">
              <a:buNone/>
            </a:pPr>
            <a:r>
              <a:rPr lang="en-US" altLang="zh-TW" sz="1100" b="0" dirty="0">
                <a:solidFill>
                  <a:srgbClr val="9CDCFE"/>
                </a:solidFill>
                <a:effectLst/>
                <a:latin typeface="Consolas" panose="020B0609020204030204" pitchFamily="49" charset="0"/>
              </a:rPr>
              <a:t>resp</a:t>
            </a:r>
            <a:r>
              <a:rPr lang="en-US" altLang="zh-TW" sz="1100" b="0" dirty="0">
                <a:solidFill>
                  <a:srgbClr val="CCCCCC"/>
                </a:solidFill>
                <a:effectLst/>
                <a:latin typeface="Consolas" panose="020B0609020204030204" pitchFamily="49" charset="0"/>
              </a:rPr>
              <a:t> </a:t>
            </a:r>
            <a:r>
              <a:rPr lang="en-US" altLang="zh-TW" sz="1100" b="0" dirty="0">
                <a:solidFill>
                  <a:srgbClr val="D4D4D4"/>
                </a:solidFill>
                <a:effectLst/>
                <a:latin typeface="Consolas" panose="020B0609020204030204" pitchFamily="49" charset="0"/>
              </a:rPr>
              <a:t>=</a:t>
            </a:r>
            <a:r>
              <a:rPr lang="en-US" altLang="zh-TW" sz="1100" b="0" dirty="0">
                <a:solidFill>
                  <a:srgbClr val="CCCCCC"/>
                </a:solidFill>
                <a:effectLst/>
                <a:latin typeface="Consolas" panose="020B0609020204030204" pitchFamily="49" charset="0"/>
              </a:rPr>
              <a:t> </a:t>
            </a:r>
            <a:r>
              <a:rPr lang="en-US" altLang="zh-TW" sz="1100" b="0" dirty="0" err="1">
                <a:solidFill>
                  <a:srgbClr val="9CDCFE"/>
                </a:solidFill>
                <a:effectLst/>
                <a:latin typeface="Consolas" panose="020B0609020204030204" pitchFamily="49" charset="0"/>
              </a:rPr>
              <a:t>client</a:t>
            </a:r>
            <a:r>
              <a:rPr lang="en-US" altLang="zh-TW" sz="1100" b="0" dirty="0" err="1">
                <a:solidFill>
                  <a:srgbClr val="CCCCCC"/>
                </a:solidFill>
                <a:effectLst/>
                <a:latin typeface="Consolas" panose="020B0609020204030204" pitchFamily="49" charset="0"/>
              </a:rPr>
              <a:t>.</a:t>
            </a:r>
            <a:r>
              <a:rPr lang="en-US" altLang="zh-TW" sz="1100" b="0" dirty="0" err="1">
                <a:solidFill>
                  <a:srgbClr val="9CDCFE"/>
                </a:solidFill>
                <a:effectLst/>
                <a:latin typeface="Consolas" panose="020B0609020204030204" pitchFamily="49" charset="0"/>
              </a:rPr>
              <a:t>chat</a:t>
            </a:r>
            <a:r>
              <a:rPr lang="en-US" altLang="zh-TW" sz="1100" b="0" dirty="0" err="1">
                <a:solidFill>
                  <a:srgbClr val="CCCCCC"/>
                </a:solidFill>
                <a:effectLst/>
                <a:latin typeface="Consolas" panose="020B0609020204030204" pitchFamily="49" charset="0"/>
              </a:rPr>
              <a:t>.</a:t>
            </a:r>
            <a:r>
              <a:rPr lang="en-US" altLang="zh-TW" sz="1100" b="0" dirty="0" err="1">
                <a:solidFill>
                  <a:srgbClr val="9CDCFE"/>
                </a:solidFill>
                <a:effectLst/>
                <a:latin typeface="Consolas" panose="020B0609020204030204" pitchFamily="49" charset="0"/>
              </a:rPr>
              <a:t>completions</a:t>
            </a:r>
            <a:r>
              <a:rPr lang="en-US" altLang="zh-TW" sz="1100" b="0" dirty="0" err="1">
                <a:solidFill>
                  <a:srgbClr val="CCCCCC"/>
                </a:solidFill>
                <a:effectLst/>
                <a:latin typeface="Consolas" panose="020B0609020204030204" pitchFamily="49" charset="0"/>
              </a:rPr>
              <a:t>.</a:t>
            </a:r>
            <a:r>
              <a:rPr lang="en-US" altLang="zh-TW" sz="1100" b="0" dirty="0" err="1">
                <a:solidFill>
                  <a:srgbClr val="DCDCAA"/>
                </a:solidFill>
                <a:effectLst/>
                <a:latin typeface="Consolas" panose="020B0609020204030204" pitchFamily="49" charset="0"/>
              </a:rPr>
              <a:t>create</a:t>
            </a:r>
            <a:r>
              <a:rPr lang="en-US" altLang="zh-TW" sz="1100" b="0" dirty="0">
                <a:solidFill>
                  <a:srgbClr val="CCCCCC"/>
                </a:solidFill>
                <a:effectLst/>
                <a:latin typeface="Consolas" panose="020B0609020204030204" pitchFamily="49" charset="0"/>
              </a:rPr>
              <a:t>(</a:t>
            </a:r>
          </a:p>
          <a:p>
            <a:pPr marL="0" indent="0">
              <a:buNone/>
            </a:pPr>
            <a:r>
              <a:rPr lang="en-US" altLang="zh-TW" sz="1100" b="0" dirty="0">
                <a:solidFill>
                  <a:srgbClr val="CCCCCC"/>
                </a:solidFill>
                <a:effectLst/>
                <a:latin typeface="Consolas" panose="020B0609020204030204" pitchFamily="49" charset="0"/>
              </a:rPr>
              <a:t>    </a:t>
            </a:r>
            <a:r>
              <a:rPr lang="en-US" altLang="zh-TW" sz="1100" b="0" dirty="0">
                <a:solidFill>
                  <a:srgbClr val="9CDCFE"/>
                </a:solidFill>
                <a:effectLst/>
                <a:latin typeface="Consolas" panose="020B0609020204030204" pitchFamily="49" charset="0"/>
              </a:rPr>
              <a:t>model</a:t>
            </a:r>
            <a:r>
              <a:rPr lang="en-US" altLang="zh-TW" sz="1100" b="0" dirty="0">
                <a:solidFill>
                  <a:srgbClr val="D4D4D4"/>
                </a:solidFill>
                <a:effectLst/>
                <a:latin typeface="Consolas" panose="020B0609020204030204" pitchFamily="49" charset="0"/>
              </a:rPr>
              <a:t>=</a:t>
            </a:r>
            <a:r>
              <a:rPr lang="en-US" altLang="zh-TW" sz="1100" b="0" dirty="0">
                <a:solidFill>
                  <a:srgbClr val="CE9178"/>
                </a:solidFill>
                <a:effectLst/>
                <a:latin typeface="Consolas" panose="020B0609020204030204" pitchFamily="49" charset="0"/>
              </a:rPr>
              <a:t>"</a:t>
            </a:r>
            <a:r>
              <a:rPr lang="en-US" altLang="zh-TW" sz="1100" b="0" dirty="0" err="1">
                <a:solidFill>
                  <a:srgbClr val="CE9178"/>
                </a:solidFill>
                <a:effectLst/>
                <a:latin typeface="Consolas" panose="020B0609020204030204" pitchFamily="49" charset="0"/>
              </a:rPr>
              <a:t>Qwen</a:t>
            </a:r>
            <a:r>
              <a:rPr lang="en-US" altLang="zh-TW" sz="1100" b="0" dirty="0">
                <a:solidFill>
                  <a:srgbClr val="CE9178"/>
                </a:solidFill>
                <a:effectLst/>
                <a:latin typeface="Consolas" panose="020B0609020204030204" pitchFamily="49" charset="0"/>
              </a:rPr>
              <a:t>/Qwen3-30B-A3B"</a:t>
            </a:r>
            <a:r>
              <a:rPr lang="en-US" altLang="zh-TW" sz="1100" b="0" dirty="0">
                <a:solidFill>
                  <a:srgbClr val="CCCCCC"/>
                </a:solidFill>
                <a:effectLst/>
                <a:latin typeface="Consolas" panose="020B0609020204030204" pitchFamily="49" charset="0"/>
              </a:rPr>
              <a:t>,  </a:t>
            </a:r>
            <a:r>
              <a:rPr lang="en-US" altLang="zh-TW" sz="1100" b="0" dirty="0">
                <a:solidFill>
                  <a:srgbClr val="6A9955"/>
                </a:solidFill>
                <a:effectLst/>
                <a:latin typeface="Consolas" panose="020B0609020204030204" pitchFamily="49" charset="0"/>
              </a:rPr>
              <a:t># replace with your served model name that you found via curl</a:t>
            </a:r>
            <a:endParaRPr lang="en-US" altLang="zh-TW" sz="1100" b="0" dirty="0">
              <a:solidFill>
                <a:srgbClr val="CCCCCC"/>
              </a:solidFill>
              <a:effectLst/>
              <a:latin typeface="Consolas" panose="020B0609020204030204" pitchFamily="49" charset="0"/>
            </a:endParaRPr>
          </a:p>
          <a:p>
            <a:pPr marL="0" indent="0">
              <a:buNone/>
            </a:pPr>
            <a:r>
              <a:rPr lang="en-US" altLang="zh-TW" sz="1100" b="0" dirty="0">
                <a:solidFill>
                  <a:srgbClr val="CCCCCC"/>
                </a:solidFill>
                <a:effectLst/>
                <a:latin typeface="Consolas" panose="020B0609020204030204" pitchFamily="49" charset="0"/>
              </a:rPr>
              <a:t>    </a:t>
            </a:r>
            <a:r>
              <a:rPr lang="en-US" altLang="zh-TW" sz="1100" b="0" dirty="0">
                <a:solidFill>
                  <a:srgbClr val="9CDCFE"/>
                </a:solidFill>
                <a:effectLst/>
                <a:latin typeface="Consolas" panose="020B0609020204030204" pitchFamily="49" charset="0"/>
              </a:rPr>
              <a:t>messages</a:t>
            </a:r>
            <a:r>
              <a:rPr lang="en-US" altLang="zh-TW" sz="1100" b="0" dirty="0">
                <a:solidFill>
                  <a:srgbClr val="D4D4D4"/>
                </a:solidFill>
                <a:effectLst/>
                <a:latin typeface="Consolas" panose="020B0609020204030204" pitchFamily="49" charset="0"/>
              </a:rPr>
              <a:t>=</a:t>
            </a:r>
            <a:r>
              <a:rPr lang="en-US" altLang="zh-TW" sz="1100" b="0" dirty="0">
                <a:solidFill>
                  <a:srgbClr val="CCCCCC"/>
                </a:solidFill>
                <a:effectLst/>
                <a:latin typeface="Consolas" panose="020B0609020204030204" pitchFamily="49" charset="0"/>
              </a:rPr>
              <a:t>[</a:t>
            </a:r>
          </a:p>
          <a:p>
            <a:pPr marL="0" indent="0">
              <a:buNone/>
            </a:pPr>
            <a:r>
              <a:rPr lang="en-US" altLang="zh-TW" sz="1100" b="0" dirty="0">
                <a:solidFill>
                  <a:srgbClr val="CCCCCC"/>
                </a:solidFill>
                <a:effectLst/>
                <a:latin typeface="Consolas" panose="020B0609020204030204" pitchFamily="49" charset="0"/>
              </a:rPr>
              <a:t>        {</a:t>
            </a:r>
            <a:r>
              <a:rPr lang="en-US" altLang="zh-TW" sz="1100" b="0" dirty="0">
                <a:solidFill>
                  <a:srgbClr val="CE9178"/>
                </a:solidFill>
                <a:effectLst/>
                <a:latin typeface="Consolas" panose="020B0609020204030204" pitchFamily="49" charset="0"/>
              </a:rPr>
              <a:t>"role"</a:t>
            </a:r>
            <a:r>
              <a:rPr lang="en-US" altLang="zh-TW" sz="1100" b="0" dirty="0">
                <a:solidFill>
                  <a:srgbClr val="CCCCCC"/>
                </a:solidFill>
                <a:effectLst/>
                <a:latin typeface="Consolas" panose="020B0609020204030204" pitchFamily="49" charset="0"/>
              </a:rPr>
              <a:t>: </a:t>
            </a:r>
            <a:r>
              <a:rPr lang="en-US" altLang="zh-TW" sz="1100" b="0" dirty="0">
                <a:solidFill>
                  <a:srgbClr val="CE9178"/>
                </a:solidFill>
                <a:effectLst/>
                <a:latin typeface="Consolas" panose="020B0609020204030204" pitchFamily="49" charset="0"/>
              </a:rPr>
              <a:t>"user"</a:t>
            </a:r>
            <a:r>
              <a:rPr lang="en-US" altLang="zh-TW" sz="1100" b="0" dirty="0">
                <a:solidFill>
                  <a:srgbClr val="CCCCCC"/>
                </a:solidFill>
                <a:effectLst/>
                <a:latin typeface="Consolas" panose="020B0609020204030204" pitchFamily="49" charset="0"/>
              </a:rPr>
              <a:t>, </a:t>
            </a:r>
            <a:r>
              <a:rPr lang="en-US" altLang="zh-TW" sz="1100" b="0" dirty="0">
                <a:solidFill>
                  <a:srgbClr val="CE9178"/>
                </a:solidFill>
                <a:effectLst/>
                <a:latin typeface="Consolas" panose="020B0609020204030204" pitchFamily="49" charset="0"/>
              </a:rPr>
              <a:t>"content"</a:t>
            </a:r>
            <a:r>
              <a:rPr lang="en-US" altLang="zh-TW" sz="1100" b="0" dirty="0">
                <a:solidFill>
                  <a:srgbClr val="CCCCCC"/>
                </a:solidFill>
                <a:effectLst/>
                <a:latin typeface="Consolas" panose="020B0609020204030204" pitchFamily="49" charset="0"/>
              </a:rPr>
              <a:t>: </a:t>
            </a:r>
            <a:r>
              <a:rPr lang="en-US" altLang="zh-TW" sz="1100" b="0" dirty="0">
                <a:solidFill>
                  <a:srgbClr val="CE9178"/>
                </a:solidFill>
                <a:effectLst/>
                <a:latin typeface="Consolas" panose="020B0609020204030204" pitchFamily="49" charset="0"/>
              </a:rPr>
              <a:t>“Hi"</a:t>
            </a:r>
            <a:r>
              <a:rPr lang="en-US" altLang="zh-TW" sz="1100" b="0" dirty="0">
                <a:solidFill>
                  <a:srgbClr val="CCCCCC"/>
                </a:solidFill>
                <a:effectLst/>
                <a:latin typeface="Consolas" panose="020B0609020204030204" pitchFamily="49" charset="0"/>
              </a:rPr>
              <a:t>},</a:t>
            </a:r>
          </a:p>
          <a:p>
            <a:pPr marL="0" indent="0">
              <a:buNone/>
            </a:pPr>
            <a:r>
              <a:rPr lang="en-US" altLang="zh-TW" sz="1100" b="0" dirty="0">
                <a:solidFill>
                  <a:srgbClr val="CCCCCC"/>
                </a:solidFill>
                <a:effectLst/>
                <a:latin typeface="Consolas" panose="020B0609020204030204" pitchFamily="49" charset="0"/>
              </a:rPr>
              <a:t>    ],</a:t>
            </a:r>
          </a:p>
          <a:p>
            <a:pPr marL="0" indent="0">
              <a:buNone/>
            </a:pPr>
            <a:r>
              <a:rPr lang="en-US" altLang="zh-TW" sz="1100" b="0" dirty="0">
                <a:solidFill>
                  <a:srgbClr val="CCCCCC"/>
                </a:solidFill>
                <a:effectLst/>
                <a:latin typeface="Consolas" panose="020B0609020204030204" pitchFamily="49" charset="0"/>
              </a:rPr>
              <a:t>    </a:t>
            </a:r>
            <a:r>
              <a:rPr lang="en-US" altLang="zh-TW" sz="1100" b="0" dirty="0">
                <a:solidFill>
                  <a:srgbClr val="9CDCFE"/>
                </a:solidFill>
                <a:effectLst/>
                <a:latin typeface="Consolas" panose="020B0609020204030204" pitchFamily="49" charset="0"/>
              </a:rPr>
              <a:t>temperature</a:t>
            </a:r>
            <a:r>
              <a:rPr lang="en-US" altLang="zh-TW" sz="1100" b="0" dirty="0">
                <a:solidFill>
                  <a:srgbClr val="D4D4D4"/>
                </a:solidFill>
                <a:effectLst/>
                <a:latin typeface="Consolas" panose="020B0609020204030204" pitchFamily="49" charset="0"/>
              </a:rPr>
              <a:t>=</a:t>
            </a:r>
            <a:r>
              <a:rPr lang="en-US" altLang="zh-TW" sz="1100" b="0" dirty="0">
                <a:solidFill>
                  <a:srgbClr val="B5CEA8"/>
                </a:solidFill>
                <a:effectLst/>
                <a:latin typeface="Consolas" panose="020B0609020204030204" pitchFamily="49" charset="0"/>
              </a:rPr>
              <a:t>0.7</a:t>
            </a:r>
            <a:r>
              <a:rPr lang="en-US" altLang="zh-TW" sz="1100" b="0" dirty="0">
                <a:solidFill>
                  <a:srgbClr val="CCCCCC"/>
                </a:solidFill>
                <a:effectLst/>
                <a:latin typeface="Consolas" panose="020B0609020204030204" pitchFamily="49" charset="0"/>
              </a:rPr>
              <a:t>,</a:t>
            </a:r>
          </a:p>
          <a:p>
            <a:pPr marL="0" indent="0">
              <a:buNone/>
            </a:pPr>
            <a:r>
              <a:rPr lang="en-US" altLang="zh-TW" sz="1100" b="0" dirty="0">
                <a:solidFill>
                  <a:srgbClr val="CCCCCC"/>
                </a:solidFill>
                <a:effectLst/>
                <a:latin typeface="Consolas" panose="020B0609020204030204" pitchFamily="49" charset="0"/>
              </a:rPr>
              <a:t>    </a:t>
            </a:r>
            <a:r>
              <a:rPr lang="en-US" altLang="zh-TW" sz="1100" b="0" dirty="0" err="1">
                <a:solidFill>
                  <a:srgbClr val="9CDCFE"/>
                </a:solidFill>
                <a:effectLst/>
                <a:latin typeface="Consolas" panose="020B0609020204030204" pitchFamily="49" charset="0"/>
              </a:rPr>
              <a:t>max_tokens</a:t>
            </a:r>
            <a:r>
              <a:rPr lang="en-US" altLang="zh-TW" sz="1100" b="0" dirty="0">
                <a:solidFill>
                  <a:srgbClr val="D4D4D4"/>
                </a:solidFill>
                <a:effectLst/>
                <a:latin typeface="Consolas" panose="020B0609020204030204" pitchFamily="49" charset="0"/>
              </a:rPr>
              <a:t>=</a:t>
            </a:r>
            <a:r>
              <a:rPr lang="en-US" altLang="zh-TW" sz="1100" b="0" dirty="0">
                <a:solidFill>
                  <a:srgbClr val="B5CEA8"/>
                </a:solidFill>
                <a:effectLst/>
                <a:latin typeface="Consolas" panose="020B0609020204030204" pitchFamily="49" charset="0"/>
              </a:rPr>
              <a:t>8192</a:t>
            </a:r>
            <a:r>
              <a:rPr lang="en-US" altLang="zh-TW" sz="1100" b="0" dirty="0">
                <a:solidFill>
                  <a:srgbClr val="CCCCCC"/>
                </a:solidFill>
                <a:effectLst/>
                <a:latin typeface="Consolas" panose="020B0609020204030204" pitchFamily="49" charset="0"/>
              </a:rPr>
              <a:t>,</a:t>
            </a:r>
          </a:p>
          <a:p>
            <a:pPr marL="0" indent="0">
              <a:buNone/>
            </a:pPr>
            <a:r>
              <a:rPr lang="en-US" altLang="zh-TW" sz="1100" b="0" dirty="0">
                <a:solidFill>
                  <a:srgbClr val="CCCCCC"/>
                </a:solidFill>
                <a:effectLst/>
                <a:latin typeface="Consolas" panose="020B0609020204030204" pitchFamily="49" charset="0"/>
              </a:rPr>
              <a:t>    </a:t>
            </a:r>
            <a:r>
              <a:rPr lang="en-US" altLang="zh-TW" sz="1100" b="0" dirty="0" err="1">
                <a:solidFill>
                  <a:srgbClr val="9CDCFE"/>
                </a:solidFill>
                <a:effectLst/>
                <a:latin typeface="Consolas" panose="020B0609020204030204" pitchFamily="49" charset="0"/>
              </a:rPr>
              <a:t>extra_body</a:t>
            </a:r>
            <a:r>
              <a:rPr lang="en-US" altLang="zh-TW" sz="1100" b="0" dirty="0">
                <a:solidFill>
                  <a:srgbClr val="D4D4D4"/>
                </a:solidFill>
                <a:effectLst/>
                <a:latin typeface="Consolas" panose="020B0609020204030204" pitchFamily="49" charset="0"/>
              </a:rPr>
              <a:t>=</a:t>
            </a:r>
            <a:r>
              <a:rPr lang="en-US" altLang="zh-TW" sz="1100" b="0" dirty="0">
                <a:solidFill>
                  <a:srgbClr val="CCCCCC"/>
                </a:solidFill>
                <a:effectLst/>
                <a:latin typeface="Consolas" panose="020B0609020204030204" pitchFamily="49" charset="0"/>
              </a:rPr>
              <a:t>{</a:t>
            </a:r>
            <a:r>
              <a:rPr lang="en-US" altLang="zh-TW" sz="1100" b="0" dirty="0">
                <a:solidFill>
                  <a:srgbClr val="CE9178"/>
                </a:solidFill>
                <a:effectLst/>
                <a:latin typeface="Consolas" panose="020B0609020204030204" pitchFamily="49" charset="0"/>
              </a:rPr>
              <a:t>"</a:t>
            </a:r>
            <a:r>
              <a:rPr lang="en-US" altLang="zh-TW" sz="1100" b="0" dirty="0" err="1">
                <a:solidFill>
                  <a:srgbClr val="CE9178"/>
                </a:solidFill>
                <a:effectLst/>
                <a:latin typeface="Consolas" panose="020B0609020204030204" pitchFamily="49" charset="0"/>
              </a:rPr>
              <a:t>top_k</a:t>
            </a:r>
            <a:r>
              <a:rPr lang="en-US" altLang="zh-TW" sz="1100" b="0" dirty="0">
                <a:solidFill>
                  <a:srgbClr val="CE9178"/>
                </a:solidFill>
                <a:effectLst/>
                <a:latin typeface="Consolas" panose="020B0609020204030204" pitchFamily="49" charset="0"/>
              </a:rPr>
              <a:t>"</a:t>
            </a:r>
            <a:r>
              <a:rPr lang="en-US" altLang="zh-TW" sz="1100" b="0" dirty="0">
                <a:solidFill>
                  <a:srgbClr val="CCCCCC"/>
                </a:solidFill>
                <a:effectLst/>
                <a:latin typeface="Consolas" panose="020B0609020204030204" pitchFamily="49" charset="0"/>
              </a:rPr>
              <a:t>: </a:t>
            </a:r>
            <a:r>
              <a:rPr lang="en-US" altLang="zh-TW" sz="1100" b="0" dirty="0">
                <a:solidFill>
                  <a:srgbClr val="B5CEA8"/>
                </a:solidFill>
                <a:effectLst/>
                <a:latin typeface="Consolas" panose="020B0609020204030204" pitchFamily="49" charset="0"/>
              </a:rPr>
              <a:t>50</a:t>
            </a:r>
            <a:r>
              <a:rPr lang="en-US" altLang="zh-TW" sz="1100" b="0" dirty="0">
                <a:solidFill>
                  <a:srgbClr val="CCCCCC"/>
                </a:solidFill>
                <a:effectLst/>
                <a:latin typeface="Consolas" panose="020B0609020204030204" pitchFamily="49" charset="0"/>
              </a:rPr>
              <a:t>},</a:t>
            </a:r>
          </a:p>
          <a:p>
            <a:pPr marL="0" indent="0">
              <a:buNone/>
            </a:pPr>
            <a:r>
              <a:rPr lang="en-US" altLang="zh-TW" sz="1100" b="0" dirty="0">
                <a:solidFill>
                  <a:srgbClr val="CCCCCC"/>
                </a:solidFill>
                <a:effectLst/>
                <a:latin typeface="Consolas" panose="020B0609020204030204" pitchFamily="49" charset="0"/>
              </a:rPr>
              <a:t>)</a:t>
            </a:r>
          </a:p>
          <a:p>
            <a:pPr marL="0" indent="0">
              <a:buNone/>
            </a:pPr>
            <a:br>
              <a:rPr lang="en-US" altLang="zh-TW" sz="1100" b="0" dirty="0">
                <a:solidFill>
                  <a:srgbClr val="CCCCCC"/>
                </a:solidFill>
                <a:effectLst/>
                <a:latin typeface="Consolas" panose="020B0609020204030204" pitchFamily="49" charset="0"/>
              </a:rPr>
            </a:br>
            <a:r>
              <a:rPr lang="en-US" altLang="zh-TW" sz="1100" b="0" dirty="0">
                <a:solidFill>
                  <a:srgbClr val="DCDCAA"/>
                </a:solidFill>
                <a:effectLst/>
                <a:latin typeface="Consolas" panose="020B0609020204030204" pitchFamily="49" charset="0"/>
              </a:rPr>
              <a:t>print</a:t>
            </a:r>
            <a:r>
              <a:rPr lang="en-US" altLang="zh-TW" sz="1100" b="0" dirty="0">
                <a:solidFill>
                  <a:srgbClr val="CCCCCC"/>
                </a:solidFill>
                <a:effectLst/>
                <a:latin typeface="Consolas" panose="020B0609020204030204" pitchFamily="49" charset="0"/>
              </a:rPr>
              <a:t>(</a:t>
            </a:r>
            <a:r>
              <a:rPr lang="en-US" altLang="zh-TW" sz="1100" b="0" dirty="0" err="1">
                <a:solidFill>
                  <a:srgbClr val="9CDCFE"/>
                </a:solidFill>
                <a:effectLst/>
                <a:latin typeface="Consolas" panose="020B0609020204030204" pitchFamily="49" charset="0"/>
              </a:rPr>
              <a:t>resp</a:t>
            </a:r>
            <a:r>
              <a:rPr lang="en-US" altLang="zh-TW" sz="1100" b="0" dirty="0" err="1">
                <a:solidFill>
                  <a:srgbClr val="CCCCCC"/>
                </a:solidFill>
                <a:effectLst/>
                <a:latin typeface="Consolas" panose="020B0609020204030204" pitchFamily="49" charset="0"/>
              </a:rPr>
              <a:t>.</a:t>
            </a:r>
            <a:r>
              <a:rPr lang="en-US" altLang="zh-TW" sz="1100" b="0" dirty="0" err="1">
                <a:solidFill>
                  <a:srgbClr val="9CDCFE"/>
                </a:solidFill>
                <a:effectLst/>
                <a:latin typeface="Consolas" panose="020B0609020204030204" pitchFamily="49" charset="0"/>
              </a:rPr>
              <a:t>choices</a:t>
            </a:r>
            <a:r>
              <a:rPr lang="en-US" altLang="zh-TW" sz="1100" b="0" dirty="0">
                <a:solidFill>
                  <a:srgbClr val="CCCCCC"/>
                </a:solidFill>
                <a:effectLst/>
                <a:latin typeface="Consolas" panose="020B0609020204030204" pitchFamily="49" charset="0"/>
              </a:rPr>
              <a:t>[</a:t>
            </a:r>
            <a:r>
              <a:rPr lang="en-US" altLang="zh-TW" sz="1100" b="0" dirty="0">
                <a:solidFill>
                  <a:srgbClr val="B5CEA8"/>
                </a:solidFill>
                <a:effectLst/>
                <a:latin typeface="Consolas" panose="020B0609020204030204" pitchFamily="49" charset="0"/>
              </a:rPr>
              <a:t>0</a:t>
            </a:r>
            <a:r>
              <a:rPr lang="en-US" altLang="zh-TW" sz="1100" b="0" dirty="0">
                <a:solidFill>
                  <a:srgbClr val="CCCCCC"/>
                </a:solidFill>
                <a:effectLst/>
                <a:latin typeface="Consolas" panose="020B0609020204030204" pitchFamily="49" charset="0"/>
              </a:rPr>
              <a:t>].</a:t>
            </a:r>
            <a:r>
              <a:rPr lang="en-US" altLang="zh-TW" sz="1100" b="0" dirty="0" err="1">
                <a:solidFill>
                  <a:srgbClr val="9CDCFE"/>
                </a:solidFill>
                <a:effectLst/>
                <a:latin typeface="Consolas" panose="020B0609020204030204" pitchFamily="49" charset="0"/>
              </a:rPr>
              <a:t>message</a:t>
            </a:r>
            <a:r>
              <a:rPr lang="en-US" altLang="zh-TW" sz="1100" b="0" dirty="0" err="1">
                <a:solidFill>
                  <a:srgbClr val="CCCCCC"/>
                </a:solidFill>
                <a:effectLst/>
                <a:latin typeface="Consolas" panose="020B0609020204030204" pitchFamily="49" charset="0"/>
              </a:rPr>
              <a:t>.</a:t>
            </a:r>
            <a:r>
              <a:rPr lang="en-US" altLang="zh-TW" sz="1100" b="0" dirty="0" err="1">
                <a:solidFill>
                  <a:srgbClr val="9CDCFE"/>
                </a:solidFill>
                <a:effectLst/>
                <a:latin typeface="Consolas" panose="020B0609020204030204" pitchFamily="49" charset="0"/>
              </a:rPr>
              <a:t>content</a:t>
            </a:r>
            <a:r>
              <a:rPr lang="en-US" altLang="zh-TW" sz="1100" b="0" dirty="0">
                <a:solidFill>
                  <a:srgbClr val="CCCCCC"/>
                </a:solidFill>
                <a:effectLst/>
                <a:latin typeface="Consolas" panose="020B0609020204030204" pitchFamily="49" charset="0"/>
              </a:rPr>
              <a:t>)</a:t>
            </a:r>
          </a:p>
          <a:p>
            <a:pPr marL="0" indent="0">
              <a:buNone/>
            </a:pPr>
            <a:endParaRPr lang="en-US" altLang="zh-TW" sz="1800" dirty="0">
              <a:latin typeface="Consolas" panose="020B0609020204030204" pitchFamily="49" charset="0"/>
            </a:endParaRPr>
          </a:p>
        </p:txBody>
      </p:sp>
      <p:sp>
        <p:nvSpPr>
          <p:cNvPr id="4" name="投影片編號版面配置區 3">
            <a:extLst>
              <a:ext uri="{FF2B5EF4-FFF2-40B4-BE49-F238E27FC236}">
                <a16:creationId xmlns:a16="http://schemas.microsoft.com/office/drawing/2014/main" id="{99D889A6-A8F7-46A7-8619-F9F31703B57C}"/>
              </a:ext>
            </a:extLst>
          </p:cNvPr>
          <p:cNvSpPr>
            <a:spLocks noGrp="1"/>
          </p:cNvSpPr>
          <p:nvPr>
            <p:ph type="sldNum" sz="quarter" idx="10"/>
          </p:nvPr>
        </p:nvSpPr>
        <p:spPr/>
        <p:txBody>
          <a:bodyPr/>
          <a:lstStyle/>
          <a:p>
            <a:pPr>
              <a:defRPr/>
            </a:pPr>
            <a:fld id="{CF627BE3-1269-44D5-A349-82FD5D94EBD8}" type="slidenum">
              <a:rPr lang="en-US" altLang="zh-TW" smtClean="0"/>
              <a:pPr>
                <a:defRPr/>
              </a:pPr>
              <a:t>46</a:t>
            </a:fld>
            <a:endParaRPr lang="en-US" altLang="zh-TW"/>
          </a:p>
        </p:txBody>
      </p:sp>
    </p:spTree>
    <p:extLst>
      <p:ext uri="{BB962C8B-B14F-4D97-AF65-F5344CB8AC3E}">
        <p14:creationId xmlns:p14="http://schemas.microsoft.com/office/powerpoint/2010/main" val="33130429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RAG Using MI300 Generator and Local Data</a:t>
            </a:r>
          </a:p>
        </p:txBody>
      </p:sp>
    </p:spTree>
    <p:extLst>
      <p:ext uri="{BB962C8B-B14F-4D97-AF65-F5344CB8AC3E}">
        <p14:creationId xmlns:p14="http://schemas.microsoft.com/office/powerpoint/2010/main" val="21852003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09F0AF-1CC4-459B-8194-7A8499577E09}"/>
              </a:ext>
            </a:extLst>
          </p:cNvPr>
          <p:cNvSpPr>
            <a:spLocks noGrp="1"/>
          </p:cNvSpPr>
          <p:nvPr>
            <p:ph type="title"/>
          </p:nvPr>
        </p:nvSpPr>
        <p:spPr/>
        <p:txBody>
          <a:bodyPr/>
          <a:lstStyle/>
          <a:p>
            <a:r>
              <a:rPr lang="en-US" altLang="zh-TW" dirty="0"/>
              <a:t>Problem Rehash</a:t>
            </a:r>
            <a:endParaRPr lang="zh-TW" altLang="en-US" dirty="0"/>
          </a:p>
        </p:txBody>
      </p:sp>
      <p:sp>
        <p:nvSpPr>
          <p:cNvPr id="3" name="內容版面配置區 2">
            <a:extLst>
              <a:ext uri="{FF2B5EF4-FFF2-40B4-BE49-F238E27FC236}">
                <a16:creationId xmlns:a16="http://schemas.microsoft.com/office/drawing/2014/main" id="{88538D13-19CF-4992-B224-5BCF5657BBBD}"/>
              </a:ext>
            </a:extLst>
          </p:cNvPr>
          <p:cNvSpPr>
            <a:spLocks noGrp="1"/>
          </p:cNvSpPr>
          <p:nvPr>
            <p:ph idx="1"/>
          </p:nvPr>
        </p:nvSpPr>
        <p:spPr/>
        <p:txBody>
          <a:bodyPr/>
          <a:lstStyle/>
          <a:p>
            <a:r>
              <a:rPr lang="en-US" altLang="zh-TW" sz="2400" dirty="0"/>
              <a:t>Why RAG?</a:t>
            </a:r>
          </a:p>
          <a:p>
            <a:pPr lvl="1"/>
            <a:r>
              <a:rPr lang="en-US" altLang="zh-TW" sz="2000" dirty="0"/>
              <a:t>Some models have outdated information, but we don't want to find tune the model</a:t>
            </a:r>
          </a:p>
          <a:p>
            <a:r>
              <a:rPr lang="en-US" altLang="zh-TW" sz="2400" dirty="0"/>
              <a:t>Difference between RAG and normal inference:</a:t>
            </a:r>
          </a:p>
          <a:p>
            <a:pPr lvl="1"/>
            <a:r>
              <a:rPr lang="en-US" altLang="zh-TW" sz="2000" dirty="0"/>
              <a:t>Additional context for generation is provided (normally you only have the query)</a:t>
            </a:r>
          </a:p>
          <a:p>
            <a:pPr lvl="1"/>
            <a:r>
              <a:rPr lang="en-US" altLang="zh-TW" sz="2000" dirty="0"/>
              <a:t>As a result, your prompt will look different</a:t>
            </a:r>
          </a:p>
          <a:p>
            <a:endParaRPr lang="en-US" altLang="zh-TW" sz="2400" dirty="0"/>
          </a:p>
          <a:p>
            <a:r>
              <a:rPr lang="en-US" altLang="zh-TW" sz="2400" dirty="0"/>
              <a:t>Here is a very simple RAG prompt: </a:t>
            </a:r>
          </a:p>
          <a:p>
            <a:pPr marL="0" indent="0">
              <a:buNone/>
            </a:pPr>
            <a:r>
              <a:rPr lang="en-US" altLang="zh-TW" sz="2000" dirty="0">
                <a:latin typeface="Times New Roman" panose="02020603050405020304" pitchFamily="18" charset="0"/>
                <a:cs typeface="Times New Roman" panose="02020603050405020304" pitchFamily="18" charset="0"/>
              </a:rPr>
              <a:t>Context: Donald Trump won the 2024 presidential election and remains president in 2025. Most new models can perform function calling out-of-the-box.</a:t>
            </a:r>
          </a:p>
          <a:p>
            <a:pPr marL="0" indent="0">
              <a:buNone/>
            </a:pPr>
            <a:r>
              <a:rPr lang="en-US" altLang="zh-TW" sz="2000" dirty="0">
                <a:latin typeface="Times New Roman" panose="02020603050405020304" pitchFamily="18" charset="0"/>
                <a:cs typeface="Times New Roman" panose="02020603050405020304" pitchFamily="18" charset="0"/>
              </a:rPr>
              <a:t>Question: Who is the president of the United States in 2025?</a:t>
            </a:r>
          </a:p>
          <a:p>
            <a:pPr marL="0" indent="0">
              <a:buNone/>
            </a:pPr>
            <a:r>
              <a:rPr lang="en-US" altLang="zh-TW" sz="2000" dirty="0">
                <a:latin typeface="Times New Roman" panose="02020603050405020304" pitchFamily="18" charset="0"/>
                <a:cs typeface="Times New Roman" panose="02020603050405020304" pitchFamily="18" charset="0"/>
              </a:rPr>
              <a:t>Answer:</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17FD26E-1CFD-4268-B1F6-AD62A0C6E8EA}"/>
              </a:ext>
            </a:extLst>
          </p:cNvPr>
          <p:cNvSpPr>
            <a:spLocks noGrp="1"/>
          </p:cNvSpPr>
          <p:nvPr>
            <p:ph type="sldNum" sz="quarter" idx="10"/>
          </p:nvPr>
        </p:nvSpPr>
        <p:spPr/>
        <p:txBody>
          <a:bodyPr/>
          <a:lstStyle/>
          <a:p>
            <a:pPr>
              <a:defRPr/>
            </a:pPr>
            <a:fld id="{CF627BE3-1269-44D5-A349-82FD5D94EBD8}" type="slidenum">
              <a:rPr lang="en-US" altLang="zh-TW" smtClean="0"/>
              <a:pPr>
                <a:defRPr/>
              </a:pPr>
              <a:t>48</a:t>
            </a:fld>
            <a:endParaRPr lang="en-US" altLang="zh-TW"/>
          </a:p>
        </p:txBody>
      </p:sp>
    </p:spTree>
    <p:extLst>
      <p:ext uri="{BB962C8B-B14F-4D97-AF65-F5344CB8AC3E}">
        <p14:creationId xmlns:p14="http://schemas.microsoft.com/office/powerpoint/2010/main" val="11187803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09F0AF-1CC4-459B-8194-7A8499577E09}"/>
              </a:ext>
            </a:extLst>
          </p:cNvPr>
          <p:cNvSpPr>
            <a:spLocks noGrp="1"/>
          </p:cNvSpPr>
          <p:nvPr>
            <p:ph type="title"/>
          </p:nvPr>
        </p:nvSpPr>
        <p:spPr/>
        <p:txBody>
          <a:bodyPr/>
          <a:lstStyle/>
          <a:p>
            <a:r>
              <a:rPr lang="en-US" altLang="zh-TW" sz="2800" dirty="0"/>
              <a:t>Building a Vector Store for Retrieving Relevant Context (vllm_rag.py)</a:t>
            </a:r>
            <a:endParaRPr lang="zh-TW" altLang="en-US" sz="2800" dirty="0"/>
          </a:p>
        </p:txBody>
      </p:sp>
      <p:sp>
        <p:nvSpPr>
          <p:cNvPr id="4" name="投影片編號版面配置區 3">
            <a:extLst>
              <a:ext uri="{FF2B5EF4-FFF2-40B4-BE49-F238E27FC236}">
                <a16:creationId xmlns:a16="http://schemas.microsoft.com/office/drawing/2014/main" id="{B17FD26E-1CFD-4268-B1F6-AD62A0C6E8EA}"/>
              </a:ext>
            </a:extLst>
          </p:cNvPr>
          <p:cNvSpPr>
            <a:spLocks noGrp="1"/>
          </p:cNvSpPr>
          <p:nvPr>
            <p:ph type="sldNum" sz="quarter" idx="10"/>
          </p:nvPr>
        </p:nvSpPr>
        <p:spPr/>
        <p:txBody>
          <a:bodyPr/>
          <a:lstStyle/>
          <a:p>
            <a:pPr>
              <a:defRPr/>
            </a:pPr>
            <a:fld id="{CF627BE3-1269-44D5-A349-82FD5D94EBD8}" type="slidenum">
              <a:rPr lang="en-US" altLang="zh-TW" smtClean="0"/>
              <a:pPr>
                <a:defRPr/>
              </a:pPr>
              <a:t>49</a:t>
            </a:fld>
            <a:endParaRPr lang="en-US" altLang="zh-TW"/>
          </a:p>
        </p:txBody>
      </p:sp>
      <p:sp>
        <p:nvSpPr>
          <p:cNvPr id="8" name="文字方塊 7">
            <a:extLst>
              <a:ext uri="{FF2B5EF4-FFF2-40B4-BE49-F238E27FC236}">
                <a16:creationId xmlns:a16="http://schemas.microsoft.com/office/drawing/2014/main" id="{19F8B096-CD4B-419D-B6B5-B043DA697D0B}"/>
              </a:ext>
            </a:extLst>
          </p:cNvPr>
          <p:cNvSpPr txBox="1"/>
          <p:nvPr/>
        </p:nvSpPr>
        <p:spPr>
          <a:xfrm>
            <a:off x="601133" y="6050895"/>
            <a:ext cx="7119620" cy="369332"/>
          </a:xfrm>
          <a:prstGeom prst="rect">
            <a:avLst/>
          </a:prstGeom>
          <a:noFill/>
        </p:spPr>
        <p:txBody>
          <a:bodyPr wrap="square">
            <a:spAutoFit/>
          </a:bodyPr>
          <a:lstStyle/>
          <a:p>
            <a:pPr algn="ctr"/>
            <a:r>
              <a:rPr lang="en-US" altLang="zh-TW" dirty="0"/>
              <a:t>O</a:t>
            </a:r>
            <a:r>
              <a:rPr lang="zh-TW" altLang="en-US" dirty="0"/>
              <a:t>ne of many examples of building a vector store </a:t>
            </a:r>
            <a:r>
              <a:rPr lang="en-US" altLang="zh-TW" dirty="0"/>
              <a:t>using FAISS</a:t>
            </a:r>
            <a:endParaRPr lang="zh-TW" altLang="en-US" dirty="0"/>
          </a:p>
        </p:txBody>
      </p:sp>
      <p:pic>
        <p:nvPicPr>
          <p:cNvPr id="7" name="Content Placeholder 6">
            <a:extLst>
              <a:ext uri="{FF2B5EF4-FFF2-40B4-BE49-F238E27FC236}">
                <a16:creationId xmlns:a16="http://schemas.microsoft.com/office/drawing/2014/main" id="{640D39AC-62E3-2198-13B3-C2CCAFAB6D7C}"/>
              </a:ext>
            </a:extLst>
          </p:cNvPr>
          <p:cNvPicPr>
            <a:picLocks noGrp="1" noChangeAspect="1"/>
          </p:cNvPicPr>
          <p:nvPr>
            <p:ph idx="1"/>
          </p:nvPr>
        </p:nvPicPr>
        <p:blipFill>
          <a:blip r:embed="rId2"/>
          <a:stretch>
            <a:fillRect/>
          </a:stretch>
        </p:blipFill>
        <p:spPr bwMode="auto">
          <a:xfrm>
            <a:off x="773179" y="1129248"/>
            <a:ext cx="6775527"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字方塊 7">
            <a:extLst>
              <a:ext uri="{FF2B5EF4-FFF2-40B4-BE49-F238E27FC236}">
                <a16:creationId xmlns:a16="http://schemas.microsoft.com/office/drawing/2014/main" id="{0FBF2CC4-3BBA-9323-6756-F3D0A7A5D543}"/>
              </a:ext>
            </a:extLst>
          </p:cNvPr>
          <p:cNvSpPr txBox="1"/>
          <p:nvPr/>
        </p:nvSpPr>
        <p:spPr>
          <a:xfrm>
            <a:off x="7720752" y="2690336"/>
            <a:ext cx="4120214" cy="1477328"/>
          </a:xfrm>
          <a:prstGeom prst="rect">
            <a:avLst/>
          </a:prstGeom>
          <a:noFill/>
        </p:spPr>
        <p:txBody>
          <a:bodyPr wrap="square">
            <a:spAutoFit/>
          </a:bodyPr>
          <a:lstStyle/>
          <a:p>
            <a:r>
              <a:rPr lang="en-US" altLang="zh-TW" dirty="0"/>
              <a:t>Databases/vector stores are usually built offline (since they can take a long time to build if there are a lot of entries), then loaded into memory on launch</a:t>
            </a:r>
            <a:endParaRPr lang="zh-TW" altLang="en-US" dirty="0"/>
          </a:p>
        </p:txBody>
      </p:sp>
    </p:spTree>
    <p:extLst>
      <p:ext uri="{BB962C8B-B14F-4D97-AF65-F5344CB8AC3E}">
        <p14:creationId xmlns:p14="http://schemas.microsoft.com/office/powerpoint/2010/main" val="36464368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09F0AF-1CC4-459B-8194-7A8499577E09}"/>
              </a:ext>
            </a:extLst>
          </p:cNvPr>
          <p:cNvSpPr>
            <a:spLocks noGrp="1"/>
          </p:cNvSpPr>
          <p:nvPr>
            <p:ph type="title"/>
          </p:nvPr>
        </p:nvSpPr>
        <p:spPr/>
        <p:txBody>
          <a:bodyPr/>
          <a:lstStyle/>
          <a:p>
            <a:r>
              <a:rPr lang="en-US" altLang="zh-TW" sz="2800" dirty="0"/>
              <a:t>Retrieval Step (vllm_rag.py)</a:t>
            </a:r>
            <a:endParaRPr lang="zh-TW" altLang="en-US" sz="2800" dirty="0"/>
          </a:p>
        </p:txBody>
      </p:sp>
      <p:sp>
        <p:nvSpPr>
          <p:cNvPr id="4" name="投影片編號版面配置區 3">
            <a:extLst>
              <a:ext uri="{FF2B5EF4-FFF2-40B4-BE49-F238E27FC236}">
                <a16:creationId xmlns:a16="http://schemas.microsoft.com/office/drawing/2014/main" id="{B17FD26E-1CFD-4268-B1F6-AD62A0C6E8EA}"/>
              </a:ext>
            </a:extLst>
          </p:cNvPr>
          <p:cNvSpPr>
            <a:spLocks noGrp="1"/>
          </p:cNvSpPr>
          <p:nvPr>
            <p:ph type="sldNum" sz="quarter" idx="10"/>
          </p:nvPr>
        </p:nvSpPr>
        <p:spPr/>
        <p:txBody>
          <a:bodyPr/>
          <a:lstStyle/>
          <a:p>
            <a:pPr>
              <a:defRPr/>
            </a:pPr>
            <a:fld id="{CF627BE3-1269-44D5-A349-82FD5D94EBD8}" type="slidenum">
              <a:rPr lang="en-US" altLang="zh-TW" smtClean="0"/>
              <a:pPr>
                <a:defRPr/>
              </a:pPr>
              <a:t>50</a:t>
            </a:fld>
            <a:endParaRPr lang="en-US" altLang="zh-TW"/>
          </a:p>
        </p:txBody>
      </p:sp>
      <p:sp>
        <p:nvSpPr>
          <p:cNvPr id="8" name="文字方塊 7">
            <a:extLst>
              <a:ext uri="{FF2B5EF4-FFF2-40B4-BE49-F238E27FC236}">
                <a16:creationId xmlns:a16="http://schemas.microsoft.com/office/drawing/2014/main" id="{19F8B096-CD4B-419D-B6B5-B043DA697D0B}"/>
              </a:ext>
            </a:extLst>
          </p:cNvPr>
          <p:cNvSpPr txBox="1"/>
          <p:nvPr/>
        </p:nvSpPr>
        <p:spPr>
          <a:xfrm>
            <a:off x="2379211" y="3042083"/>
            <a:ext cx="7119620" cy="369332"/>
          </a:xfrm>
          <a:prstGeom prst="rect">
            <a:avLst/>
          </a:prstGeom>
          <a:noFill/>
        </p:spPr>
        <p:txBody>
          <a:bodyPr wrap="square">
            <a:spAutoFit/>
          </a:bodyPr>
          <a:lstStyle/>
          <a:p>
            <a:pPr algn="ctr"/>
            <a:r>
              <a:rPr lang="en-US" altLang="zh-TW" dirty="0"/>
              <a:t>The first step in RAG is retrieval</a:t>
            </a:r>
            <a:endParaRPr lang="zh-TW" altLang="en-US" dirty="0"/>
          </a:p>
        </p:txBody>
      </p:sp>
      <p:pic>
        <p:nvPicPr>
          <p:cNvPr id="6" name="Content Placeholder 5">
            <a:extLst>
              <a:ext uri="{FF2B5EF4-FFF2-40B4-BE49-F238E27FC236}">
                <a16:creationId xmlns:a16="http://schemas.microsoft.com/office/drawing/2014/main" id="{08E868F4-4416-DEE8-5086-8BB6C4E97F02}"/>
              </a:ext>
            </a:extLst>
          </p:cNvPr>
          <p:cNvPicPr>
            <a:picLocks noGrp="1" noChangeAspect="1"/>
          </p:cNvPicPr>
          <p:nvPr>
            <p:ph idx="1"/>
          </p:nvPr>
        </p:nvPicPr>
        <p:blipFill>
          <a:blip r:embed="rId2"/>
          <a:stretch>
            <a:fillRect/>
          </a:stretch>
        </p:blipFill>
        <p:spPr bwMode="auto">
          <a:xfrm>
            <a:off x="2169473" y="1206499"/>
            <a:ext cx="7539097" cy="16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字方塊 7">
            <a:extLst>
              <a:ext uri="{FF2B5EF4-FFF2-40B4-BE49-F238E27FC236}">
                <a16:creationId xmlns:a16="http://schemas.microsoft.com/office/drawing/2014/main" id="{E7FDF531-AA44-4E51-88E4-BDB3D55FB5BE}"/>
              </a:ext>
            </a:extLst>
          </p:cNvPr>
          <p:cNvSpPr txBox="1"/>
          <p:nvPr/>
        </p:nvSpPr>
        <p:spPr>
          <a:xfrm>
            <a:off x="922199" y="3961564"/>
            <a:ext cx="9407505" cy="1200329"/>
          </a:xfrm>
          <a:prstGeom prst="rect">
            <a:avLst/>
          </a:prstGeom>
          <a:noFill/>
        </p:spPr>
        <p:txBody>
          <a:bodyPr wrap="square">
            <a:spAutoFit/>
          </a:bodyPr>
          <a:lstStyle/>
          <a:p>
            <a:pPr marL="285750" indent="-285750">
              <a:buFont typeface="Arial" panose="020B0604020202020204" pitchFamily="34" charset="0"/>
              <a:buChar char="•"/>
            </a:pPr>
            <a:r>
              <a:rPr lang="en-US" altLang="zh-TW" dirty="0"/>
              <a:t>We first convert the user query (string) into embedding</a:t>
            </a:r>
          </a:p>
          <a:p>
            <a:pPr marL="285750" indent="-285750">
              <a:buFont typeface="Arial" panose="020B0604020202020204" pitchFamily="34" charset="0"/>
              <a:buChar char="•"/>
            </a:pPr>
            <a:r>
              <a:rPr lang="en-US" altLang="zh-TW" dirty="0"/>
              <a:t>Then use similarity metrics (cosine) to find the data entries with the closest semantic overlap with our query</a:t>
            </a:r>
          </a:p>
          <a:p>
            <a:pPr marL="285750" indent="-285750">
              <a:buFont typeface="Arial" panose="020B0604020202020204" pitchFamily="34" charset="0"/>
              <a:buChar char="•"/>
            </a:pPr>
            <a:r>
              <a:rPr lang="en-US" altLang="zh-TW" dirty="0"/>
              <a:t>We then pick the top k (2 in our case) entries in the database to use for augmentation</a:t>
            </a:r>
            <a:endParaRPr lang="zh-TW" altLang="en-US" dirty="0"/>
          </a:p>
        </p:txBody>
      </p:sp>
    </p:spTree>
    <p:extLst>
      <p:ext uri="{BB962C8B-B14F-4D97-AF65-F5344CB8AC3E}">
        <p14:creationId xmlns:p14="http://schemas.microsoft.com/office/powerpoint/2010/main" val="4134475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09F0AF-1CC4-459B-8194-7A8499577E09}"/>
              </a:ext>
            </a:extLst>
          </p:cNvPr>
          <p:cNvSpPr>
            <a:spLocks noGrp="1"/>
          </p:cNvSpPr>
          <p:nvPr>
            <p:ph type="title"/>
          </p:nvPr>
        </p:nvSpPr>
        <p:spPr>
          <a:xfrm>
            <a:off x="601133" y="102008"/>
            <a:ext cx="11159067" cy="908548"/>
          </a:xfrm>
        </p:spPr>
        <p:txBody>
          <a:bodyPr/>
          <a:lstStyle/>
          <a:p>
            <a:r>
              <a:rPr lang="en-US" altLang="zh-TW" sz="2800" dirty="0"/>
              <a:t>Generating a Response using </a:t>
            </a:r>
            <a:r>
              <a:rPr lang="en-US" altLang="zh-TW" sz="2800" dirty="0" err="1"/>
              <a:t>vLLM</a:t>
            </a:r>
            <a:r>
              <a:rPr lang="en-US" altLang="zh-TW" sz="2800" dirty="0"/>
              <a:t> (vllm_rag.py)</a:t>
            </a:r>
            <a:endParaRPr lang="zh-TW" altLang="en-US" sz="2800" dirty="0"/>
          </a:p>
        </p:txBody>
      </p:sp>
      <p:sp>
        <p:nvSpPr>
          <p:cNvPr id="4" name="投影片編號版面配置區 3">
            <a:extLst>
              <a:ext uri="{FF2B5EF4-FFF2-40B4-BE49-F238E27FC236}">
                <a16:creationId xmlns:a16="http://schemas.microsoft.com/office/drawing/2014/main" id="{B17FD26E-1CFD-4268-B1F6-AD62A0C6E8EA}"/>
              </a:ext>
            </a:extLst>
          </p:cNvPr>
          <p:cNvSpPr>
            <a:spLocks noGrp="1"/>
          </p:cNvSpPr>
          <p:nvPr>
            <p:ph type="sldNum" sz="quarter" idx="10"/>
          </p:nvPr>
        </p:nvSpPr>
        <p:spPr/>
        <p:txBody>
          <a:bodyPr/>
          <a:lstStyle/>
          <a:p>
            <a:pPr>
              <a:defRPr/>
            </a:pPr>
            <a:fld id="{CF627BE3-1269-44D5-A349-82FD5D94EBD8}" type="slidenum">
              <a:rPr lang="en-US" altLang="zh-TW" smtClean="0"/>
              <a:pPr>
                <a:defRPr/>
              </a:pPr>
              <a:t>51</a:t>
            </a:fld>
            <a:endParaRPr lang="en-US" altLang="zh-TW"/>
          </a:p>
        </p:txBody>
      </p:sp>
      <p:sp>
        <p:nvSpPr>
          <p:cNvPr id="8" name="文字方塊 7">
            <a:extLst>
              <a:ext uri="{FF2B5EF4-FFF2-40B4-BE49-F238E27FC236}">
                <a16:creationId xmlns:a16="http://schemas.microsoft.com/office/drawing/2014/main" id="{19F8B096-CD4B-419D-B6B5-B043DA697D0B}"/>
              </a:ext>
            </a:extLst>
          </p:cNvPr>
          <p:cNvSpPr txBox="1"/>
          <p:nvPr/>
        </p:nvSpPr>
        <p:spPr>
          <a:xfrm>
            <a:off x="1714288" y="5613791"/>
            <a:ext cx="8932756" cy="923330"/>
          </a:xfrm>
          <a:prstGeom prst="rect">
            <a:avLst/>
          </a:prstGeom>
          <a:noFill/>
        </p:spPr>
        <p:txBody>
          <a:bodyPr wrap="square">
            <a:spAutoFit/>
          </a:bodyPr>
          <a:lstStyle/>
          <a:p>
            <a:pPr algn="ctr"/>
            <a:r>
              <a:rPr lang="en-US" altLang="zh-TW" dirty="0"/>
              <a:t>API call is similar to the unit test, the only difference here is that the system prompt and user prompt have been modified to be more RAG friendly, and server response is now streamed instead of returned in bulk.</a:t>
            </a:r>
            <a:endParaRPr lang="zh-TW" altLang="en-US" dirty="0"/>
          </a:p>
        </p:txBody>
      </p:sp>
      <p:pic>
        <p:nvPicPr>
          <p:cNvPr id="7" name="Content Placeholder 6">
            <a:extLst>
              <a:ext uri="{FF2B5EF4-FFF2-40B4-BE49-F238E27FC236}">
                <a16:creationId xmlns:a16="http://schemas.microsoft.com/office/drawing/2014/main" id="{62DCAE28-8C08-FDF6-FDA8-3110477C1E93}"/>
              </a:ext>
            </a:extLst>
          </p:cNvPr>
          <p:cNvPicPr>
            <a:picLocks noGrp="1" noChangeAspect="1"/>
          </p:cNvPicPr>
          <p:nvPr>
            <p:ph idx="1"/>
          </p:nvPr>
        </p:nvPicPr>
        <p:blipFill>
          <a:blip r:embed="rId2"/>
          <a:stretch>
            <a:fillRect/>
          </a:stretch>
        </p:blipFill>
        <p:spPr bwMode="auto">
          <a:xfrm>
            <a:off x="2825980" y="761599"/>
            <a:ext cx="6719427"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57823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09F0AF-1CC4-459B-8194-7A8499577E09}"/>
              </a:ext>
            </a:extLst>
          </p:cNvPr>
          <p:cNvSpPr>
            <a:spLocks noGrp="1"/>
          </p:cNvSpPr>
          <p:nvPr>
            <p:ph type="title"/>
          </p:nvPr>
        </p:nvSpPr>
        <p:spPr>
          <a:xfrm>
            <a:off x="601133" y="135515"/>
            <a:ext cx="11159067" cy="908548"/>
          </a:xfrm>
        </p:spPr>
        <p:txBody>
          <a:bodyPr/>
          <a:lstStyle/>
          <a:p>
            <a:r>
              <a:rPr lang="en-US" altLang="zh-TW" sz="2800" dirty="0"/>
              <a:t>Putting Everything Together (vllm_rag.py)</a:t>
            </a:r>
            <a:endParaRPr lang="zh-TW" altLang="en-US" sz="2800" dirty="0"/>
          </a:p>
        </p:txBody>
      </p:sp>
      <p:sp>
        <p:nvSpPr>
          <p:cNvPr id="4" name="投影片編號版面配置區 3">
            <a:extLst>
              <a:ext uri="{FF2B5EF4-FFF2-40B4-BE49-F238E27FC236}">
                <a16:creationId xmlns:a16="http://schemas.microsoft.com/office/drawing/2014/main" id="{B17FD26E-1CFD-4268-B1F6-AD62A0C6E8EA}"/>
              </a:ext>
            </a:extLst>
          </p:cNvPr>
          <p:cNvSpPr>
            <a:spLocks noGrp="1"/>
          </p:cNvSpPr>
          <p:nvPr>
            <p:ph type="sldNum" sz="quarter" idx="10"/>
          </p:nvPr>
        </p:nvSpPr>
        <p:spPr/>
        <p:txBody>
          <a:bodyPr/>
          <a:lstStyle/>
          <a:p>
            <a:pPr>
              <a:defRPr/>
            </a:pPr>
            <a:fld id="{CF627BE3-1269-44D5-A349-82FD5D94EBD8}" type="slidenum">
              <a:rPr lang="en-US" altLang="zh-TW" smtClean="0"/>
              <a:pPr>
                <a:defRPr/>
              </a:pPr>
              <a:t>52</a:t>
            </a:fld>
            <a:endParaRPr lang="en-US" altLang="zh-TW"/>
          </a:p>
        </p:txBody>
      </p:sp>
      <p:sp>
        <p:nvSpPr>
          <p:cNvPr id="8" name="文字方塊 7">
            <a:extLst>
              <a:ext uri="{FF2B5EF4-FFF2-40B4-BE49-F238E27FC236}">
                <a16:creationId xmlns:a16="http://schemas.microsoft.com/office/drawing/2014/main" id="{19F8B096-CD4B-419D-B6B5-B043DA697D0B}"/>
              </a:ext>
            </a:extLst>
          </p:cNvPr>
          <p:cNvSpPr txBox="1"/>
          <p:nvPr/>
        </p:nvSpPr>
        <p:spPr>
          <a:xfrm>
            <a:off x="7948929" y="1240990"/>
            <a:ext cx="4108451" cy="646331"/>
          </a:xfrm>
          <a:prstGeom prst="rect">
            <a:avLst/>
          </a:prstGeom>
          <a:noFill/>
        </p:spPr>
        <p:txBody>
          <a:bodyPr wrap="square">
            <a:spAutoFit/>
          </a:bodyPr>
          <a:lstStyle/>
          <a:p>
            <a:r>
              <a:rPr lang="en-US" altLang="zh-TW" dirty="0"/>
              <a:t>Find the top 2 documents that most closely relate to the query</a:t>
            </a:r>
            <a:endParaRPr lang="zh-TW" altLang="en-US" dirty="0"/>
          </a:p>
        </p:txBody>
      </p:sp>
      <p:sp>
        <p:nvSpPr>
          <p:cNvPr id="14" name="文字方塊 13">
            <a:extLst>
              <a:ext uri="{FF2B5EF4-FFF2-40B4-BE49-F238E27FC236}">
                <a16:creationId xmlns:a16="http://schemas.microsoft.com/office/drawing/2014/main" id="{D23F4AD3-5043-4DF7-9F54-018C82CCF085}"/>
              </a:ext>
            </a:extLst>
          </p:cNvPr>
          <p:cNvSpPr txBox="1"/>
          <p:nvPr/>
        </p:nvSpPr>
        <p:spPr>
          <a:xfrm>
            <a:off x="7948929" y="2305797"/>
            <a:ext cx="4108451" cy="646331"/>
          </a:xfrm>
          <a:prstGeom prst="rect">
            <a:avLst/>
          </a:prstGeom>
          <a:noFill/>
        </p:spPr>
        <p:txBody>
          <a:bodyPr wrap="square">
            <a:spAutoFit/>
          </a:bodyPr>
          <a:lstStyle/>
          <a:p>
            <a:r>
              <a:rPr lang="en-US" altLang="zh-TW" dirty="0" err="1"/>
              <a:t>Concat</a:t>
            </a:r>
            <a:r>
              <a:rPr lang="en-US" altLang="zh-TW" dirty="0"/>
              <a:t> the retrieved contexts for the RAG prompt</a:t>
            </a:r>
            <a:endParaRPr lang="zh-TW" altLang="en-US" dirty="0"/>
          </a:p>
        </p:txBody>
      </p:sp>
      <p:sp>
        <p:nvSpPr>
          <p:cNvPr id="15" name="文字方塊 14">
            <a:extLst>
              <a:ext uri="{FF2B5EF4-FFF2-40B4-BE49-F238E27FC236}">
                <a16:creationId xmlns:a16="http://schemas.microsoft.com/office/drawing/2014/main" id="{2BF86173-6E06-4C09-B01C-5657D1103158}"/>
              </a:ext>
            </a:extLst>
          </p:cNvPr>
          <p:cNvSpPr txBox="1"/>
          <p:nvPr/>
        </p:nvSpPr>
        <p:spPr>
          <a:xfrm>
            <a:off x="8175017" y="5122410"/>
            <a:ext cx="4108451" cy="369332"/>
          </a:xfrm>
          <a:prstGeom prst="rect">
            <a:avLst/>
          </a:prstGeom>
          <a:noFill/>
        </p:spPr>
        <p:txBody>
          <a:bodyPr wrap="square">
            <a:spAutoFit/>
          </a:bodyPr>
          <a:lstStyle/>
          <a:p>
            <a:r>
              <a:rPr lang="en-US" altLang="zh-TW" dirty="0"/>
              <a:t>End-to-end RAG call</a:t>
            </a:r>
            <a:endParaRPr lang="zh-TW" altLang="en-US" dirty="0"/>
          </a:p>
        </p:txBody>
      </p:sp>
      <p:pic>
        <p:nvPicPr>
          <p:cNvPr id="9" name="Content Placeholder 8">
            <a:extLst>
              <a:ext uri="{FF2B5EF4-FFF2-40B4-BE49-F238E27FC236}">
                <a16:creationId xmlns:a16="http://schemas.microsoft.com/office/drawing/2014/main" id="{C7AD2538-62FA-DB35-4AFF-0C63028E5853}"/>
              </a:ext>
            </a:extLst>
          </p:cNvPr>
          <p:cNvPicPr>
            <a:picLocks noGrp="1" noChangeAspect="1"/>
          </p:cNvPicPr>
          <p:nvPr>
            <p:ph idx="1"/>
          </p:nvPr>
        </p:nvPicPr>
        <p:blipFill>
          <a:blip r:embed="rId2"/>
          <a:stretch>
            <a:fillRect/>
          </a:stretch>
        </p:blipFill>
        <p:spPr bwMode="auto">
          <a:xfrm>
            <a:off x="431800" y="871161"/>
            <a:ext cx="7074319" cy="2394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a:extLst>
              <a:ext uri="{FF2B5EF4-FFF2-40B4-BE49-F238E27FC236}">
                <a16:creationId xmlns:a16="http://schemas.microsoft.com/office/drawing/2014/main" id="{75E11D0B-B8BE-181A-46F0-1E36039D1905}"/>
              </a:ext>
            </a:extLst>
          </p:cNvPr>
          <p:cNvPicPr>
            <a:picLocks noChangeAspect="1"/>
          </p:cNvPicPr>
          <p:nvPr/>
        </p:nvPicPr>
        <p:blipFill>
          <a:blip r:embed="rId3"/>
          <a:stretch>
            <a:fillRect/>
          </a:stretch>
        </p:blipFill>
        <p:spPr>
          <a:xfrm>
            <a:off x="431800" y="3383665"/>
            <a:ext cx="5762667" cy="3105173"/>
          </a:xfrm>
          <a:prstGeom prst="rect">
            <a:avLst/>
          </a:prstGeom>
        </p:spPr>
      </p:pic>
    </p:spTree>
    <p:extLst>
      <p:ext uri="{BB962C8B-B14F-4D97-AF65-F5344CB8AC3E}">
        <p14:creationId xmlns:p14="http://schemas.microsoft.com/office/powerpoint/2010/main" val="29413963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9790E9-E634-47F5-B7F9-CF90133C59C9}"/>
              </a:ext>
            </a:extLst>
          </p:cNvPr>
          <p:cNvSpPr>
            <a:spLocks noGrp="1"/>
          </p:cNvSpPr>
          <p:nvPr>
            <p:ph type="title"/>
          </p:nvPr>
        </p:nvSpPr>
        <p:spPr/>
        <p:txBody>
          <a:bodyPr/>
          <a:lstStyle/>
          <a:p>
            <a:r>
              <a:rPr lang="en-US" altLang="zh-TW" sz="3200" dirty="0"/>
              <a:t>Without RAG</a:t>
            </a:r>
            <a:endParaRPr lang="zh-TW" altLang="en-US" sz="3200" dirty="0"/>
          </a:p>
        </p:txBody>
      </p:sp>
      <p:sp>
        <p:nvSpPr>
          <p:cNvPr id="4" name="投影片編號版面配置區 3">
            <a:extLst>
              <a:ext uri="{FF2B5EF4-FFF2-40B4-BE49-F238E27FC236}">
                <a16:creationId xmlns:a16="http://schemas.microsoft.com/office/drawing/2014/main" id="{3F768A0F-4C40-43D4-9B8E-F4DA3A669AA9}"/>
              </a:ext>
            </a:extLst>
          </p:cNvPr>
          <p:cNvSpPr>
            <a:spLocks noGrp="1"/>
          </p:cNvSpPr>
          <p:nvPr>
            <p:ph type="sldNum" sz="quarter" idx="10"/>
          </p:nvPr>
        </p:nvSpPr>
        <p:spPr/>
        <p:txBody>
          <a:bodyPr/>
          <a:lstStyle/>
          <a:p>
            <a:pPr>
              <a:defRPr/>
            </a:pPr>
            <a:fld id="{CF627BE3-1269-44D5-A349-82FD5D94EBD8}" type="slidenum">
              <a:rPr lang="en-US" altLang="zh-TW" smtClean="0"/>
              <a:pPr>
                <a:defRPr/>
              </a:pPr>
              <a:t>53</a:t>
            </a:fld>
            <a:endParaRPr lang="en-US" altLang="zh-TW"/>
          </a:p>
        </p:txBody>
      </p:sp>
      <p:pic>
        <p:nvPicPr>
          <p:cNvPr id="7" name="Picture 6">
            <a:extLst>
              <a:ext uri="{FF2B5EF4-FFF2-40B4-BE49-F238E27FC236}">
                <a16:creationId xmlns:a16="http://schemas.microsoft.com/office/drawing/2014/main" id="{A47A387E-585B-A69D-5278-523CE6B044F8}"/>
              </a:ext>
            </a:extLst>
          </p:cNvPr>
          <p:cNvPicPr>
            <a:picLocks noChangeAspect="1"/>
          </p:cNvPicPr>
          <p:nvPr/>
        </p:nvPicPr>
        <p:blipFill>
          <a:blip r:embed="rId2"/>
          <a:stretch>
            <a:fillRect/>
          </a:stretch>
        </p:blipFill>
        <p:spPr>
          <a:xfrm>
            <a:off x="576222" y="1059305"/>
            <a:ext cx="11039556" cy="3171848"/>
          </a:xfrm>
          <a:prstGeom prst="rect">
            <a:avLst/>
          </a:prstGeom>
        </p:spPr>
      </p:pic>
      <p:sp>
        <p:nvSpPr>
          <p:cNvPr id="9" name="TextBox 8">
            <a:extLst>
              <a:ext uri="{FF2B5EF4-FFF2-40B4-BE49-F238E27FC236}">
                <a16:creationId xmlns:a16="http://schemas.microsoft.com/office/drawing/2014/main" id="{2EF7914E-8B78-8AE1-25D6-55966DE30027}"/>
              </a:ext>
            </a:extLst>
          </p:cNvPr>
          <p:cNvSpPr txBox="1"/>
          <p:nvPr/>
        </p:nvSpPr>
        <p:spPr>
          <a:xfrm>
            <a:off x="1124578" y="4788140"/>
            <a:ext cx="9942844" cy="369332"/>
          </a:xfrm>
          <a:prstGeom prst="rect">
            <a:avLst/>
          </a:prstGeom>
          <a:noFill/>
        </p:spPr>
        <p:txBody>
          <a:bodyPr wrap="square" rtlCol="0">
            <a:spAutoFit/>
          </a:bodyPr>
          <a:lstStyle/>
          <a:p>
            <a:pPr algn="ctr"/>
            <a:r>
              <a:rPr lang="en-US" dirty="0"/>
              <a:t>Even though the model is new, it may still have trained on old data.</a:t>
            </a:r>
          </a:p>
        </p:txBody>
      </p:sp>
      <p:sp>
        <p:nvSpPr>
          <p:cNvPr id="10" name="Rectangle 9">
            <a:extLst>
              <a:ext uri="{FF2B5EF4-FFF2-40B4-BE49-F238E27FC236}">
                <a16:creationId xmlns:a16="http://schemas.microsoft.com/office/drawing/2014/main" id="{1272A61F-7EBD-647F-D695-2869946B9F60}"/>
              </a:ext>
            </a:extLst>
          </p:cNvPr>
          <p:cNvSpPr/>
          <p:nvPr/>
        </p:nvSpPr>
        <p:spPr bwMode="auto">
          <a:xfrm>
            <a:off x="3848519" y="1763486"/>
            <a:ext cx="5933551" cy="160773"/>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新細明體" pitchFamily="18" charset="-120"/>
            </a:endParaRPr>
          </a:p>
        </p:txBody>
      </p:sp>
    </p:spTree>
    <p:extLst>
      <p:ext uri="{BB962C8B-B14F-4D97-AF65-F5344CB8AC3E}">
        <p14:creationId xmlns:p14="http://schemas.microsoft.com/office/powerpoint/2010/main" val="16844950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9790E9-E634-47F5-B7F9-CF90133C59C9}"/>
              </a:ext>
            </a:extLst>
          </p:cNvPr>
          <p:cNvSpPr>
            <a:spLocks noGrp="1"/>
          </p:cNvSpPr>
          <p:nvPr>
            <p:ph type="title"/>
          </p:nvPr>
        </p:nvSpPr>
        <p:spPr/>
        <p:txBody>
          <a:bodyPr/>
          <a:lstStyle/>
          <a:p>
            <a:r>
              <a:rPr lang="en-US" altLang="zh-TW" sz="3200" dirty="0"/>
              <a:t>RAG Using </a:t>
            </a:r>
            <a:r>
              <a:rPr lang="en-US" altLang="zh-TW" sz="3200" dirty="0" err="1"/>
              <a:t>vLLM</a:t>
            </a:r>
            <a:r>
              <a:rPr lang="en-US" altLang="zh-TW" sz="3200" dirty="0"/>
              <a:t> (vllm_rag.py)</a:t>
            </a:r>
            <a:endParaRPr lang="zh-TW" altLang="en-US" sz="3200" dirty="0"/>
          </a:p>
        </p:txBody>
      </p:sp>
      <p:sp>
        <p:nvSpPr>
          <p:cNvPr id="4" name="投影片編號版面配置區 3">
            <a:extLst>
              <a:ext uri="{FF2B5EF4-FFF2-40B4-BE49-F238E27FC236}">
                <a16:creationId xmlns:a16="http://schemas.microsoft.com/office/drawing/2014/main" id="{3F768A0F-4C40-43D4-9B8E-F4DA3A669AA9}"/>
              </a:ext>
            </a:extLst>
          </p:cNvPr>
          <p:cNvSpPr>
            <a:spLocks noGrp="1"/>
          </p:cNvSpPr>
          <p:nvPr>
            <p:ph type="sldNum" sz="quarter" idx="10"/>
          </p:nvPr>
        </p:nvSpPr>
        <p:spPr/>
        <p:txBody>
          <a:bodyPr/>
          <a:lstStyle/>
          <a:p>
            <a:pPr>
              <a:defRPr/>
            </a:pPr>
            <a:fld id="{CF627BE3-1269-44D5-A349-82FD5D94EBD8}" type="slidenum">
              <a:rPr lang="en-US" altLang="zh-TW" smtClean="0"/>
              <a:pPr>
                <a:defRPr/>
              </a:pPr>
              <a:t>54</a:t>
            </a:fld>
            <a:endParaRPr lang="en-US" altLang="zh-TW"/>
          </a:p>
        </p:txBody>
      </p:sp>
      <p:pic>
        <p:nvPicPr>
          <p:cNvPr id="5" name="Picture 4">
            <a:extLst>
              <a:ext uri="{FF2B5EF4-FFF2-40B4-BE49-F238E27FC236}">
                <a16:creationId xmlns:a16="http://schemas.microsoft.com/office/drawing/2014/main" id="{627325DF-A8C5-2039-7690-531804E325A3}"/>
              </a:ext>
            </a:extLst>
          </p:cNvPr>
          <p:cNvPicPr>
            <a:picLocks noChangeAspect="1"/>
          </p:cNvPicPr>
          <p:nvPr/>
        </p:nvPicPr>
        <p:blipFill>
          <a:blip r:embed="rId2"/>
          <a:stretch>
            <a:fillRect/>
          </a:stretch>
        </p:blipFill>
        <p:spPr>
          <a:xfrm>
            <a:off x="585747" y="1066782"/>
            <a:ext cx="11020506" cy="4724435"/>
          </a:xfrm>
          <a:prstGeom prst="rect">
            <a:avLst/>
          </a:prstGeom>
        </p:spPr>
      </p:pic>
      <p:sp>
        <p:nvSpPr>
          <p:cNvPr id="3" name="Rectangle 2">
            <a:extLst>
              <a:ext uri="{FF2B5EF4-FFF2-40B4-BE49-F238E27FC236}">
                <a16:creationId xmlns:a16="http://schemas.microsoft.com/office/drawing/2014/main" id="{06B8A6B5-2BD2-974A-6CD2-9D98EC55ACEC}"/>
              </a:ext>
            </a:extLst>
          </p:cNvPr>
          <p:cNvSpPr/>
          <p:nvPr/>
        </p:nvSpPr>
        <p:spPr bwMode="auto">
          <a:xfrm>
            <a:off x="601133" y="1979525"/>
            <a:ext cx="8181126" cy="251209"/>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新細明體" pitchFamily="18" charset="-120"/>
            </a:endParaRPr>
          </a:p>
        </p:txBody>
      </p:sp>
    </p:spTree>
    <p:extLst>
      <p:ext uri="{BB962C8B-B14F-4D97-AF65-F5344CB8AC3E}">
        <p14:creationId xmlns:p14="http://schemas.microsoft.com/office/powerpoint/2010/main" val="39986135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Function Calling Implementation</a:t>
            </a:r>
            <a:endParaRPr lang="zh-TW" altLang="en-US" sz="5400" dirty="0"/>
          </a:p>
        </p:txBody>
      </p:sp>
    </p:spTree>
    <p:extLst>
      <p:ext uri="{BB962C8B-B14F-4D97-AF65-F5344CB8AC3E}">
        <p14:creationId xmlns:p14="http://schemas.microsoft.com/office/powerpoint/2010/main" val="23102542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FCD49C1F-183C-6708-612F-937199697F39}"/>
              </a:ext>
            </a:extLst>
          </p:cNvPr>
          <p:cNvPicPr>
            <a:picLocks noChangeAspect="1"/>
          </p:cNvPicPr>
          <p:nvPr/>
        </p:nvPicPr>
        <p:blipFill>
          <a:blip r:embed="rId3"/>
          <a:stretch>
            <a:fillRect/>
          </a:stretch>
        </p:blipFill>
        <p:spPr>
          <a:xfrm>
            <a:off x="1270367" y="4285832"/>
            <a:ext cx="9756935" cy="1376497"/>
          </a:xfrm>
          <a:prstGeom prst="rect">
            <a:avLst/>
          </a:prstGeom>
        </p:spPr>
      </p:pic>
      <p:pic>
        <p:nvPicPr>
          <p:cNvPr id="7" name="Content Placeholder 6">
            <a:extLst>
              <a:ext uri="{FF2B5EF4-FFF2-40B4-BE49-F238E27FC236}">
                <a16:creationId xmlns:a16="http://schemas.microsoft.com/office/drawing/2014/main" id="{E61C4356-9976-319B-1830-65EF3265D02D}"/>
              </a:ext>
            </a:extLst>
          </p:cNvPr>
          <p:cNvPicPr>
            <a:picLocks noGrp="1" noChangeAspect="1"/>
          </p:cNvPicPr>
          <p:nvPr>
            <p:ph idx="1"/>
          </p:nvPr>
        </p:nvPicPr>
        <p:blipFill>
          <a:blip r:embed="rId4"/>
          <a:stretch>
            <a:fillRect/>
          </a:stretch>
        </p:blipFill>
        <p:spPr bwMode="auto">
          <a:xfrm>
            <a:off x="609600" y="960049"/>
            <a:ext cx="11152188" cy="2549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a:extLst>
              <a:ext uri="{FF2B5EF4-FFF2-40B4-BE49-F238E27FC236}">
                <a16:creationId xmlns:a16="http://schemas.microsoft.com/office/drawing/2014/main" id="{0DE8019B-8329-43F1-98E0-F52C5855B09C}"/>
              </a:ext>
            </a:extLst>
          </p:cNvPr>
          <p:cNvSpPr>
            <a:spLocks noGrp="1"/>
          </p:cNvSpPr>
          <p:nvPr>
            <p:ph type="title"/>
          </p:nvPr>
        </p:nvSpPr>
        <p:spPr/>
        <p:txBody>
          <a:bodyPr/>
          <a:lstStyle/>
          <a:p>
            <a:r>
              <a:rPr lang="en-US" altLang="zh-TW" sz="2400" dirty="0"/>
              <a:t>Function Calling Example:</a:t>
            </a:r>
            <a:r>
              <a:rPr lang="zh-TW" altLang="en-US" sz="2400" dirty="0"/>
              <a:t> </a:t>
            </a:r>
            <a:r>
              <a:rPr lang="en-US" altLang="zh-TW" sz="2400" dirty="0"/>
              <a:t>Function Declaration (vllm_function_calling.py)</a:t>
            </a:r>
            <a:endParaRPr lang="zh-TW" altLang="en-US" sz="2400" dirty="0"/>
          </a:p>
        </p:txBody>
      </p:sp>
      <p:sp>
        <p:nvSpPr>
          <p:cNvPr id="4" name="投影片編號版面配置區 3">
            <a:extLst>
              <a:ext uri="{FF2B5EF4-FFF2-40B4-BE49-F238E27FC236}">
                <a16:creationId xmlns:a16="http://schemas.microsoft.com/office/drawing/2014/main" id="{295EEFDF-C76B-446B-A32B-480740EB0F67}"/>
              </a:ext>
            </a:extLst>
          </p:cNvPr>
          <p:cNvSpPr>
            <a:spLocks noGrp="1"/>
          </p:cNvSpPr>
          <p:nvPr>
            <p:ph type="sldNum" sz="quarter" idx="10"/>
          </p:nvPr>
        </p:nvSpPr>
        <p:spPr/>
        <p:txBody>
          <a:bodyPr/>
          <a:lstStyle/>
          <a:p>
            <a:pPr>
              <a:defRPr/>
            </a:pPr>
            <a:fld id="{CF627BE3-1269-44D5-A349-82FD5D94EBD8}" type="slidenum">
              <a:rPr lang="en-US" altLang="zh-TW" smtClean="0"/>
              <a:pPr>
                <a:defRPr/>
              </a:pPr>
              <a:t>56</a:t>
            </a:fld>
            <a:endParaRPr lang="en-US" altLang="zh-TW"/>
          </a:p>
        </p:txBody>
      </p:sp>
      <p:sp>
        <p:nvSpPr>
          <p:cNvPr id="5" name="文字方塊 4">
            <a:extLst>
              <a:ext uri="{FF2B5EF4-FFF2-40B4-BE49-F238E27FC236}">
                <a16:creationId xmlns:a16="http://schemas.microsoft.com/office/drawing/2014/main" id="{5302AB3F-E7CE-4B2E-9912-E9C3F8CD9150}"/>
              </a:ext>
            </a:extLst>
          </p:cNvPr>
          <p:cNvSpPr txBox="1"/>
          <p:nvPr/>
        </p:nvSpPr>
        <p:spPr>
          <a:xfrm>
            <a:off x="1270367" y="3687735"/>
            <a:ext cx="9830651" cy="369332"/>
          </a:xfrm>
          <a:prstGeom prst="rect">
            <a:avLst/>
          </a:prstGeom>
          <a:noFill/>
        </p:spPr>
        <p:txBody>
          <a:bodyPr wrap="square" rtlCol="0">
            <a:spAutoFit/>
          </a:bodyPr>
          <a:lstStyle/>
          <a:p>
            <a:r>
              <a:rPr lang="en-US" altLang="zh-TW" dirty="0"/>
              <a:t>The </a:t>
            </a:r>
            <a:r>
              <a:rPr lang="en-US" altLang="zh-TW" b="1" dirty="0"/>
              <a:t>description</a:t>
            </a:r>
            <a:r>
              <a:rPr lang="en-US" altLang="zh-TW" dirty="0"/>
              <a:t> fields are important for informing the LLM on when a function should be used</a:t>
            </a:r>
            <a:endParaRPr lang="zh-TW" altLang="en-US" dirty="0"/>
          </a:p>
        </p:txBody>
      </p:sp>
      <p:sp>
        <p:nvSpPr>
          <p:cNvPr id="8" name="文字方塊 7">
            <a:extLst>
              <a:ext uri="{FF2B5EF4-FFF2-40B4-BE49-F238E27FC236}">
                <a16:creationId xmlns:a16="http://schemas.microsoft.com/office/drawing/2014/main" id="{6C1A152F-C0FB-489B-B877-3ACBCF95A68C}"/>
              </a:ext>
            </a:extLst>
          </p:cNvPr>
          <p:cNvSpPr txBox="1"/>
          <p:nvPr/>
        </p:nvSpPr>
        <p:spPr>
          <a:xfrm>
            <a:off x="956071" y="5823963"/>
            <a:ext cx="9830651" cy="646331"/>
          </a:xfrm>
          <a:prstGeom prst="rect">
            <a:avLst/>
          </a:prstGeom>
          <a:noFill/>
        </p:spPr>
        <p:txBody>
          <a:bodyPr wrap="square" rtlCol="0">
            <a:spAutoFit/>
          </a:bodyPr>
          <a:lstStyle/>
          <a:p>
            <a:pPr algn="ctr"/>
            <a:r>
              <a:rPr lang="en-US" altLang="zh-TW" dirty="0"/>
              <a:t>Sample output, the model provides the coordinates to Taipei using its existing knowledge. You can also opt to add another tool that uses web search to get the coordinates</a:t>
            </a:r>
            <a:endParaRPr lang="zh-TW" altLang="en-US" dirty="0"/>
          </a:p>
        </p:txBody>
      </p:sp>
      <p:cxnSp>
        <p:nvCxnSpPr>
          <p:cNvPr id="11" name="直線接點 10">
            <a:extLst>
              <a:ext uri="{FF2B5EF4-FFF2-40B4-BE49-F238E27FC236}">
                <a16:creationId xmlns:a16="http://schemas.microsoft.com/office/drawing/2014/main" id="{33DBAF3F-375B-4CF5-939D-7A0A13EEAEE8}"/>
              </a:ext>
            </a:extLst>
          </p:cNvPr>
          <p:cNvCxnSpPr>
            <a:cxnSpLocks/>
          </p:cNvCxnSpPr>
          <p:nvPr/>
        </p:nvCxnSpPr>
        <p:spPr bwMode="auto">
          <a:xfrm>
            <a:off x="1687319" y="1458218"/>
            <a:ext cx="904477"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13" name="直線接點 12">
            <a:extLst>
              <a:ext uri="{FF2B5EF4-FFF2-40B4-BE49-F238E27FC236}">
                <a16:creationId xmlns:a16="http://schemas.microsoft.com/office/drawing/2014/main" id="{18AC344E-2417-45FA-963B-2F508013238F}"/>
              </a:ext>
            </a:extLst>
          </p:cNvPr>
          <p:cNvCxnSpPr>
            <a:cxnSpLocks/>
          </p:cNvCxnSpPr>
          <p:nvPr/>
        </p:nvCxnSpPr>
        <p:spPr bwMode="auto">
          <a:xfrm>
            <a:off x="2501236" y="5500694"/>
            <a:ext cx="1273627"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20" name="直線接點 19">
            <a:extLst>
              <a:ext uri="{FF2B5EF4-FFF2-40B4-BE49-F238E27FC236}">
                <a16:creationId xmlns:a16="http://schemas.microsoft.com/office/drawing/2014/main" id="{B594B282-E6CD-4C29-9A26-E3D028E35FEF}"/>
              </a:ext>
            </a:extLst>
          </p:cNvPr>
          <p:cNvCxnSpPr>
            <a:cxnSpLocks/>
          </p:cNvCxnSpPr>
          <p:nvPr/>
        </p:nvCxnSpPr>
        <p:spPr bwMode="auto">
          <a:xfrm>
            <a:off x="1749646" y="2234700"/>
            <a:ext cx="566499"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21" name="直線接點 20">
            <a:extLst>
              <a:ext uri="{FF2B5EF4-FFF2-40B4-BE49-F238E27FC236}">
                <a16:creationId xmlns:a16="http://schemas.microsoft.com/office/drawing/2014/main" id="{865FF6FF-7FB8-4E5C-8CDA-247DD2ACBBB3}"/>
              </a:ext>
            </a:extLst>
          </p:cNvPr>
          <p:cNvCxnSpPr>
            <a:cxnSpLocks/>
          </p:cNvCxnSpPr>
          <p:nvPr/>
        </p:nvCxnSpPr>
        <p:spPr bwMode="auto">
          <a:xfrm>
            <a:off x="1749645" y="2401925"/>
            <a:ext cx="571524"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24" name="直線接點 23">
            <a:extLst>
              <a:ext uri="{FF2B5EF4-FFF2-40B4-BE49-F238E27FC236}">
                <a16:creationId xmlns:a16="http://schemas.microsoft.com/office/drawing/2014/main" id="{345FBE90-0591-4F0A-BE92-71CDD7ACEE2C}"/>
              </a:ext>
            </a:extLst>
          </p:cNvPr>
          <p:cNvCxnSpPr>
            <a:cxnSpLocks/>
          </p:cNvCxnSpPr>
          <p:nvPr/>
        </p:nvCxnSpPr>
        <p:spPr bwMode="auto">
          <a:xfrm>
            <a:off x="5745333" y="5500694"/>
            <a:ext cx="1095942"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26" name="直線接點 25">
            <a:extLst>
              <a:ext uri="{FF2B5EF4-FFF2-40B4-BE49-F238E27FC236}">
                <a16:creationId xmlns:a16="http://schemas.microsoft.com/office/drawing/2014/main" id="{333BC63C-1ECC-4365-9C39-205E8647FC08}"/>
              </a:ext>
            </a:extLst>
          </p:cNvPr>
          <p:cNvCxnSpPr>
            <a:cxnSpLocks/>
          </p:cNvCxnSpPr>
          <p:nvPr/>
        </p:nvCxnSpPr>
        <p:spPr bwMode="auto">
          <a:xfrm>
            <a:off x="8207877" y="5500694"/>
            <a:ext cx="1095942"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37459581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4BD3A2B-4945-DAF0-0518-10E0497FE644}"/>
              </a:ext>
            </a:extLst>
          </p:cNvPr>
          <p:cNvPicPr>
            <a:picLocks noGrp="1" noChangeAspect="1"/>
          </p:cNvPicPr>
          <p:nvPr>
            <p:ph idx="1"/>
          </p:nvPr>
        </p:nvPicPr>
        <p:blipFill>
          <a:blip r:embed="rId2"/>
          <a:stretch>
            <a:fillRect/>
          </a:stretch>
        </p:blipFill>
        <p:spPr bwMode="auto">
          <a:xfrm>
            <a:off x="431800" y="1105953"/>
            <a:ext cx="9534133" cy="543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a:extLst>
              <a:ext uri="{FF2B5EF4-FFF2-40B4-BE49-F238E27FC236}">
                <a16:creationId xmlns:a16="http://schemas.microsoft.com/office/drawing/2014/main" id="{0DE8019B-8329-43F1-98E0-F52C5855B09C}"/>
              </a:ext>
            </a:extLst>
          </p:cNvPr>
          <p:cNvSpPr>
            <a:spLocks noGrp="1"/>
          </p:cNvSpPr>
          <p:nvPr>
            <p:ph type="title"/>
          </p:nvPr>
        </p:nvSpPr>
        <p:spPr/>
        <p:txBody>
          <a:bodyPr/>
          <a:lstStyle/>
          <a:p>
            <a:r>
              <a:rPr lang="en-US" altLang="zh-TW" sz="2400" dirty="0"/>
              <a:t>Function Calling Example:</a:t>
            </a:r>
            <a:r>
              <a:rPr lang="zh-TW" altLang="en-US" sz="2400" dirty="0"/>
              <a:t> </a:t>
            </a:r>
            <a:r>
              <a:rPr lang="en-US" altLang="zh-TW" sz="2400" dirty="0"/>
              <a:t>API Integration (vllm_function_calling.py)</a:t>
            </a:r>
            <a:endParaRPr lang="zh-TW" altLang="en-US" sz="2400" dirty="0"/>
          </a:p>
        </p:txBody>
      </p:sp>
      <p:sp>
        <p:nvSpPr>
          <p:cNvPr id="4" name="投影片編號版面配置區 3">
            <a:extLst>
              <a:ext uri="{FF2B5EF4-FFF2-40B4-BE49-F238E27FC236}">
                <a16:creationId xmlns:a16="http://schemas.microsoft.com/office/drawing/2014/main" id="{295EEFDF-C76B-446B-A32B-480740EB0F67}"/>
              </a:ext>
            </a:extLst>
          </p:cNvPr>
          <p:cNvSpPr>
            <a:spLocks noGrp="1"/>
          </p:cNvSpPr>
          <p:nvPr>
            <p:ph type="sldNum" sz="quarter" idx="10"/>
          </p:nvPr>
        </p:nvSpPr>
        <p:spPr/>
        <p:txBody>
          <a:bodyPr/>
          <a:lstStyle/>
          <a:p>
            <a:pPr>
              <a:defRPr/>
            </a:pPr>
            <a:fld id="{CF627BE3-1269-44D5-A349-82FD5D94EBD8}" type="slidenum">
              <a:rPr lang="en-US" altLang="zh-TW" smtClean="0"/>
              <a:pPr>
                <a:defRPr/>
              </a:pPr>
              <a:t>57</a:t>
            </a:fld>
            <a:endParaRPr lang="en-US" altLang="zh-TW"/>
          </a:p>
        </p:txBody>
      </p:sp>
      <p:sp>
        <p:nvSpPr>
          <p:cNvPr id="7" name="文字方塊 6">
            <a:extLst>
              <a:ext uri="{FF2B5EF4-FFF2-40B4-BE49-F238E27FC236}">
                <a16:creationId xmlns:a16="http://schemas.microsoft.com/office/drawing/2014/main" id="{E5067298-1D02-491F-804B-B4F53ABDB09F}"/>
              </a:ext>
            </a:extLst>
          </p:cNvPr>
          <p:cNvSpPr txBox="1"/>
          <p:nvPr/>
        </p:nvSpPr>
        <p:spPr>
          <a:xfrm>
            <a:off x="10135266" y="1158378"/>
            <a:ext cx="2287086" cy="369332"/>
          </a:xfrm>
          <a:prstGeom prst="rect">
            <a:avLst/>
          </a:prstGeom>
          <a:noFill/>
        </p:spPr>
        <p:txBody>
          <a:bodyPr wrap="square" rtlCol="0">
            <a:spAutoFit/>
          </a:bodyPr>
          <a:lstStyle/>
          <a:p>
            <a:r>
              <a:rPr lang="en-US" altLang="zh-TW" dirty="0"/>
              <a:t>API</a:t>
            </a:r>
            <a:r>
              <a:rPr lang="zh-TW" altLang="en-US" dirty="0"/>
              <a:t> </a:t>
            </a:r>
            <a:r>
              <a:rPr lang="en-US" altLang="zh-TW" dirty="0"/>
              <a:t>call</a:t>
            </a:r>
            <a:endParaRPr lang="zh-TW" altLang="en-US" dirty="0"/>
          </a:p>
        </p:txBody>
      </p:sp>
      <p:sp>
        <p:nvSpPr>
          <p:cNvPr id="9" name="文字方塊 8">
            <a:extLst>
              <a:ext uri="{FF2B5EF4-FFF2-40B4-BE49-F238E27FC236}">
                <a16:creationId xmlns:a16="http://schemas.microsoft.com/office/drawing/2014/main" id="{91DCFBF2-C272-4C73-80D5-461D367292B5}"/>
              </a:ext>
            </a:extLst>
          </p:cNvPr>
          <p:cNvSpPr txBox="1"/>
          <p:nvPr/>
        </p:nvSpPr>
        <p:spPr>
          <a:xfrm>
            <a:off x="7050912" y="5259039"/>
            <a:ext cx="3783958" cy="369332"/>
          </a:xfrm>
          <a:prstGeom prst="rect">
            <a:avLst/>
          </a:prstGeom>
          <a:noFill/>
        </p:spPr>
        <p:txBody>
          <a:bodyPr wrap="square" rtlCol="0">
            <a:spAutoFit/>
          </a:bodyPr>
          <a:lstStyle/>
          <a:p>
            <a:r>
              <a:rPr lang="en-US" altLang="zh-TW" dirty="0">
                <a:solidFill>
                  <a:srgbClr val="FF0000"/>
                </a:solidFill>
              </a:rPr>
              <a:t>Parse LLM output (string) into json</a:t>
            </a:r>
            <a:endParaRPr lang="zh-TW" altLang="en-US" dirty="0">
              <a:solidFill>
                <a:srgbClr val="FF0000"/>
              </a:solidFill>
            </a:endParaRPr>
          </a:p>
        </p:txBody>
      </p:sp>
      <p:sp>
        <p:nvSpPr>
          <p:cNvPr id="12" name="流程圖: 程序 11">
            <a:extLst>
              <a:ext uri="{FF2B5EF4-FFF2-40B4-BE49-F238E27FC236}">
                <a16:creationId xmlns:a16="http://schemas.microsoft.com/office/drawing/2014/main" id="{B4CE63B0-F6F1-4262-BD1C-4D7E11DA0008}"/>
              </a:ext>
            </a:extLst>
          </p:cNvPr>
          <p:cNvSpPr/>
          <p:nvPr/>
        </p:nvSpPr>
        <p:spPr bwMode="auto">
          <a:xfrm>
            <a:off x="1053196" y="1276844"/>
            <a:ext cx="8912737" cy="180000"/>
          </a:xfrm>
          <a:prstGeom prst="flowChartProcess">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13" name="文字方塊 12">
            <a:extLst>
              <a:ext uri="{FF2B5EF4-FFF2-40B4-BE49-F238E27FC236}">
                <a16:creationId xmlns:a16="http://schemas.microsoft.com/office/drawing/2014/main" id="{A04DE277-E91D-44B3-8138-3DBB98A31195}"/>
              </a:ext>
            </a:extLst>
          </p:cNvPr>
          <p:cNvSpPr txBox="1"/>
          <p:nvPr/>
        </p:nvSpPr>
        <p:spPr>
          <a:xfrm>
            <a:off x="7074060" y="5554987"/>
            <a:ext cx="4032304" cy="923330"/>
          </a:xfrm>
          <a:prstGeom prst="rect">
            <a:avLst/>
          </a:prstGeom>
          <a:noFill/>
        </p:spPr>
        <p:txBody>
          <a:bodyPr wrap="square" rtlCol="0">
            <a:spAutoFit/>
          </a:bodyPr>
          <a:lstStyle/>
          <a:p>
            <a:r>
              <a:rPr lang="en-US" altLang="zh-TW" dirty="0">
                <a:solidFill>
                  <a:srgbClr val="FF0000"/>
                </a:solidFill>
              </a:rPr>
              <a:t>Fill in the API’s signature using the LLM’s structured output accordingly, then call the API</a:t>
            </a:r>
            <a:endParaRPr lang="zh-TW" altLang="en-US" dirty="0">
              <a:solidFill>
                <a:srgbClr val="FF0000"/>
              </a:solidFill>
            </a:endParaRPr>
          </a:p>
        </p:txBody>
      </p:sp>
      <p:sp>
        <p:nvSpPr>
          <p:cNvPr id="14" name="右大括弧 13">
            <a:extLst>
              <a:ext uri="{FF2B5EF4-FFF2-40B4-BE49-F238E27FC236}">
                <a16:creationId xmlns:a16="http://schemas.microsoft.com/office/drawing/2014/main" id="{59329782-E23F-4D9F-97AD-96C6602A2030}"/>
              </a:ext>
            </a:extLst>
          </p:cNvPr>
          <p:cNvSpPr/>
          <p:nvPr/>
        </p:nvSpPr>
        <p:spPr bwMode="auto">
          <a:xfrm>
            <a:off x="6668947" y="5396019"/>
            <a:ext cx="381965" cy="1082298"/>
          </a:xfrm>
          <a:prstGeom prst="rightBrac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15" name="文字方塊 14">
            <a:extLst>
              <a:ext uri="{FF2B5EF4-FFF2-40B4-BE49-F238E27FC236}">
                <a16:creationId xmlns:a16="http://schemas.microsoft.com/office/drawing/2014/main" id="{EAC007FC-BB7E-47C8-8CF7-640E499CEE9A}"/>
              </a:ext>
            </a:extLst>
          </p:cNvPr>
          <p:cNvSpPr txBox="1"/>
          <p:nvPr/>
        </p:nvSpPr>
        <p:spPr>
          <a:xfrm>
            <a:off x="3493282" y="1461981"/>
            <a:ext cx="6641984" cy="369332"/>
          </a:xfrm>
          <a:prstGeom prst="rect">
            <a:avLst/>
          </a:prstGeom>
          <a:noFill/>
        </p:spPr>
        <p:txBody>
          <a:bodyPr wrap="square" rtlCol="0">
            <a:spAutoFit/>
          </a:bodyPr>
          <a:lstStyle/>
          <a:p>
            <a:r>
              <a:rPr lang="en-US" altLang="zh-TW" dirty="0">
                <a:solidFill>
                  <a:srgbClr val="FF0000"/>
                </a:solidFill>
              </a:rPr>
              <a:t>temperature_2m is temperature 2 meters above ground</a:t>
            </a:r>
            <a:endParaRPr lang="zh-TW" altLang="en-US" dirty="0">
              <a:solidFill>
                <a:srgbClr val="FF0000"/>
              </a:solidFill>
            </a:endParaRPr>
          </a:p>
        </p:txBody>
      </p:sp>
    </p:spTree>
    <p:extLst>
      <p:ext uri="{BB962C8B-B14F-4D97-AF65-F5344CB8AC3E}">
        <p14:creationId xmlns:p14="http://schemas.microsoft.com/office/powerpoint/2010/main" val="14241731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E8019B-8329-43F1-98E0-F52C5855B09C}"/>
              </a:ext>
            </a:extLst>
          </p:cNvPr>
          <p:cNvSpPr>
            <a:spLocks noGrp="1"/>
          </p:cNvSpPr>
          <p:nvPr>
            <p:ph type="title"/>
          </p:nvPr>
        </p:nvSpPr>
        <p:spPr/>
        <p:txBody>
          <a:bodyPr/>
          <a:lstStyle/>
          <a:p>
            <a:r>
              <a:rPr lang="en-US" altLang="zh-TW" sz="2800" dirty="0"/>
              <a:t>Function Calling Example:</a:t>
            </a:r>
            <a:r>
              <a:rPr lang="zh-TW" altLang="en-US" sz="2800" dirty="0"/>
              <a:t> </a:t>
            </a:r>
            <a:r>
              <a:rPr lang="en-US" altLang="zh-TW" sz="2800" dirty="0"/>
              <a:t>Output (vllm_function_calling.py)</a:t>
            </a:r>
            <a:endParaRPr lang="zh-TW" altLang="en-US" sz="2800" dirty="0"/>
          </a:p>
        </p:txBody>
      </p:sp>
      <p:sp>
        <p:nvSpPr>
          <p:cNvPr id="4" name="投影片編號版面配置區 3">
            <a:extLst>
              <a:ext uri="{FF2B5EF4-FFF2-40B4-BE49-F238E27FC236}">
                <a16:creationId xmlns:a16="http://schemas.microsoft.com/office/drawing/2014/main" id="{295EEFDF-C76B-446B-A32B-480740EB0F67}"/>
              </a:ext>
            </a:extLst>
          </p:cNvPr>
          <p:cNvSpPr>
            <a:spLocks noGrp="1"/>
          </p:cNvSpPr>
          <p:nvPr>
            <p:ph type="sldNum" sz="quarter" idx="10"/>
          </p:nvPr>
        </p:nvSpPr>
        <p:spPr/>
        <p:txBody>
          <a:bodyPr/>
          <a:lstStyle/>
          <a:p>
            <a:pPr>
              <a:defRPr/>
            </a:pPr>
            <a:fld id="{CF627BE3-1269-44D5-A349-82FD5D94EBD8}" type="slidenum">
              <a:rPr lang="en-US" altLang="zh-TW" smtClean="0"/>
              <a:pPr>
                <a:defRPr/>
              </a:pPr>
              <a:t>58</a:t>
            </a:fld>
            <a:endParaRPr lang="en-US" altLang="zh-TW"/>
          </a:p>
        </p:txBody>
      </p:sp>
      <p:pic>
        <p:nvPicPr>
          <p:cNvPr id="9" name="Content Placeholder 8">
            <a:extLst>
              <a:ext uri="{FF2B5EF4-FFF2-40B4-BE49-F238E27FC236}">
                <a16:creationId xmlns:a16="http://schemas.microsoft.com/office/drawing/2014/main" id="{B3D42B61-5A59-669C-DDCA-1FFD53A0C426}"/>
              </a:ext>
            </a:extLst>
          </p:cNvPr>
          <p:cNvPicPr>
            <a:picLocks noGrp="1" noChangeAspect="1"/>
          </p:cNvPicPr>
          <p:nvPr>
            <p:ph idx="1"/>
          </p:nvPr>
        </p:nvPicPr>
        <p:blipFill>
          <a:blip r:embed="rId2"/>
          <a:stretch>
            <a:fillRect/>
          </a:stretch>
        </p:blipFill>
        <p:spPr bwMode="auto">
          <a:xfrm>
            <a:off x="696373" y="2666611"/>
            <a:ext cx="10799253" cy="352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B706D730-9964-554B-D67E-2F81B1088E29}"/>
              </a:ext>
            </a:extLst>
          </p:cNvPr>
          <p:cNvPicPr>
            <a:picLocks noChangeAspect="1"/>
          </p:cNvPicPr>
          <p:nvPr/>
        </p:nvPicPr>
        <p:blipFill>
          <a:blip r:embed="rId3"/>
          <a:srcRect b="63556"/>
          <a:stretch>
            <a:fillRect/>
          </a:stretch>
        </p:blipFill>
        <p:spPr>
          <a:xfrm>
            <a:off x="928037" y="897927"/>
            <a:ext cx="10110099" cy="1704538"/>
          </a:xfrm>
          <a:prstGeom prst="rect">
            <a:avLst/>
          </a:prstGeom>
        </p:spPr>
      </p:pic>
    </p:spTree>
    <p:extLst>
      <p:ext uri="{BB962C8B-B14F-4D97-AF65-F5344CB8AC3E}">
        <p14:creationId xmlns:p14="http://schemas.microsoft.com/office/powerpoint/2010/main" val="33034065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A6CE78-53C1-483B-A562-00FC705F5C55}"/>
              </a:ext>
            </a:extLst>
          </p:cNvPr>
          <p:cNvSpPr>
            <a:spLocks noGrp="1"/>
          </p:cNvSpPr>
          <p:nvPr>
            <p:ph type="title"/>
          </p:nvPr>
        </p:nvSpPr>
        <p:spPr/>
        <p:txBody>
          <a:bodyPr/>
          <a:lstStyle/>
          <a:p>
            <a:r>
              <a:rPr lang="en-US" altLang="zh-TW" dirty="0"/>
              <a:t>Further Reading/Resources</a:t>
            </a:r>
            <a:endParaRPr lang="zh-TW" altLang="en-US" dirty="0"/>
          </a:p>
        </p:txBody>
      </p:sp>
      <p:sp>
        <p:nvSpPr>
          <p:cNvPr id="3" name="內容版面配置區 2">
            <a:extLst>
              <a:ext uri="{FF2B5EF4-FFF2-40B4-BE49-F238E27FC236}">
                <a16:creationId xmlns:a16="http://schemas.microsoft.com/office/drawing/2014/main" id="{CEA50C01-0389-4EA8-BAA7-724101FF7D1C}"/>
              </a:ext>
            </a:extLst>
          </p:cNvPr>
          <p:cNvSpPr>
            <a:spLocks noGrp="1"/>
          </p:cNvSpPr>
          <p:nvPr>
            <p:ph idx="1"/>
          </p:nvPr>
        </p:nvSpPr>
        <p:spPr>
          <a:xfrm>
            <a:off x="609600" y="1439864"/>
            <a:ext cx="7979715" cy="4757737"/>
          </a:xfrm>
        </p:spPr>
        <p:txBody>
          <a:bodyPr/>
          <a:lstStyle/>
          <a:p>
            <a:r>
              <a:rPr lang="en-US" altLang="zh-TW" sz="2000" dirty="0"/>
              <a:t>AMD MI300 server availability: 4/29-5/3</a:t>
            </a:r>
          </a:p>
          <a:p>
            <a:r>
              <a:rPr lang="en-US" altLang="zh-TW" sz="2000" dirty="0">
                <a:hlinkClick r:id="rId3"/>
              </a:rPr>
              <a:t>AMD AI Developer Program</a:t>
            </a:r>
            <a:endParaRPr lang="en-US" altLang="zh-TW" sz="2000" dirty="0"/>
          </a:p>
          <a:p>
            <a:pPr lvl="1"/>
            <a:r>
              <a:rPr lang="en-US" altLang="zh-TW" sz="1600" dirty="0"/>
              <a:t>Complete modules on the website to earn AMD programming certification</a:t>
            </a:r>
          </a:p>
          <a:p>
            <a:pPr lvl="1"/>
            <a:r>
              <a:rPr lang="en-US" altLang="zh-TW" sz="1600" u="sng" dirty="0"/>
              <a:t>Recommended modules related to today’s topics:</a:t>
            </a:r>
          </a:p>
          <a:p>
            <a:pPr lvl="2">
              <a:buFont typeface="+mj-lt"/>
              <a:buAutoNum type="arabicPeriod"/>
            </a:pPr>
            <a:r>
              <a:rPr lang="en-US" altLang="zh-TW" sz="1200" dirty="0"/>
              <a:t>AI Agents 101: Building AI Agents with MCP and Open-Source Inference</a:t>
            </a:r>
          </a:p>
          <a:p>
            <a:pPr lvl="2">
              <a:buFont typeface="+mj-lt"/>
              <a:buAutoNum type="arabicPeriod"/>
            </a:pPr>
            <a:r>
              <a:rPr lang="en-US" altLang="zh-TW" sz="1200" dirty="0"/>
              <a:t>Introduction to RAG</a:t>
            </a:r>
          </a:p>
          <a:p>
            <a:r>
              <a:rPr lang="en-US" altLang="zh-TW" sz="2000" dirty="0"/>
              <a:t>Today’s source code: </a:t>
            </a:r>
            <a:r>
              <a:rPr lang="en-US" altLang="zh-TW" sz="2000" dirty="0">
                <a:hlinkClick r:id="rId4"/>
              </a:rPr>
              <a:t>https://github.com/jonathansimple/intro-to-llms</a:t>
            </a:r>
            <a:endParaRPr lang="en-US" altLang="zh-TW" sz="2000" dirty="0"/>
          </a:p>
          <a:p>
            <a:r>
              <a:rPr lang="en-US" altLang="zh-TW" sz="2000" dirty="0"/>
              <a:t>Function calling progression: AI agents, MCP, </a:t>
            </a:r>
            <a:r>
              <a:rPr lang="en-US" altLang="zh-TW" sz="2000" dirty="0" err="1"/>
              <a:t>Openclaw</a:t>
            </a:r>
            <a:r>
              <a:rPr lang="en-US" altLang="zh-TW" sz="2000" dirty="0"/>
              <a:t>/Claude Code</a:t>
            </a:r>
          </a:p>
        </p:txBody>
      </p:sp>
      <p:sp>
        <p:nvSpPr>
          <p:cNvPr id="4" name="投影片編號版面配置區 3">
            <a:extLst>
              <a:ext uri="{FF2B5EF4-FFF2-40B4-BE49-F238E27FC236}">
                <a16:creationId xmlns:a16="http://schemas.microsoft.com/office/drawing/2014/main" id="{E4DA964E-37B3-4007-84EA-C6C56AF18EE6}"/>
              </a:ext>
            </a:extLst>
          </p:cNvPr>
          <p:cNvSpPr>
            <a:spLocks noGrp="1"/>
          </p:cNvSpPr>
          <p:nvPr>
            <p:ph type="sldNum" sz="quarter" idx="10"/>
          </p:nvPr>
        </p:nvSpPr>
        <p:spPr/>
        <p:txBody>
          <a:bodyPr/>
          <a:lstStyle/>
          <a:p>
            <a:pPr>
              <a:defRPr/>
            </a:pPr>
            <a:fld id="{CF627BE3-1269-44D5-A349-82FD5D94EBD8}" type="slidenum">
              <a:rPr lang="en-US" altLang="zh-TW" smtClean="0"/>
              <a:pPr>
                <a:defRPr/>
              </a:pPr>
              <a:t>59</a:t>
            </a:fld>
            <a:endParaRPr lang="en-US" altLang="zh-TW"/>
          </a:p>
        </p:txBody>
      </p:sp>
      <p:pic>
        <p:nvPicPr>
          <p:cNvPr id="6" name="圖片 5">
            <a:extLst>
              <a:ext uri="{FF2B5EF4-FFF2-40B4-BE49-F238E27FC236}">
                <a16:creationId xmlns:a16="http://schemas.microsoft.com/office/drawing/2014/main" id="{B4A33044-1F25-491B-815E-1D029E0264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60200" y="1111873"/>
            <a:ext cx="3602685" cy="3602685"/>
          </a:xfrm>
          <a:prstGeom prst="rect">
            <a:avLst/>
          </a:prstGeom>
        </p:spPr>
      </p:pic>
      <p:sp>
        <p:nvSpPr>
          <p:cNvPr id="7" name="文字方塊 6">
            <a:extLst>
              <a:ext uri="{FF2B5EF4-FFF2-40B4-BE49-F238E27FC236}">
                <a16:creationId xmlns:a16="http://schemas.microsoft.com/office/drawing/2014/main" id="{2DC748D7-06AF-44ED-B165-BEB34B5B35FE}"/>
              </a:ext>
            </a:extLst>
          </p:cNvPr>
          <p:cNvSpPr txBox="1"/>
          <p:nvPr/>
        </p:nvSpPr>
        <p:spPr>
          <a:xfrm>
            <a:off x="8766313" y="4654699"/>
            <a:ext cx="3190461" cy="646331"/>
          </a:xfrm>
          <a:prstGeom prst="rect">
            <a:avLst/>
          </a:prstGeom>
          <a:noFill/>
        </p:spPr>
        <p:txBody>
          <a:bodyPr wrap="square" rtlCol="0">
            <a:spAutoFit/>
          </a:bodyPr>
          <a:lstStyle/>
          <a:p>
            <a:pPr algn="ctr"/>
            <a:r>
              <a:rPr lang="en-US" altLang="zh-TW" dirty="0"/>
              <a:t>QR code for AMD AI Developer Program</a:t>
            </a:r>
            <a:r>
              <a:rPr lang="zh-TW" altLang="en-US" dirty="0"/>
              <a:t> </a:t>
            </a:r>
            <a:r>
              <a:rPr lang="en-US" altLang="zh-TW" dirty="0"/>
              <a:t>signup</a:t>
            </a:r>
            <a:endParaRPr lang="zh-TW" altLang="en-US" dirty="0"/>
          </a:p>
        </p:txBody>
      </p:sp>
    </p:spTree>
    <p:extLst>
      <p:ext uri="{BB962C8B-B14F-4D97-AF65-F5344CB8AC3E}">
        <p14:creationId xmlns:p14="http://schemas.microsoft.com/office/powerpoint/2010/main" val="30417571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829B59-4B15-4748-A793-EA43C33B5E04}"/>
              </a:ext>
            </a:extLst>
          </p:cNvPr>
          <p:cNvSpPr>
            <a:spLocks noGrp="1"/>
          </p:cNvSpPr>
          <p:nvPr>
            <p:ph type="title"/>
          </p:nvPr>
        </p:nvSpPr>
        <p:spPr>
          <a:xfrm>
            <a:off x="601133" y="128986"/>
            <a:ext cx="11159067" cy="908548"/>
          </a:xfrm>
        </p:spPr>
        <p:txBody>
          <a:bodyPr/>
          <a:lstStyle/>
          <a:p>
            <a:r>
              <a:rPr lang="en-US" altLang="zh-TW" sz="3200" dirty="0" err="1"/>
              <a:t>MLSteam</a:t>
            </a:r>
            <a:r>
              <a:rPr lang="en-US" altLang="zh-TW" sz="3200" dirty="0"/>
              <a:t> Platform Application</a:t>
            </a:r>
            <a:endParaRPr lang="zh-TW" altLang="en-US" sz="3200" dirty="0"/>
          </a:p>
        </p:txBody>
      </p:sp>
      <p:pic>
        <p:nvPicPr>
          <p:cNvPr id="6" name="內容版面配置區 5">
            <a:extLst>
              <a:ext uri="{FF2B5EF4-FFF2-40B4-BE49-F238E27FC236}">
                <a16:creationId xmlns:a16="http://schemas.microsoft.com/office/drawing/2014/main" id="{C374557D-118C-48BC-ACEB-59E80B386E26}"/>
              </a:ext>
            </a:extLst>
          </p:cNvPr>
          <p:cNvPicPr>
            <a:picLocks noGrp="1" noChangeAspect="1"/>
          </p:cNvPicPr>
          <p:nvPr>
            <p:ph idx="1"/>
          </p:nvPr>
        </p:nvPicPr>
        <p:blipFill>
          <a:blip r:embed="rId2"/>
          <a:stretch>
            <a:fillRect/>
          </a:stretch>
        </p:blipFill>
        <p:spPr>
          <a:xfrm>
            <a:off x="1881808" y="741456"/>
            <a:ext cx="8428383" cy="5878420"/>
          </a:xfrm>
        </p:spPr>
      </p:pic>
      <p:sp>
        <p:nvSpPr>
          <p:cNvPr id="4" name="投影片編號版面配置區 3">
            <a:extLst>
              <a:ext uri="{FF2B5EF4-FFF2-40B4-BE49-F238E27FC236}">
                <a16:creationId xmlns:a16="http://schemas.microsoft.com/office/drawing/2014/main" id="{D017C7B0-80DF-4B9C-85E3-86A3D3E83268}"/>
              </a:ext>
            </a:extLst>
          </p:cNvPr>
          <p:cNvSpPr>
            <a:spLocks noGrp="1"/>
          </p:cNvSpPr>
          <p:nvPr>
            <p:ph type="sldNum" sz="quarter" idx="10"/>
          </p:nvPr>
        </p:nvSpPr>
        <p:spPr/>
        <p:txBody>
          <a:bodyPr/>
          <a:lstStyle/>
          <a:p>
            <a:pPr>
              <a:defRPr/>
            </a:pPr>
            <a:fld id="{CF627BE3-1269-44D5-A349-82FD5D94EBD8}" type="slidenum">
              <a:rPr lang="en-US" altLang="zh-TW" smtClean="0"/>
              <a:pPr>
                <a:defRPr/>
              </a:pPr>
              <a:t>60</a:t>
            </a:fld>
            <a:endParaRPr lang="en-US" altLang="zh-TW"/>
          </a:p>
        </p:txBody>
      </p:sp>
      <p:sp>
        <p:nvSpPr>
          <p:cNvPr id="7" name="矩形 6">
            <a:extLst>
              <a:ext uri="{FF2B5EF4-FFF2-40B4-BE49-F238E27FC236}">
                <a16:creationId xmlns:a16="http://schemas.microsoft.com/office/drawing/2014/main" id="{B8BC06A9-8086-45AA-ADF6-211832390952}"/>
              </a:ext>
            </a:extLst>
          </p:cNvPr>
          <p:cNvSpPr/>
          <p:nvPr/>
        </p:nvSpPr>
        <p:spPr bwMode="auto">
          <a:xfrm>
            <a:off x="6937513" y="583260"/>
            <a:ext cx="3518452" cy="103681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Tree>
    <p:extLst>
      <p:ext uri="{BB962C8B-B14F-4D97-AF65-F5344CB8AC3E}">
        <p14:creationId xmlns:p14="http://schemas.microsoft.com/office/powerpoint/2010/main" val="19867159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1D2C0F-62B8-405C-9D84-214A456616F1}"/>
              </a:ext>
            </a:extLst>
          </p:cNvPr>
          <p:cNvSpPr>
            <a:spLocks noGrp="1"/>
          </p:cNvSpPr>
          <p:nvPr>
            <p:ph type="title"/>
          </p:nvPr>
        </p:nvSpPr>
        <p:spPr/>
        <p:txBody>
          <a:bodyPr/>
          <a:lstStyle/>
          <a:p>
            <a:r>
              <a:rPr lang="en-US" altLang="zh-TW" dirty="0"/>
              <a:t>Conclusion</a:t>
            </a:r>
            <a:endParaRPr lang="zh-TW" altLang="en-US" dirty="0"/>
          </a:p>
        </p:txBody>
      </p:sp>
      <p:sp>
        <p:nvSpPr>
          <p:cNvPr id="3" name="內容版面配置區 2">
            <a:extLst>
              <a:ext uri="{FF2B5EF4-FFF2-40B4-BE49-F238E27FC236}">
                <a16:creationId xmlns:a16="http://schemas.microsoft.com/office/drawing/2014/main" id="{AE04E54F-E58A-4657-A927-B7FBB0317547}"/>
              </a:ext>
            </a:extLst>
          </p:cNvPr>
          <p:cNvSpPr>
            <a:spLocks noGrp="1"/>
          </p:cNvSpPr>
          <p:nvPr>
            <p:ph idx="1"/>
          </p:nvPr>
        </p:nvSpPr>
        <p:spPr/>
        <p:txBody>
          <a:bodyPr/>
          <a:lstStyle/>
          <a:p>
            <a:r>
              <a:rPr lang="en-US" altLang="zh-TW" sz="2400" dirty="0"/>
              <a:t>In this course, we discussed how to:</a:t>
            </a:r>
          </a:p>
          <a:p>
            <a:pPr marL="857250" lvl="1" indent="-457200">
              <a:buFont typeface="+mj-lt"/>
              <a:buAutoNum type="arabicPeriod"/>
            </a:pPr>
            <a:r>
              <a:rPr lang="en-US" altLang="zh-TW" sz="2000" dirty="0"/>
              <a:t>Perform function calling using LLMs</a:t>
            </a:r>
          </a:p>
          <a:p>
            <a:pPr marL="857250" lvl="1" indent="-457200">
              <a:buFont typeface="+mj-lt"/>
              <a:buAutoNum type="arabicPeriod"/>
            </a:pPr>
            <a:r>
              <a:rPr lang="en-US" altLang="zh-TW" sz="2000" dirty="0"/>
              <a:t>Improve a LLM's factual accuracy without fine tuning using RAG</a:t>
            </a:r>
          </a:p>
          <a:p>
            <a:pPr marL="857250" lvl="1" indent="-457200">
              <a:buFont typeface="+mj-lt"/>
              <a:buAutoNum type="arabicPeriod"/>
            </a:pPr>
            <a:endParaRPr lang="en-US" altLang="zh-TW" sz="2000" dirty="0"/>
          </a:p>
          <a:p>
            <a:r>
              <a:rPr lang="en-US" altLang="zh-TW" sz="2400" dirty="0"/>
              <a:t>To do this, we covered: </a:t>
            </a:r>
          </a:p>
          <a:p>
            <a:pPr lvl="1"/>
            <a:r>
              <a:rPr lang="en-US" altLang="zh-TW" sz="2000" dirty="0"/>
              <a:t>What are LLMs, tokenizers, and function calling</a:t>
            </a:r>
          </a:p>
          <a:p>
            <a:pPr lvl="1"/>
            <a:r>
              <a:rPr lang="en-US" altLang="zh-TW" sz="2000" dirty="0"/>
              <a:t>How to craft prompts to maximize a LLM's potential</a:t>
            </a:r>
          </a:p>
          <a:p>
            <a:pPr lvl="1"/>
            <a:r>
              <a:rPr lang="en-US" altLang="zh-TW" sz="2000" dirty="0"/>
              <a:t>How to inference using a variety of platforms (transformers, </a:t>
            </a:r>
            <a:r>
              <a:rPr lang="en-US" altLang="zh-TW" sz="2000" dirty="0" err="1"/>
              <a:t>Ollama</a:t>
            </a:r>
            <a:r>
              <a:rPr lang="en-US" altLang="zh-TW" sz="2000" dirty="0"/>
              <a:t>, LM studio)</a:t>
            </a:r>
          </a:p>
          <a:p>
            <a:pPr lvl="1"/>
            <a:r>
              <a:rPr lang="en-US" altLang="zh-TW" sz="2000" dirty="0"/>
              <a:t>How to fine tune a LLM</a:t>
            </a:r>
          </a:p>
        </p:txBody>
      </p:sp>
      <p:sp>
        <p:nvSpPr>
          <p:cNvPr id="4" name="投影片編號版面配置區 3">
            <a:extLst>
              <a:ext uri="{FF2B5EF4-FFF2-40B4-BE49-F238E27FC236}">
                <a16:creationId xmlns:a16="http://schemas.microsoft.com/office/drawing/2014/main" id="{F730A827-81A2-4B07-8E1D-83A12B4EE4D3}"/>
              </a:ext>
            </a:extLst>
          </p:cNvPr>
          <p:cNvSpPr>
            <a:spLocks noGrp="1"/>
          </p:cNvSpPr>
          <p:nvPr>
            <p:ph type="sldNum" sz="quarter" idx="10"/>
          </p:nvPr>
        </p:nvSpPr>
        <p:spPr/>
        <p:txBody>
          <a:bodyPr/>
          <a:lstStyle/>
          <a:p>
            <a:pPr>
              <a:defRPr/>
            </a:pPr>
            <a:fld id="{CF627BE3-1269-44D5-A349-82FD5D94EBD8}" type="slidenum">
              <a:rPr lang="en-US" altLang="zh-TW" smtClean="0"/>
              <a:pPr>
                <a:defRPr/>
              </a:pPr>
              <a:t>61</a:t>
            </a:fld>
            <a:endParaRPr lang="en-US" altLang="zh-TW"/>
          </a:p>
        </p:txBody>
      </p:sp>
    </p:spTree>
    <p:extLst>
      <p:ext uri="{BB962C8B-B14F-4D97-AF65-F5344CB8AC3E}">
        <p14:creationId xmlns:p14="http://schemas.microsoft.com/office/powerpoint/2010/main" val="30532169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9514821" cy="1758697"/>
          </a:xfrm>
        </p:spPr>
        <p:txBody>
          <a:bodyPr/>
          <a:lstStyle/>
          <a:p>
            <a:r>
              <a:rPr lang="en-US" altLang="zh-TW" sz="5400" dirty="0"/>
              <a:t>Preparations for Working With LLMs</a:t>
            </a:r>
            <a:endParaRPr lang="zh-TW" altLang="en-US" sz="5400" dirty="0"/>
          </a:p>
        </p:txBody>
      </p:sp>
    </p:spTree>
    <p:extLst>
      <p:ext uri="{BB962C8B-B14F-4D97-AF65-F5344CB8AC3E}">
        <p14:creationId xmlns:p14="http://schemas.microsoft.com/office/powerpoint/2010/main" val="33944295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7425AA-414D-4BF7-95B1-2DA2B8AF98BE}"/>
              </a:ext>
            </a:extLst>
          </p:cNvPr>
          <p:cNvSpPr>
            <a:spLocks noGrp="1"/>
          </p:cNvSpPr>
          <p:nvPr>
            <p:ph type="title"/>
          </p:nvPr>
        </p:nvSpPr>
        <p:spPr/>
        <p:txBody>
          <a:bodyPr/>
          <a:lstStyle/>
          <a:p>
            <a:r>
              <a:rPr lang="en-US" altLang="zh-TW" dirty="0"/>
              <a:t>Downloading LLMs</a:t>
            </a:r>
            <a:endParaRPr lang="zh-TW" altLang="en-US" dirty="0"/>
          </a:p>
        </p:txBody>
      </p:sp>
      <p:sp>
        <p:nvSpPr>
          <p:cNvPr id="3" name="內容版面配置區 2">
            <a:extLst>
              <a:ext uri="{FF2B5EF4-FFF2-40B4-BE49-F238E27FC236}">
                <a16:creationId xmlns:a16="http://schemas.microsoft.com/office/drawing/2014/main" id="{7B89610F-EEEB-4B53-BC30-629CB93091FD}"/>
              </a:ext>
            </a:extLst>
          </p:cNvPr>
          <p:cNvSpPr>
            <a:spLocks noGrp="1"/>
          </p:cNvSpPr>
          <p:nvPr>
            <p:ph idx="1"/>
          </p:nvPr>
        </p:nvSpPr>
        <p:spPr/>
        <p:txBody>
          <a:bodyPr/>
          <a:lstStyle/>
          <a:p>
            <a:r>
              <a:rPr lang="en-US" altLang="zh-TW" sz="2000" dirty="0"/>
              <a:t>Where to download models: </a:t>
            </a:r>
            <a:r>
              <a:rPr lang="en-US" altLang="zh-TW" sz="2000" dirty="0">
                <a:hlinkClick r:id="rId2"/>
              </a:rPr>
              <a:t>https://huggingface.co/</a:t>
            </a:r>
            <a:endParaRPr lang="en-US" altLang="zh-TW" sz="2000" dirty="0"/>
          </a:p>
          <a:p>
            <a:r>
              <a:rPr lang="en-US" altLang="zh-TW" sz="2000" dirty="0"/>
              <a:t>You can find trending (new) models on the home page</a:t>
            </a:r>
          </a:p>
          <a:p>
            <a:endParaRPr lang="zh-TW" altLang="en-US" sz="2000" dirty="0"/>
          </a:p>
        </p:txBody>
      </p:sp>
      <p:pic>
        <p:nvPicPr>
          <p:cNvPr id="9" name="圖片 8">
            <a:extLst>
              <a:ext uri="{FF2B5EF4-FFF2-40B4-BE49-F238E27FC236}">
                <a16:creationId xmlns:a16="http://schemas.microsoft.com/office/drawing/2014/main" id="{D2C29D53-29FE-426A-8903-C24AB782A6AC}"/>
              </a:ext>
            </a:extLst>
          </p:cNvPr>
          <p:cNvPicPr>
            <a:picLocks noChangeAspect="1"/>
          </p:cNvPicPr>
          <p:nvPr/>
        </p:nvPicPr>
        <p:blipFill>
          <a:blip r:embed="rId3"/>
          <a:stretch>
            <a:fillRect/>
          </a:stretch>
        </p:blipFill>
        <p:spPr>
          <a:xfrm>
            <a:off x="526725" y="2263606"/>
            <a:ext cx="7336070" cy="3327623"/>
          </a:xfrm>
          <a:prstGeom prst="rect">
            <a:avLst/>
          </a:prstGeom>
        </p:spPr>
      </p:pic>
      <p:sp>
        <p:nvSpPr>
          <p:cNvPr id="4" name="投影片編號版面配置區 3">
            <a:extLst>
              <a:ext uri="{FF2B5EF4-FFF2-40B4-BE49-F238E27FC236}">
                <a16:creationId xmlns:a16="http://schemas.microsoft.com/office/drawing/2014/main" id="{1A9313BE-FE41-4E73-8C4A-A446E7B086BD}"/>
              </a:ext>
            </a:extLst>
          </p:cNvPr>
          <p:cNvSpPr>
            <a:spLocks noGrp="1"/>
          </p:cNvSpPr>
          <p:nvPr>
            <p:ph type="sldNum" sz="quarter" idx="10"/>
          </p:nvPr>
        </p:nvSpPr>
        <p:spPr/>
        <p:txBody>
          <a:bodyPr/>
          <a:lstStyle/>
          <a:p>
            <a:pPr>
              <a:defRPr/>
            </a:pPr>
            <a:fld id="{CF627BE3-1269-44D5-A349-82FD5D94EBD8}" type="slidenum">
              <a:rPr lang="en-US" altLang="zh-TW" smtClean="0"/>
              <a:pPr>
                <a:defRPr/>
              </a:pPr>
              <a:t>63</a:t>
            </a:fld>
            <a:endParaRPr lang="en-US" altLang="zh-TW"/>
          </a:p>
        </p:txBody>
      </p:sp>
      <p:pic>
        <p:nvPicPr>
          <p:cNvPr id="7" name="Picture 6">
            <a:extLst>
              <a:ext uri="{FF2B5EF4-FFF2-40B4-BE49-F238E27FC236}">
                <a16:creationId xmlns:a16="http://schemas.microsoft.com/office/drawing/2014/main" id="{08641ADF-BB03-8A79-CB06-314148D24059}"/>
              </a:ext>
            </a:extLst>
          </p:cNvPr>
          <p:cNvPicPr>
            <a:picLocks noChangeAspect="1"/>
          </p:cNvPicPr>
          <p:nvPr/>
        </p:nvPicPr>
        <p:blipFill>
          <a:blip r:embed="rId4"/>
          <a:stretch>
            <a:fillRect/>
          </a:stretch>
        </p:blipFill>
        <p:spPr>
          <a:xfrm>
            <a:off x="8073037" y="702866"/>
            <a:ext cx="4010054" cy="5229263"/>
          </a:xfrm>
          <a:prstGeom prst="rect">
            <a:avLst/>
          </a:prstGeom>
        </p:spPr>
      </p:pic>
      <p:sp>
        <p:nvSpPr>
          <p:cNvPr id="8" name="TextBox 7">
            <a:extLst>
              <a:ext uri="{FF2B5EF4-FFF2-40B4-BE49-F238E27FC236}">
                <a16:creationId xmlns:a16="http://schemas.microsoft.com/office/drawing/2014/main" id="{CFB60122-6C69-88DB-F020-6CD478E3DC86}"/>
              </a:ext>
            </a:extLst>
          </p:cNvPr>
          <p:cNvSpPr txBox="1"/>
          <p:nvPr/>
        </p:nvSpPr>
        <p:spPr>
          <a:xfrm>
            <a:off x="1110293" y="5854740"/>
            <a:ext cx="6017342" cy="369332"/>
          </a:xfrm>
          <a:prstGeom prst="rect">
            <a:avLst/>
          </a:prstGeom>
          <a:noFill/>
        </p:spPr>
        <p:txBody>
          <a:bodyPr wrap="square" rtlCol="0">
            <a:spAutoFit/>
          </a:bodyPr>
          <a:lstStyle/>
          <a:p>
            <a:pPr algn="ctr"/>
            <a:r>
              <a:rPr lang="en-US" dirty="0"/>
              <a:t>Example of what a model’s </a:t>
            </a:r>
            <a:r>
              <a:rPr lang="en-US" dirty="0" err="1"/>
              <a:t>Huggingface</a:t>
            </a:r>
            <a:r>
              <a:rPr lang="en-US" dirty="0"/>
              <a:t> page looks like</a:t>
            </a:r>
          </a:p>
        </p:txBody>
      </p:sp>
    </p:spTree>
    <p:extLst>
      <p:ext uri="{BB962C8B-B14F-4D97-AF65-F5344CB8AC3E}">
        <p14:creationId xmlns:p14="http://schemas.microsoft.com/office/powerpoint/2010/main" val="22074431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7BC434-6B0A-417C-9AE9-B7C68CC0B114}"/>
              </a:ext>
            </a:extLst>
          </p:cNvPr>
          <p:cNvSpPr>
            <a:spLocks noGrp="1"/>
          </p:cNvSpPr>
          <p:nvPr>
            <p:ph type="title"/>
          </p:nvPr>
        </p:nvSpPr>
        <p:spPr/>
        <p:txBody>
          <a:bodyPr/>
          <a:lstStyle/>
          <a:p>
            <a:r>
              <a:rPr lang="en-US" altLang="zh-TW" dirty="0"/>
              <a:t>Downloading LLMs (1) – Manual Download</a:t>
            </a:r>
            <a:endParaRPr lang="zh-TW" altLang="en-US" dirty="0"/>
          </a:p>
        </p:txBody>
      </p:sp>
      <p:pic>
        <p:nvPicPr>
          <p:cNvPr id="10" name="內容版面配置區 9">
            <a:extLst>
              <a:ext uri="{FF2B5EF4-FFF2-40B4-BE49-F238E27FC236}">
                <a16:creationId xmlns:a16="http://schemas.microsoft.com/office/drawing/2014/main" id="{A86DE2AD-918A-41E2-8F20-8EFE02626671}"/>
              </a:ext>
            </a:extLst>
          </p:cNvPr>
          <p:cNvPicPr>
            <a:picLocks noGrp="1" noChangeAspect="1"/>
          </p:cNvPicPr>
          <p:nvPr>
            <p:ph idx="1"/>
          </p:nvPr>
        </p:nvPicPr>
        <p:blipFill>
          <a:blip r:embed="rId2"/>
          <a:stretch>
            <a:fillRect/>
          </a:stretch>
        </p:blipFill>
        <p:spPr>
          <a:xfrm>
            <a:off x="830448" y="1439863"/>
            <a:ext cx="10710492" cy="4757737"/>
          </a:xfrm>
        </p:spPr>
      </p:pic>
      <p:sp>
        <p:nvSpPr>
          <p:cNvPr id="4" name="投影片編號版面配置區 3">
            <a:extLst>
              <a:ext uri="{FF2B5EF4-FFF2-40B4-BE49-F238E27FC236}">
                <a16:creationId xmlns:a16="http://schemas.microsoft.com/office/drawing/2014/main" id="{F8F07287-00AC-4761-9EB9-22DDBD3AD6CF}"/>
              </a:ext>
            </a:extLst>
          </p:cNvPr>
          <p:cNvSpPr>
            <a:spLocks noGrp="1"/>
          </p:cNvSpPr>
          <p:nvPr>
            <p:ph type="sldNum" sz="quarter" idx="10"/>
          </p:nvPr>
        </p:nvSpPr>
        <p:spPr/>
        <p:txBody>
          <a:bodyPr/>
          <a:lstStyle/>
          <a:p>
            <a:pPr>
              <a:defRPr/>
            </a:pPr>
            <a:fld id="{CF627BE3-1269-44D5-A349-82FD5D94EBD8}" type="slidenum">
              <a:rPr lang="en-US" altLang="zh-TW" smtClean="0"/>
              <a:pPr>
                <a:defRPr/>
              </a:pPr>
              <a:t>64</a:t>
            </a:fld>
            <a:endParaRPr lang="en-US" altLang="zh-TW"/>
          </a:p>
        </p:txBody>
      </p:sp>
      <p:sp>
        <p:nvSpPr>
          <p:cNvPr id="7" name="矩形 6">
            <a:extLst>
              <a:ext uri="{FF2B5EF4-FFF2-40B4-BE49-F238E27FC236}">
                <a16:creationId xmlns:a16="http://schemas.microsoft.com/office/drawing/2014/main" id="{E8549323-4570-4137-9A16-B638754FC669}"/>
              </a:ext>
            </a:extLst>
          </p:cNvPr>
          <p:cNvSpPr/>
          <p:nvPr/>
        </p:nvSpPr>
        <p:spPr bwMode="auto">
          <a:xfrm>
            <a:off x="1745065" y="2768581"/>
            <a:ext cx="1349828" cy="370114"/>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Tree>
    <p:extLst>
      <p:ext uri="{BB962C8B-B14F-4D97-AF65-F5344CB8AC3E}">
        <p14:creationId xmlns:p14="http://schemas.microsoft.com/office/powerpoint/2010/main" val="33266064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內容版面配置區 9">
            <a:extLst>
              <a:ext uri="{FF2B5EF4-FFF2-40B4-BE49-F238E27FC236}">
                <a16:creationId xmlns:a16="http://schemas.microsoft.com/office/drawing/2014/main" id="{A7A72C99-FEF7-4BFD-A84A-BA7B1FBD197B}"/>
              </a:ext>
            </a:extLst>
          </p:cNvPr>
          <p:cNvPicPr>
            <a:picLocks noChangeAspect="1"/>
          </p:cNvPicPr>
          <p:nvPr/>
        </p:nvPicPr>
        <p:blipFill rotWithShape="1">
          <a:blip r:embed="rId2"/>
          <a:srcRect b="51900"/>
          <a:stretch/>
        </p:blipFill>
        <p:spPr bwMode="auto">
          <a:xfrm>
            <a:off x="1256371" y="893255"/>
            <a:ext cx="10710492" cy="2288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a:extLst>
              <a:ext uri="{FF2B5EF4-FFF2-40B4-BE49-F238E27FC236}">
                <a16:creationId xmlns:a16="http://schemas.microsoft.com/office/drawing/2014/main" id="{297BC434-6B0A-417C-9AE9-B7C68CC0B114}"/>
              </a:ext>
            </a:extLst>
          </p:cNvPr>
          <p:cNvSpPr>
            <a:spLocks noGrp="1"/>
          </p:cNvSpPr>
          <p:nvPr>
            <p:ph type="title"/>
          </p:nvPr>
        </p:nvSpPr>
        <p:spPr/>
        <p:txBody>
          <a:bodyPr/>
          <a:lstStyle/>
          <a:p>
            <a:r>
              <a:rPr lang="en-US" altLang="zh-TW" sz="3200" dirty="0"/>
              <a:t>Downloading LLMs (2) - Git</a:t>
            </a:r>
            <a:endParaRPr lang="zh-TW" altLang="en-US" sz="3200" dirty="0"/>
          </a:p>
        </p:txBody>
      </p:sp>
      <p:pic>
        <p:nvPicPr>
          <p:cNvPr id="10" name="內容版面配置區 9">
            <a:extLst>
              <a:ext uri="{FF2B5EF4-FFF2-40B4-BE49-F238E27FC236}">
                <a16:creationId xmlns:a16="http://schemas.microsoft.com/office/drawing/2014/main" id="{76EFB183-97D3-4800-B999-BA38CD998238}"/>
              </a:ext>
            </a:extLst>
          </p:cNvPr>
          <p:cNvPicPr>
            <a:picLocks noGrp="1" noChangeAspect="1"/>
          </p:cNvPicPr>
          <p:nvPr>
            <p:ph idx="1"/>
          </p:nvPr>
        </p:nvPicPr>
        <p:blipFill rotWithShape="1">
          <a:blip r:embed="rId3"/>
          <a:srcRect b="28454"/>
          <a:stretch/>
        </p:blipFill>
        <p:spPr>
          <a:xfrm>
            <a:off x="843813" y="3309264"/>
            <a:ext cx="6614733" cy="2900618"/>
          </a:xfrm>
        </p:spPr>
      </p:pic>
      <p:sp>
        <p:nvSpPr>
          <p:cNvPr id="4" name="投影片編號版面配置區 3">
            <a:extLst>
              <a:ext uri="{FF2B5EF4-FFF2-40B4-BE49-F238E27FC236}">
                <a16:creationId xmlns:a16="http://schemas.microsoft.com/office/drawing/2014/main" id="{F8F07287-00AC-4761-9EB9-22DDBD3AD6CF}"/>
              </a:ext>
            </a:extLst>
          </p:cNvPr>
          <p:cNvSpPr>
            <a:spLocks noGrp="1"/>
          </p:cNvSpPr>
          <p:nvPr>
            <p:ph type="sldNum" sz="quarter" idx="10"/>
          </p:nvPr>
        </p:nvSpPr>
        <p:spPr/>
        <p:txBody>
          <a:bodyPr/>
          <a:lstStyle/>
          <a:p>
            <a:pPr>
              <a:defRPr/>
            </a:pPr>
            <a:fld id="{CF627BE3-1269-44D5-A349-82FD5D94EBD8}" type="slidenum">
              <a:rPr lang="en-US" altLang="zh-TW" smtClean="0"/>
              <a:pPr>
                <a:defRPr/>
              </a:pPr>
              <a:t>65</a:t>
            </a:fld>
            <a:endParaRPr lang="en-US" altLang="zh-TW"/>
          </a:p>
        </p:txBody>
      </p:sp>
      <p:sp>
        <p:nvSpPr>
          <p:cNvPr id="5" name="矩形 6">
            <a:extLst>
              <a:ext uri="{FF2B5EF4-FFF2-40B4-BE49-F238E27FC236}">
                <a16:creationId xmlns:a16="http://schemas.microsoft.com/office/drawing/2014/main" id="{BC9F2C15-86AC-3E8E-4693-76C66086B80D}"/>
              </a:ext>
            </a:extLst>
          </p:cNvPr>
          <p:cNvSpPr/>
          <p:nvPr/>
        </p:nvSpPr>
        <p:spPr bwMode="auto">
          <a:xfrm>
            <a:off x="9154724" y="2283788"/>
            <a:ext cx="190465" cy="193176"/>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cxnSp>
        <p:nvCxnSpPr>
          <p:cNvPr id="7" name="Straight Arrow Connector 6">
            <a:extLst>
              <a:ext uri="{FF2B5EF4-FFF2-40B4-BE49-F238E27FC236}">
                <a16:creationId xmlns:a16="http://schemas.microsoft.com/office/drawing/2014/main" id="{6C6DC4FF-9B31-91CC-405E-7375D08170D9}"/>
              </a:ext>
            </a:extLst>
          </p:cNvPr>
          <p:cNvCxnSpPr/>
          <p:nvPr/>
        </p:nvCxnSpPr>
        <p:spPr bwMode="auto">
          <a:xfrm flipH="1">
            <a:off x="6096000" y="2375326"/>
            <a:ext cx="3067664" cy="1740309"/>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1161688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62B46065-0733-419F-82D1-1BE0B4D894A9}"/>
              </a:ext>
            </a:extLst>
          </p:cNvPr>
          <p:cNvPicPr>
            <a:picLocks noChangeAspect="1"/>
          </p:cNvPicPr>
          <p:nvPr/>
        </p:nvPicPr>
        <p:blipFill>
          <a:blip r:embed="rId2"/>
          <a:stretch>
            <a:fillRect/>
          </a:stretch>
        </p:blipFill>
        <p:spPr>
          <a:xfrm>
            <a:off x="0" y="1206499"/>
            <a:ext cx="12192000" cy="1983266"/>
          </a:xfrm>
          <a:prstGeom prst="rect">
            <a:avLst/>
          </a:prstGeom>
        </p:spPr>
      </p:pic>
      <p:sp>
        <p:nvSpPr>
          <p:cNvPr id="2" name="標題 1">
            <a:extLst>
              <a:ext uri="{FF2B5EF4-FFF2-40B4-BE49-F238E27FC236}">
                <a16:creationId xmlns:a16="http://schemas.microsoft.com/office/drawing/2014/main" id="{1BDEB08D-E566-42FB-8D49-CBA1A11B8572}"/>
              </a:ext>
            </a:extLst>
          </p:cNvPr>
          <p:cNvSpPr>
            <a:spLocks noGrp="1"/>
          </p:cNvSpPr>
          <p:nvPr>
            <p:ph type="title"/>
          </p:nvPr>
        </p:nvSpPr>
        <p:spPr/>
        <p:txBody>
          <a:bodyPr/>
          <a:lstStyle/>
          <a:p>
            <a:r>
              <a:rPr lang="en-US" altLang="zh-TW" sz="3600" dirty="0"/>
              <a:t>Downloading LLMs (3) – </a:t>
            </a:r>
            <a:r>
              <a:rPr lang="en-US" altLang="zh-TW" sz="3600" dirty="0" err="1"/>
              <a:t>Huggingface</a:t>
            </a:r>
            <a:r>
              <a:rPr lang="en-US" altLang="zh-TW" sz="3600" dirty="0"/>
              <a:t>/Transformers </a:t>
            </a:r>
            <a:endParaRPr lang="zh-TW" altLang="en-US" sz="3600" dirty="0"/>
          </a:p>
        </p:txBody>
      </p:sp>
      <p:sp>
        <p:nvSpPr>
          <p:cNvPr id="3" name="內容版面配置區 2">
            <a:extLst>
              <a:ext uri="{FF2B5EF4-FFF2-40B4-BE49-F238E27FC236}">
                <a16:creationId xmlns:a16="http://schemas.microsoft.com/office/drawing/2014/main" id="{A09ABBC9-3391-4CE6-874C-D58364E259F9}"/>
              </a:ext>
            </a:extLst>
          </p:cNvPr>
          <p:cNvSpPr>
            <a:spLocks noGrp="1"/>
          </p:cNvSpPr>
          <p:nvPr>
            <p:ph idx="1"/>
          </p:nvPr>
        </p:nvSpPr>
        <p:spPr>
          <a:xfrm>
            <a:off x="108857" y="3609757"/>
            <a:ext cx="11898085" cy="2352641"/>
          </a:xfrm>
        </p:spPr>
        <p:txBody>
          <a:bodyPr/>
          <a:lstStyle/>
          <a:p>
            <a:pPr marL="0" indent="0">
              <a:buNone/>
            </a:pPr>
            <a:r>
              <a:rPr lang="en-US" altLang="zh-TW" sz="1600" b="1" dirty="0"/>
              <a:t>Running models hosted on </a:t>
            </a:r>
            <a:r>
              <a:rPr lang="en-US" altLang="zh-TW" sz="1600" b="1" dirty="0" err="1"/>
              <a:t>Huggingface</a:t>
            </a:r>
            <a:r>
              <a:rPr lang="en-US" altLang="zh-TW" sz="1600" dirty="0"/>
              <a:t> (this will save the models inside the </a:t>
            </a:r>
            <a:r>
              <a:rPr lang="en-US" altLang="zh-TW" sz="1600" dirty="0" err="1"/>
              <a:t>Huggingface</a:t>
            </a:r>
            <a:r>
              <a:rPr lang="en-US" altLang="zh-TW" sz="1600" dirty="0"/>
              <a:t> library folder)</a:t>
            </a:r>
            <a:r>
              <a:rPr lang="en-US" altLang="zh-TW" sz="1600" b="1" dirty="0"/>
              <a:t>:</a:t>
            </a:r>
          </a:p>
          <a:p>
            <a:pPr marL="0" indent="0">
              <a:buNone/>
            </a:pPr>
            <a:r>
              <a:rPr lang="en-US" altLang="zh-TW" sz="1600" dirty="0"/>
              <a:t>tokenizer = </a:t>
            </a:r>
            <a:r>
              <a:rPr lang="en-US" altLang="zh-TW" sz="1600" dirty="0" err="1"/>
              <a:t>AutoTokenizer.from_pretrained</a:t>
            </a:r>
            <a:r>
              <a:rPr lang="en-US" altLang="zh-TW" sz="1600" dirty="0"/>
              <a:t>(</a:t>
            </a:r>
            <a:r>
              <a:rPr lang="en-US" altLang="zh-TW" sz="1600" b="1" dirty="0">
                <a:solidFill>
                  <a:srgbClr val="FF0000"/>
                </a:solidFill>
              </a:rPr>
              <a:t>"google/gemma-2-2b-it"</a:t>
            </a:r>
            <a:r>
              <a:rPr lang="en-US" altLang="zh-TW" sz="1600" dirty="0"/>
              <a:t>, </a:t>
            </a:r>
            <a:r>
              <a:rPr lang="en-US" altLang="zh-TW" sz="1600" dirty="0" err="1"/>
              <a:t>trust_remote_code</a:t>
            </a:r>
            <a:r>
              <a:rPr lang="en-US" altLang="zh-TW" sz="1600" dirty="0"/>
              <a:t>=True)</a:t>
            </a:r>
          </a:p>
          <a:p>
            <a:pPr marL="0" indent="0">
              <a:buNone/>
            </a:pPr>
            <a:r>
              <a:rPr lang="en-US" altLang="zh-TW" sz="1600" dirty="0"/>
              <a:t>model = </a:t>
            </a:r>
            <a:r>
              <a:rPr lang="en-US" altLang="zh-TW" sz="1600" dirty="0" err="1"/>
              <a:t>AutoModelForCausalLM.from_pretrained</a:t>
            </a:r>
            <a:r>
              <a:rPr lang="en-US" altLang="zh-TW" sz="1600" dirty="0"/>
              <a:t>(</a:t>
            </a:r>
            <a:r>
              <a:rPr lang="en-US" altLang="zh-TW" sz="1600" b="1" dirty="0">
                <a:solidFill>
                  <a:srgbClr val="FF0000"/>
                </a:solidFill>
              </a:rPr>
              <a:t>"google/gemma-2-2b-it"</a:t>
            </a:r>
            <a:r>
              <a:rPr lang="en-US" altLang="zh-TW" sz="1600" dirty="0"/>
              <a:t>, </a:t>
            </a:r>
            <a:r>
              <a:rPr lang="en-US" altLang="zh-TW" sz="1600" dirty="0" err="1"/>
              <a:t>trust_remote_code</a:t>
            </a:r>
            <a:r>
              <a:rPr lang="en-US" altLang="zh-TW" sz="1600" dirty="0"/>
              <a:t>=True, </a:t>
            </a:r>
            <a:r>
              <a:rPr lang="en-US" altLang="zh-TW" sz="1600" dirty="0" err="1"/>
              <a:t>device_map</a:t>
            </a:r>
            <a:r>
              <a:rPr lang="en-US" altLang="zh-TW" sz="1600" dirty="0"/>
              <a:t>=0)</a:t>
            </a:r>
          </a:p>
          <a:p>
            <a:pPr marL="0" indent="0">
              <a:buNone/>
            </a:pPr>
            <a:endParaRPr lang="en-US" altLang="zh-TW" sz="1600" b="1" dirty="0"/>
          </a:p>
          <a:p>
            <a:pPr marL="0" indent="0">
              <a:buNone/>
            </a:pPr>
            <a:r>
              <a:rPr lang="en-US" altLang="zh-TW" sz="1600" b="1" dirty="0"/>
              <a:t>Running local/downloaded model:</a:t>
            </a:r>
          </a:p>
          <a:p>
            <a:pPr marL="0" indent="0">
              <a:buNone/>
            </a:pPr>
            <a:r>
              <a:rPr lang="en-US" altLang="zh-TW" sz="1600" dirty="0"/>
              <a:t>tokenizer = </a:t>
            </a:r>
            <a:r>
              <a:rPr lang="en-US" altLang="zh-TW" sz="1600" dirty="0" err="1"/>
              <a:t>AutoTokenizer.from_pretrained</a:t>
            </a:r>
            <a:r>
              <a:rPr lang="en-US" altLang="zh-TW" sz="1600" dirty="0"/>
              <a:t>(</a:t>
            </a:r>
            <a:r>
              <a:rPr lang="en-US" altLang="zh-TW" sz="1600" b="1" dirty="0">
                <a:solidFill>
                  <a:srgbClr val="FF0000"/>
                </a:solidFill>
              </a:rPr>
              <a:t>"/home/</a:t>
            </a:r>
            <a:r>
              <a:rPr lang="en-US" altLang="zh-TW" sz="1600" b="1" dirty="0" err="1">
                <a:solidFill>
                  <a:srgbClr val="FF0000"/>
                </a:solidFill>
              </a:rPr>
              <a:t>sean</a:t>
            </a:r>
            <a:r>
              <a:rPr lang="en-US" altLang="zh-TW" sz="1600" b="1" dirty="0">
                <a:solidFill>
                  <a:srgbClr val="FF0000"/>
                </a:solidFill>
              </a:rPr>
              <a:t>/Desktop/</a:t>
            </a:r>
            <a:r>
              <a:rPr lang="en-US" altLang="zh-TW" sz="1600" b="1" dirty="0" err="1">
                <a:solidFill>
                  <a:srgbClr val="FF0000"/>
                </a:solidFill>
              </a:rPr>
              <a:t>qlora</a:t>
            </a:r>
            <a:r>
              <a:rPr lang="en-US" altLang="zh-TW" sz="1600" b="1" dirty="0">
                <a:solidFill>
                  <a:srgbClr val="FF0000"/>
                </a:solidFill>
              </a:rPr>
              <a:t>-main/gemma2-2b-it"</a:t>
            </a:r>
            <a:r>
              <a:rPr lang="en-US" altLang="zh-TW" sz="1600" dirty="0"/>
              <a:t>, </a:t>
            </a:r>
            <a:r>
              <a:rPr lang="en-US" altLang="zh-TW" sz="1600" dirty="0" err="1"/>
              <a:t>trust_remote_code</a:t>
            </a:r>
            <a:r>
              <a:rPr lang="en-US" altLang="zh-TW" sz="1600" dirty="0"/>
              <a:t>=True)</a:t>
            </a:r>
          </a:p>
          <a:p>
            <a:pPr marL="0" indent="0">
              <a:buNone/>
            </a:pPr>
            <a:r>
              <a:rPr lang="en-US" altLang="zh-TW" sz="1600" dirty="0"/>
              <a:t>model = </a:t>
            </a:r>
            <a:r>
              <a:rPr lang="en-US" altLang="zh-TW" sz="1600" dirty="0" err="1"/>
              <a:t>AutoModelForCausalLM.from_pretrained</a:t>
            </a:r>
            <a:r>
              <a:rPr lang="en-US" altLang="zh-TW" sz="1600" dirty="0"/>
              <a:t>(</a:t>
            </a:r>
            <a:r>
              <a:rPr lang="en-US" altLang="zh-TW" sz="1600" b="1" dirty="0">
                <a:solidFill>
                  <a:srgbClr val="FF0000"/>
                </a:solidFill>
              </a:rPr>
              <a:t>"/home/</a:t>
            </a:r>
            <a:r>
              <a:rPr lang="en-US" altLang="zh-TW" sz="1600" b="1" dirty="0" err="1">
                <a:solidFill>
                  <a:srgbClr val="FF0000"/>
                </a:solidFill>
              </a:rPr>
              <a:t>sean</a:t>
            </a:r>
            <a:r>
              <a:rPr lang="en-US" altLang="zh-TW" sz="1600" b="1" dirty="0">
                <a:solidFill>
                  <a:srgbClr val="FF0000"/>
                </a:solidFill>
              </a:rPr>
              <a:t>/Desktop/</a:t>
            </a:r>
            <a:r>
              <a:rPr lang="en-US" altLang="zh-TW" sz="1600" b="1" dirty="0" err="1">
                <a:solidFill>
                  <a:srgbClr val="FF0000"/>
                </a:solidFill>
              </a:rPr>
              <a:t>qlora</a:t>
            </a:r>
            <a:r>
              <a:rPr lang="en-US" altLang="zh-TW" sz="1600" b="1" dirty="0">
                <a:solidFill>
                  <a:srgbClr val="FF0000"/>
                </a:solidFill>
              </a:rPr>
              <a:t>-main/gemma2-2b-it"</a:t>
            </a:r>
            <a:r>
              <a:rPr lang="en-US" altLang="zh-TW" sz="1600" dirty="0"/>
              <a:t>, </a:t>
            </a:r>
            <a:r>
              <a:rPr lang="en-US" altLang="zh-TW" sz="1600" dirty="0" err="1"/>
              <a:t>trust_remote_code</a:t>
            </a:r>
            <a:r>
              <a:rPr lang="en-US" altLang="zh-TW" sz="1600" dirty="0"/>
              <a:t>=True, </a:t>
            </a:r>
            <a:r>
              <a:rPr lang="en-US" altLang="zh-TW" sz="1600" dirty="0" err="1"/>
              <a:t>device_map</a:t>
            </a:r>
            <a:r>
              <a:rPr lang="en-US" altLang="zh-TW" sz="1600" dirty="0"/>
              <a:t>=0)</a:t>
            </a:r>
          </a:p>
        </p:txBody>
      </p:sp>
      <p:sp>
        <p:nvSpPr>
          <p:cNvPr id="4" name="投影片編號版面配置區 3">
            <a:extLst>
              <a:ext uri="{FF2B5EF4-FFF2-40B4-BE49-F238E27FC236}">
                <a16:creationId xmlns:a16="http://schemas.microsoft.com/office/drawing/2014/main" id="{E887E7ED-AF74-4A2C-9CD4-F12703DA8C37}"/>
              </a:ext>
            </a:extLst>
          </p:cNvPr>
          <p:cNvSpPr>
            <a:spLocks noGrp="1"/>
          </p:cNvSpPr>
          <p:nvPr>
            <p:ph type="sldNum" sz="quarter" idx="10"/>
          </p:nvPr>
        </p:nvSpPr>
        <p:spPr/>
        <p:txBody>
          <a:bodyPr/>
          <a:lstStyle/>
          <a:p>
            <a:pPr>
              <a:defRPr/>
            </a:pPr>
            <a:fld id="{CF627BE3-1269-44D5-A349-82FD5D94EBD8}" type="slidenum">
              <a:rPr lang="en-US" altLang="zh-TW" smtClean="0"/>
              <a:pPr>
                <a:defRPr/>
              </a:pPr>
              <a:t>66</a:t>
            </a:fld>
            <a:endParaRPr lang="en-US" altLang="zh-TW"/>
          </a:p>
        </p:txBody>
      </p:sp>
      <p:sp>
        <p:nvSpPr>
          <p:cNvPr id="7" name="矩形 6">
            <a:extLst>
              <a:ext uri="{FF2B5EF4-FFF2-40B4-BE49-F238E27FC236}">
                <a16:creationId xmlns:a16="http://schemas.microsoft.com/office/drawing/2014/main" id="{EE3D1B72-C154-48C4-AB01-F5ACD448C5F6}"/>
              </a:ext>
            </a:extLst>
          </p:cNvPr>
          <p:cNvSpPr/>
          <p:nvPr/>
        </p:nvSpPr>
        <p:spPr bwMode="auto">
          <a:xfrm>
            <a:off x="2057400" y="1379760"/>
            <a:ext cx="228600" cy="261257"/>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9" name="文字方塊 8">
            <a:extLst>
              <a:ext uri="{FF2B5EF4-FFF2-40B4-BE49-F238E27FC236}">
                <a16:creationId xmlns:a16="http://schemas.microsoft.com/office/drawing/2014/main" id="{F63CF985-9748-4561-B5AC-12ADD6DC9748}"/>
              </a:ext>
            </a:extLst>
          </p:cNvPr>
          <p:cNvSpPr txBox="1"/>
          <p:nvPr/>
        </p:nvSpPr>
        <p:spPr>
          <a:xfrm>
            <a:off x="3973287" y="1930381"/>
            <a:ext cx="6727370" cy="369332"/>
          </a:xfrm>
          <a:prstGeom prst="rect">
            <a:avLst/>
          </a:prstGeom>
          <a:noFill/>
        </p:spPr>
        <p:txBody>
          <a:bodyPr wrap="square">
            <a:spAutoFit/>
          </a:bodyPr>
          <a:lstStyle/>
          <a:p>
            <a:r>
              <a:rPr lang="en-US" altLang="zh-TW" dirty="0"/>
              <a:t>google/gemma-2-2b-it</a:t>
            </a:r>
            <a:endParaRPr lang="zh-TW" altLang="en-US" dirty="0"/>
          </a:p>
        </p:txBody>
      </p:sp>
      <p:cxnSp>
        <p:nvCxnSpPr>
          <p:cNvPr id="11" name="接點: 肘形 10">
            <a:extLst>
              <a:ext uri="{FF2B5EF4-FFF2-40B4-BE49-F238E27FC236}">
                <a16:creationId xmlns:a16="http://schemas.microsoft.com/office/drawing/2014/main" id="{A5954C03-068E-4AB0-A515-E288D3E9638A}"/>
              </a:ext>
            </a:extLst>
          </p:cNvPr>
          <p:cNvCxnSpPr>
            <a:stCxn id="7" idx="3"/>
            <a:endCxn id="9" idx="1"/>
          </p:cNvCxnSpPr>
          <p:nvPr/>
        </p:nvCxnSpPr>
        <p:spPr bwMode="auto">
          <a:xfrm>
            <a:off x="2286000" y="1510389"/>
            <a:ext cx="1687287" cy="604658"/>
          </a:xfrm>
          <a:prstGeom prst="bentConnector3">
            <a:avLst/>
          </a:prstGeom>
          <a:solidFill>
            <a:schemeClr val="accent1"/>
          </a:solidFill>
          <a:ln w="28575" cap="flat" cmpd="sng" algn="ctr">
            <a:solidFill>
              <a:srgbClr val="FF0000"/>
            </a:solidFill>
            <a:prstDash val="solid"/>
            <a:round/>
            <a:headEnd type="none" w="med" len="med"/>
            <a:tailEnd type="triangle"/>
          </a:ln>
          <a:effectLst/>
        </p:spPr>
      </p:cxnSp>
      <p:cxnSp>
        <p:nvCxnSpPr>
          <p:cNvPr id="10" name="接點: 肘形 9">
            <a:extLst>
              <a:ext uri="{FF2B5EF4-FFF2-40B4-BE49-F238E27FC236}">
                <a16:creationId xmlns:a16="http://schemas.microsoft.com/office/drawing/2014/main" id="{2EFF2A6F-2926-457C-BA43-179DE09BA528}"/>
              </a:ext>
            </a:extLst>
          </p:cNvPr>
          <p:cNvCxnSpPr/>
          <p:nvPr/>
        </p:nvCxnSpPr>
        <p:spPr bwMode="auto">
          <a:xfrm>
            <a:off x="6346371" y="2115047"/>
            <a:ext cx="2612572" cy="1977982"/>
          </a:xfrm>
          <a:prstGeom prst="bentConnector3">
            <a:avLst>
              <a:gd name="adj1" fmla="val 151250"/>
            </a:avLst>
          </a:prstGeom>
          <a:solidFill>
            <a:schemeClr val="accent1"/>
          </a:solid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42049802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BAA008-29B9-4575-B269-672181A7058F}"/>
              </a:ext>
            </a:extLst>
          </p:cNvPr>
          <p:cNvSpPr>
            <a:spLocks noGrp="1"/>
          </p:cNvSpPr>
          <p:nvPr>
            <p:ph type="title"/>
          </p:nvPr>
        </p:nvSpPr>
        <p:spPr/>
        <p:txBody>
          <a:bodyPr/>
          <a:lstStyle/>
          <a:p>
            <a:r>
              <a:rPr lang="en-US" altLang="zh-TW" dirty="0" err="1"/>
              <a:t>Huggingface</a:t>
            </a:r>
            <a:r>
              <a:rPr lang="en-US" altLang="zh-TW" dirty="0"/>
              <a:t> Access Tokens</a:t>
            </a:r>
            <a:endParaRPr lang="zh-TW" altLang="en-US" dirty="0"/>
          </a:p>
        </p:txBody>
      </p:sp>
      <p:sp>
        <p:nvSpPr>
          <p:cNvPr id="3" name="內容版面配置區 2">
            <a:extLst>
              <a:ext uri="{FF2B5EF4-FFF2-40B4-BE49-F238E27FC236}">
                <a16:creationId xmlns:a16="http://schemas.microsoft.com/office/drawing/2014/main" id="{899BB515-F671-4297-B9C8-7E718D6805A3}"/>
              </a:ext>
            </a:extLst>
          </p:cNvPr>
          <p:cNvSpPr>
            <a:spLocks noGrp="1"/>
          </p:cNvSpPr>
          <p:nvPr>
            <p:ph idx="1"/>
          </p:nvPr>
        </p:nvSpPr>
        <p:spPr/>
        <p:txBody>
          <a:bodyPr/>
          <a:lstStyle/>
          <a:p>
            <a:r>
              <a:rPr lang="en-US" altLang="zh-TW" sz="2400" dirty="0"/>
              <a:t>Some models on </a:t>
            </a:r>
            <a:r>
              <a:rPr lang="en-US" altLang="zh-TW" sz="2400" dirty="0" err="1"/>
              <a:t>Huggingface</a:t>
            </a:r>
            <a:r>
              <a:rPr lang="en-US" altLang="zh-TW" sz="2400" dirty="0"/>
              <a:t> are gated, meaning you need permission to download them</a:t>
            </a:r>
          </a:p>
          <a:p>
            <a:pPr lvl="1"/>
            <a:r>
              <a:rPr lang="en-US" altLang="zh-TW" sz="2000" dirty="0"/>
              <a:t>Usually all this entails is accepting their license, some models are gated behind a paywall instead</a:t>
            </a:r>
          </a:p>
          <a:p>
            <a:r>
              <a:rPr lang="en-US" altLang="zh-TW" sz="2400" dirty="0"/>
              <a:t>In such cases, you need to provide your </a:t>
            </a:r>
            <a:r>
              <a:rPr lang="en-US" altLang="zh-TW" sz="2400" dirty="0" err="1"/>
              <a:t>Huggingface</a:t>
            </a:r>
            <a:r>
              <a:rPr lang="en-US" altLang="zh-TW" sz="2400" dirty="0"/>
              <a:t> account’s access tokens in order to download the model using methods 2 and 3</a:t>
            </a:r>
          </a:p>
          <a:p>
            <a:pPr lvl="1"/>
            <a:r>
              <a:rPr lang="en-US" altLang="zh-TW" sz="2000" dirty="0"/>
              <a:t>Manually downloading from the webpage while logged in bypasses the need to provide access tokens</a:t>
            </a:r>
            <a:endParaRPr lang="zh-TW" altLang="en-US" sz="2000" dirty="0"/>
          </a:p>
        </p:txBody>
      </p:sp>
      <p:sp>
        <p:nvSpPr>
          <p:cNvPr id="4" name="投影片編號版面配置區 3">
            <a:extLst>
              <a:ext uri="{FF2B5EF4-FFF2-40B4-BE49-F238E27FC236}">
                <a16:creationId xmlns:a16="http://schemas.microsoft.com/office/drawing/2014/main" id="{389511B1-7768-4645-89A4-DAF3746E4864}"/>
              </a:ext>
            </a:extLst>
          </p:cNvPr>
          <p:cNvSpPr>
            <a:spLocks noGrp="1"/>
          </p:cNvSpPr>
          <p:nvPr>
            <p:ph type="sldNum" sz="quarter" idx="10"/>
          </p:nvPr>
        </p:nvSpPr>
        <p:spPr/>
        <p:txBody>
          <a:bodyPr/>
          <a:lstStyle/>
          <a:p>
            <a:pPr>
              <a:defRPr/>
            </a:pPr>
            <a:fld id="{CF627BE3-1269-44D5-A349-82FD5D94EBD8}" type="slidenum">
              <a:rPr lang="en-US" altLang="zh-TW" smtClean="0"/>
              <a:pPr>
                <a:defRPr/>
              </a:pPr>
              <a:t>67</a:t>
            </a:fld>
            <a:endParaRPr lang="en-US" altLang="zh-TW"/>
          </a:p>
        </p:txBody>
      </p:sp>
    </p:spTree>
    <p:extLst>
      <p:ext uri="{BB962C8B-B14F-4D97-AF65-F5344CB8AC3E}">
        <p14:creationId xmlns:p14="http://schemas.microsoft.com/office/powerpoint/2010/main" val="24844419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BAA008-29B9-4575-B269-672181A7058F}"/>
              </a:ext>
            </a:extLst>
          </p:cNvPr>
          <p:cNvSpPr>
            <a:spLocks noGrp="1"/>
          </p:cNvSpPr>
          <p:nvPr>
            <p:ph type="title"/>
          </p:nvPr>
        </p:nvSpPr>
        <p:spPr/>
        <p:txBody>
          <a:bodyPr/>
          <a:lstStyle/>
          <a:p>
            <a:r>
              <a:rPr lang="en-US" altLang="zh-TW" sz="3600" dirty="0"/>
              <a:t>How to Create Your </a:t>
            </a:r>
            <a:r>
              <a:rPr lang="en-US" altLang="zh-TW" sz="3600" dirty="0" err="1"/>
              <a:t>Huggingface</a:t>
            </a:r>
            <a:r>
              <a:rPr lang="en-US" altLang="zh-TW" sz="3600" dirty="0"/>
              <a:t> Access Tokens</a:t>
            </a:r>
            <a:endParaRPr lang="zh-TW" altLang="en-US" sz="3600" dirty="0"/>
          </a:p>
        </p:txBody>
      </p:sp>
      <p:sp>
        <p:nvSpPr>
          <p:cNvPr id="3" name="內容版面配置區 2">
            <a:extLst>
              <a:ext uri="{FF2B5EF4-FFF2-40B4-BE49-F238E27FC236}">
                <a16:creationId xmlns:a16="http://schemas.microsoft.com/office/drawing/2014/main" id="{899BB515-F671-4297-B9C8-7E718D6805A3}"/>
              </a:ext>
            </a:extLst>
          </p:cNvPr>
          <p:cNvSpPr>
            <a:spLocks noGrp="1"/>
          </p:cNvSpPr>
          <p:nvPr>
            <p:ph idx="1"/>
          </p:nvPr>
        </p:nvSpPr>
        <p:spPr>
          <a:xfrm>
            <a:off x="609600" y="1090752"/>
            <a:ext cx="11152717" cy="4757737"/>
          </a:xfrm>
        </p:spPr>
        <p:txBody>
          <a:bodyPr/>
          <a:lstStyle/>
          <a:p>
            <a:r>
              <a:rPr lang="en-US" altLang="zh-TW" sz="2400" dirty="0"/>
              <a:t>Under account profile, find the “Access Tokens” category (you can also get there via Settings)</a:t>
            </a:r>
          </a:p>
        </p:txBody>
      </p:sp>
      <p:sp>
        <p:nvSpPr>
          <p:cNvPr id="4" name="投影片編號版面配置區 3">
            <a:extLst>
              <a:ext uri="{FF2B5EF4-FFF2-40B4-BE49-F238E27FC236}">
                <a16:creationId xmlns:a16="http://schemas.microsoft.com/office/drawing/2014/main" id="{389511B1-7768-4645-89A4-DAF3746E4864}"/>
              </a:ext>
            </a:extLst>
          </p:cNvPr>
          <p:cNvSpPr>
            <a:spLocks noGrp="1"/>
          </p:cNvSpPr>
          <p:nvPr>
            <p:ph type="sldNum" sz="quarter" idx="10"/>
          </p:nvPr>
        </p:nvSpPr>
        <p:spPr/>
        <p:txBody>
          <a:bodyPr/>
          <a:lstStyle/>
          <a:p>
            <a:pPr>
              <a:defRPr/>
            </a:pPr>
            <a:fld id="{CF627BE3-1269-44D5-A349-82FD5D94EBD8}" type="slidenum">
              <a:rPr lang="en-US" altLang="zh-TW" smtClean="0"/>
              <a:pPr>
                <a:defRPr/>
              </a:pPr>
              <a:t>68</a:t>
            </a:fld>
            <a:endParaRPr lang="en-US" altLang="zh-TW"/>
          </a:p>
        </p:txBody>
      </p:sp>
      <p:pic>
        <p:nvPicPr>
          <p:cNvPr id="6" name="圖片 5">
            <a:extLst>
              <a:ext uri="{FF2B5EF4-FFF2-40B4-BE49-F238E27FC236}">
                <a16:creationId xmlns:a16="http://schemas.microsoft.com/office/drawing/2014/main" id="{6CAC38DF-42ED-419D-ACEC-910F97BA8F1F}"/>
              </a:ext>
            </a:extLst>
          </p:cNvPr>
          <p:cNvPicPr>
            <a:picLocks noChangeAspect="1"/>
          </p:cNvPicPr>
          <p:nvPr/>
        </p:nvPicPr>
        <p:blipFill>
          <a:blip r:embed="rId2"/>
          <a:stretch>
            <a:fillRect/>
          </a:stretch>
        </p:blipFill>
        <p:spPr>
          <a:xfrm>
            <a:off x="1130138" y="1970149"/>
            <a:ext cx="10101056" cy="4474153"/>
          </a:xfrm>
          <a:prstGeom prst="rect">
            <a:avLst/>
          </a:prstGeom>
        </p:spPr>
      </p:pic>
      <p:sp>
        <p:nvSpPr>
          <p:cNvPr id="8" name="矩形 7">
            <a:extLst>
              <a:ext uri="{FF2B5EF4-FFF2-40B4-BE49-F238E27FC236}">
                <a16:creationId xmlns:a16="http://schemas.microsoft.com/office/drawing/2014/main" id="{28AE1643-9AD0-4D2F-82FC-A3B949AF8C1C}"/>
              </a:ext>
            </a:extLst>
          </p:cNvPr>
          <p:cNvSpPr/>
          <p:nvPr/>
        </p:nvSpPr>
        <p:spPr bwMode="auto">
          <a:xfrm>
            <a:off x="9604274" y="5767248"/>
            <a:ext cx="1457587" cy="251588"/>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Tree>
    <p:extLst>
      <p:ext uri="{BB962C8B-B14F-4D97-AF65-F5344CB8AC3E}">
        <p14:creationId xmlns:p14="http://schemas.microsoft.com/office/powerpoint/2010/main" val="18051305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BAA008-29B9-4575-B269-672181A7058F}"/>
              </a:ext>
            </a:extLst>
          </p:cNvPr>
          <p:cNvSpPr>
            <a:spLocks noGrp="1"/>
          </p:cNvSpPr>
          <p:nvPr>
            <p:ph type="title"/>
          </p:nvPr>
        </p:nvSpPr>
        <p:spPr/>
        <p:txBody>
          <a:bodyPr/>
          <a:lstStyle/>
          <a:p>
            <a:r>
              <a:rPr lang="en-US" altLang="zh-TW" sz="3600" dirty="0"/>
              <a:t>How to Create Your </a:t>
            </a:r>
            <a:r>
              <a:rPr lang="en-US" altLang="zh-TW" sz="3600" dirty="0" err="1"/>
              <a:t>Huggingface</a:t>
            </a:r>
            <a:r>
              <a:rPr lang="en-US" altLang="zh-TW" sz="3600" dirty="0"/>
              <a:t> Access Tokens</a:t>
            </a:r>
            <a:endParaRPr lang="zh-TW" altLang="en-US" sz="3600" dirty="0"/>
          </a:p>
        </p:txBody>
      </p:sp>
      <p:sp>
        <p:nvSpPr>
          <p:cNvPr id="3" name="內容版面配置區 2">
            <a:extLst>
              <a:ext uri="{FF2B5EF4-FFF2-40B4-BE49-F238E27FC236}">
                <a16:creationId xmlns:a16="http://schemas.microsoft.com/office/drawing/2014/main" id="{899BB515-F671-4297-B9C8-7E718D6805A3}"/>
              </a:ext>
            </a:extLst>
          </p:cNvPr>
          <p:cNvSpPr>
            <a:spLocks noGrp="1"/>
          </p:cNvSpPr>
          <p:nvPr>
            <p:ph idx="1"/>
          </p:nvPr>
        </p:nvSpPr>
        <p:spPr>
          <a:xfrm>
            <a:off x="609600" y="1356970"/>
            <a:ext cx="11152717" cy="4757737"/>
          </a:xfrm>
        </p:spPr>
        <p:txBody>
          <a:bodyPr/>
          <a:lstStyle/>
          <a:p>
            <a:r>
              <a:rPr lang="en-US" altLang="zh-TW" sz="2400" dirty="0"/>
              <a:t>Create your token with the desired read/write privilege and copy it for the next step</a:t>
            </a:r>
          </a:p>
        </p:txBody>
      </p:sp>
      <p:sp>
        <p:nvSpPr>
          <p:cNvPr id="4" name="投影片編號版面配置區 3">
            <a:extLst>
              <a:ext uri="{FF2B5EF4-FFF2-40B4-BE49-F238E27FC236}">
                <a16:creationId xmlns:a16="http://schemas.microsoft.com/office/drawing/2014/main" id="{389511B1-7768-4645-89A4-DAF3746E4864}"/>
              </a:ext>
            </a:extLst>
          </p:cNvPr>
          <p:cNvSpPr>
            <a:spLocks noGrp="1"/>
          </p:cNvSpPr>
          <p:nvPr>
            <p:ph type="sldNum" sz="quarter" idx="10"/>
          </p:nvPr>
        </p:nvSpPr>
        <p:spPr/>
        <p:txBody>
          <a:bodyPr/>
          <a:lstStyle/>
          <a:p>
            <a:pPr>
              <a:defRPr/>
            </a:pPr>
            <a:fld id="{CF627BE3-1269-44D5-A349-82FD5D94EBD8}" type="slidenum">
              <a:rPr lang="en-US" altLang="zh-TW" smtClean="0"/>
              <a:pPr>
                <a:defRPr/>
              </a:pPr>
              <a:t>69</a:t>
            </a:fld>
            <a:endParaRPr lang="en-US" altLang="zh-TW"/>
          </a:p>
        </p:txBody>
      </p:sp>
      <p:pic>
        <p:nvPicPr>
          <p:cNvPr id="8" name="圖片 7">
            <a:extLst>
              <a:ext uri="{FF2B5EF4-FFF2-40B4-BE49-F238E27FC236}">
                <a16:creationId xmlns:a16="http://schemas.microsoft.com/office/drawing/2014/main" id="{4A2900AC-2ACF-49BB-ABC8-16B1A8F1A6C3}"/>
              </a:ext>
            </a:extLst>
          </p:cNvPr>
          <p:cNvPicPr>
            <a:picLocks noChangeAspect="1"/>
          </p:cNvPicPr>
          <p:nvPr/>
        </p:nvPicPr>
        <p:blipFill>
          <a:blip r:embed="rId2"/>
          <a:stretch>
            <a:fillRect/>
          </a:stretch>
        </p:blipFill>
        <p:spPr>
          <a:xfrm>
            <a:off x="757727" y="2472883"/>
            <a:ext cx="10676545" cy="2880610"/>
          </a:xfrm>
          <a:prstGeom prst="rect">
            <a:avLst/>
          </a:prstGeom>
        </p:spPr>
      </p:pic>
      <p:sp>
        <p:nvSpPr>
          <p:cNvPr id="9" name="矩形 8">
            <a:extLst>
              <a:ext uri="{FF2B5EF4-FFF2-40B4-BE49-F238E27FC236}">
                <a16:creationId xmlns:a16="http://schemas.microsoft.com/office/drawing/2014/main" id="{28E5030B-892C-440B-AFF1-F5D2EC97EBB2}"/>
              </a:ext>
            </a:extLst>
          </p:cNvPr>
          <p:cNvSpPr/>
          <p:nvPr/>
        </p:nvSpPr>
        <p:spPr bwMode="auto">
          <a:xfrm>
            <a:off x="9870491" y="3165837"/>
            <a:ext cx="1457587" cy="251588"/>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Tree>
    <p:extLst>
      <p:ext uri="{BB962C8B-B14F-4D97-AF65-F5344CB8AC3E}">
        <p14:creationId xmlns:p14="http://schemas.microsoft.com/office/powerpoint/2010/main" val="32696164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BAA008-29B9-4575-B269-672181A7058F}"/>
              </a:ext>
            </a:extLst>
          </p:cNvPr>
          <p:cNvSpPr>
            <a:spLocks noGrp="1"/>
          </p:cNvSpPr>
          <p:nvPr>
            <p:ph type="title"/>
          </p:nvPr>
        </p:nvSpPr>
        <p:spPr/>
        <p:txBody>
          <a:bodyPr/>
          <a:lstStyle/>
          <a:p>
            <a:r>
              <a:rPr lang="en-US" altLang="zh-TW" sz="3600" dirty="0"/>
              <a:t>How to Provide Your </a:t>
            </a:r>
            <a:r>
              <a:rPr lang="en-US" altLang="zh-TW" sz="3600" dirty="0" err="1"/>
              <a:t>Huggingface</a:t>
            </a:r>
            <a:r>
              <a:rPr lang="en-US" altLang="zh-TW" sz="3600" dirty="0"/>
              <a:t> Access Tokens</a:t>
            </a:r>
            <a:endParaRPr lang="zh-TW" altLang="en-US" sz="3600" dirty="0"/>
          </a:p>
        </p:txBody>
      </p:sp>
      <p:sp>
        <p:nvSpPr>
          <p:cNvPr id="3" name="內容版面配置區 2">
            <a:extLst>
              <a:ext uri="{FF2B5EF4-FFF2-40B4-BE49-F238E27FC236}">
                <a16:creationId xmlns:a16="http://schemas.microsoft.com/office/drawing/2014/main" id="{899BB515-F671-4297-B9C8-7E718D6805A3}"/>
              </a:ext>
            </a:extLst>
          </p:cNvPr>
          <p:cNvSpPr>
            <a:spLocks noGrp="1"/>
          </p:cNvSpPr>
          <p:nvPr>
            <p:ph idx="1"/>
          </p:nvPr>
        </p:nvSpPr>
        <p:spPr/>
        <p:txBody>
          <a:bodyPr/>
          <a:lstStyle/>
          <a:p>
            <a:pPr marL="0" indent="0">
              <a:buNone/>
            </a:pPr>
            <a:r>
              <a:rPr lang="en-US" altLang="zh-TW" sz="2400" dirty="0"/>
              <a:t>Method 1: log into </a:t>
            </a:r>
            <a:r>
              <a:rPr lang="en-US" altLang="zh-TW" sz="2400" dirty="0" err="1"/>
              <a:t>huggingface</a:t>
            </a:r>
            <a:r>
              <a:rPr lang="en-US" altLang="zh-TW" sz="2400" dirty="0"/>
              <a:t> in your </a:t>
            </a:r>
            <a:r>
              <a:rPr lang="en-US" altLang="zh-TW" sz="2400" dirty="0" err="1"/>
              <a:t>conda</a:t>
            </a:r>
            <a:r>
              <a:rPr lang="en-US" altLang="zh-TW" sz="2400" dirty="0"/>
              <a:t> environment</a:t>
            </a:r>
          </a:p>
          <a:p>
            <a:endParaRPr lang="en-US" altLang="zh-TW" sz="2400" dirty="0"/>
          </a:p>
          <a:p>
            <a:r>
              <a:rPr lang="en-US" altLang="zh-TW" sz="2400" dirty="0"/>
              <a:t>Install </a:t>
            </a:r>
            <a:r>
              <a:rPr lang="en-US" altLang="zh-TW" sz="2400" dirty="0" err="1"/>
              <a:t>huggingface_hub</a:t>
            </a:r>
            <a:r>
              <a:rPr lang="en-US" altLang="zh-TW" sz="2400" dirty="0"/>
              <a:t> with command line interface</a:t>
            </a:r>
          </a:p>
          <a:p>
            <a:pPr marL="0" indent="0" algn="ctr">
              <a:buNone/>
            </a:pPr>
            <a:r>
              <a:rPr lang="en-US" altLang="zh-TW" sz="2400" dirty="0">
                <a:latin typeface="Consolas" panose="020B0609020204030204" pitchFamily="49" charset="0"/>
              </a:rPr>
              <a:t>pip install -U “</a:t>
            </a:r>
            <a:r>
              <a:rPr lang="en-US" altLang="zh-TW" sz="2400" dirty="0" err="1">
                <a:latin typeface="Consolas" panose="020B0609020204030204" pitchFamily="49" charset="0"/>
              </a:rPr>
              <a:t>huggingface_hub</a:t>
            </a:r>
            <a:r>
              <a:rPr lang="en-US" altLang="zh-TW" sz="2400" dirty="0">
                <a:latin typeface="Consolas" panose="020B0609020204030204" pitchFamily="49" charset="0"/>
              </a:rPr>
              <a:t>[cli]”</a:t>
            </a:r>
          </a:p>
          <a:p>
            <a:pPr marL="0" indent="0">
              <a:buNone/>
            </a:pPr>
            <a:endParaRPr lang="en-US" altLang="zh-TW" sz="2400" dirty="0"/>
          </a:p>
          <a:p>
            <a:r>
              <a:rPr lang="en-US" altLang="zh-TW" sz="2400" dirty="0"/>
              <a:t>Log in using your access token</a:t>
            </a:r>
          </a:p>
          <a:p>
            <a:pPr marL="0" indent="0" algn="ctr">
              <a:buNone/>
            </a:pPr>
            <a:r>
              <a:rPr lang="en-US" altLang="zh-TW" sz="2400" dirty="0" err="1">
                <a:latin typeface="Consolas" panose="020B0609020204030204" pitchFamily="49" charset="0"/>
              </a:rPr>
              <a:t>huggingface</a:t>
            </a:r>
            <a:r>
              <a:rPr lang="en-US" altLang="zh-TW" sz="2400" dirty="0">
                <a:latin typeface="Consolas" panose="020B0609020204030204" pitchFamily="49" charset="0"/>
              </a:rPr>
              <a:t>-cli login</a:t>
            </a:r>
          </a:p>
        </p:txBody>
      </p:sp>
      <p:sp>
        <p:nvSpPr>
          <p:cNvPr id="4" name="投影片編號版面配置區 3">
            <a:extLst>
              <a:ext uri="{FF2B5EF4-FFF2-40B4-BE49-F238E27FC236}">
                <a16:creationId xmlns:a16="http://schemas.microsoft.com/office/drawing/2014/main" id="{389511B1-7768-4645-89A4-DAF3746E4864}"/>
              </a:ext>
            </a:extLst>
          </p:cNvPr>
          <p:cNvSpPr>
            <a:spLocks noGrp="1"/>
          </p:cNvSpPr>
          <p:nvPr>
            <p:ph type="sldNum" sz="quarter" idx="10"/>
          </p:nvPr>
        </p:nvSpPr>
        <p:spPr/>
        <p:txBody>
          <a:bodyPr/>
          <a:lstStyle/>
          <a:p>
            <a:pPr>
              <a:defRPr/>
            </a:pPr>
            <a:fld id="{CF627BE3-1269-44D5-A349-82FD5D94EBD8}" type="slidenum">
              <a:rPr lang="en-US" altLang="zh-TW" smtClean="0"/>
              <a:pPr>
                <a:defRPr/>
              </a:pPr>
              <a:t>70</a:t>
            </a:fld>
            <a:endParaRPr lang="en-US" altLang="zh-TW"/>
          </a:p>
        </p:txBody>
      </p:sp>
      <p:pic>
        <p:nvPicPr>
          <p:cNvPr id="1028" name="Picture 4" descr="token">
            <a:extLst>
              <a:ext uri="{FF2B5EF4-FFF2-40B4-BE49-F238E27FC236}">
                <a16:creationId xmlns:a16="http://schemas.microsoft.com/office/drawing/2014/main" id="{ACC05C6C-54F4-428C-B420-8255D3EAA1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42" r="8849" b="51827"/>
          <a:stretch/>
        </p:blipFill>
        <p:spPr bwMode="auto">
          <a:xfrm>
            <a:off x="429682" y="4592353"/>
            <a:ext cx="11152718" cy="1967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2911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BAA008-29B9-4575-B269-672181A7058F}"/>
              </a:ext>
            </a:extLst>
          </p:cNvPr>
          <p:cNvSpPr>
            <a:spLocks noGrp="1"/>
          </p:cNvSpPr>
          <p:nvPr>
            <p:ph type="title"/>
          </p:nvPr>
        </p:nvSpPr>
        <p:spPr/>
        <p:txBody>
          <a:bodyPr/>
          <a:lstStyle/>
          <a:p>
            <a:r>
              <a:rPr lang="en-US" altLang="zh-TW" sz="3600" dirty="0"/>
              <a:t>How to Provide Your </a:t>
            </a:r>
            <a:r>
              <a:rPr lang="en-US" altLang="zh-TW" sz="3600" dirty="0" err="1"/>
              <a:t>Huggingface</a:t>
            </a:r>
            <a:r>
              <a:rPr lang="en-US" altLang="zh-TW" sz="3600" dirty="0"/>
              <a:t> Access Tokens</a:t>
            </a:r>
            <a:endParaRPr lang="zh-TW" altLang="en-US" sz="3600" dirty="0"/>
          </a:p>
        </p:txBody>
      </p:sp>
      <p:sp>
        <p:nvSpPr>
          <p:cNvPr id="3" name="內容版面配置區 2">
            <a:extLst>
              <a:ext uri="{FF2B5EF4-FFF2-40B4-BE49-F238E27FC236}">
                <a16:creationId xmlns:a16="http://schemas.microsoft.com/office/drawing/2014/main" id="{899BB515-F671-4297-B9C8-7E718D6805A3}"/>
              </a:ext>
            </a:extLst>
          </p:cNvPr>
          <p:cNvSpPr>
            <a:spLocks noGrp="1"/>
          </p:cNvSpPr>
          <p:nvPr>
            <p:ph idx="1"/>
          </p:nvPr>
        </p:nvSpPr>
        <p:spPr/>
        <p:txBody>
          <a:bodyPr/>
          <a:lstStyle/>
          <a:p>
            <a:pPr marL="0" indent="0">
              <a:buNone/>
            </a:pPr>
            <a:r>
              <a:rPr lang="en-US" altLang="zh-TW" sz="2400" dirty="0"/>
              <a:t>Method 2: provide your access tokens when you call </a:t>
            </a:r>
            <a:r>
              <a:rPr lang="en-US" altLang="zh-TW" sz="2400" dirty="0" err="1"/>
              <a:t>from_pretrained</a:t>
            </a:r>
            <a:r>
              <a:rPr lang="en-US" altLang="zh-TW" sz="2400" dirty="0"/>
              <a:t>() [the function that pulls the model] </a:t>
            </a:r>
          </a:p>
          <a:p>
            <a:endParaRPr lang="zh-TW" altLang="en-US" sz="2000" dirty="0"/>
          </a:p>
        </p:txBody>
      </p:sp>
      <p:sp>
        <p:nvSpPr>
          <p:cNvPr id="4" name="投影片編號版面配置區 3">
            <a:extLst>
              <a:ext uri="{FF2B5EF4-FFF2-40B4-BE49-F238E27FC236}">
                <a16:creationId xmlns:a16="http://schemas.microsoft.com/office/drawing/2014/main" id="{389511B1-7768-4645-89A4-DAF3746E4864}"/>
              </a:ext>
            </a:extLst>
          </p:cNvPr>
          <p:cNvSpPr>
            <a:spLocks noGrp="1"/>
          </p:cNvSpPr>
          <p:nvPr>
            <p:ph type="sldNum" sz="quarter" idx="10"/>
          </p:nvPr>
        </p:nvSpPr>
        <p:spPr/>
        <p:txBody>
          <a:bodyPr/>
          <a:lstStyle/>
          <a:p>
            <a:pPr>
              <a:defRPr/>
            </a:pPr>
            <a:fld id="{CF627BE3-1269-44D5-A349-82FD5D94EBD8}" type="slidenum">
              <a:rPr lang="en-US" altLang="zh-TW" smtClean="0"/>
              <a:pPr>
                <a:defRPr/>
              </a:pPr>
              <a:t>71</a:t>
            </a:fld>
            <a:endParaRPr lang="en-US" altLang="zh-TW"/>
          </a:p>
        </p:txBody>
      </p:sp>
      <p:pic>
        <p:nvPicPr>
          <p:cNvPr id="6" name="圖片 5">
            <a:extLst>
              <a:ext uri="{FF2B5EF4-FFF2-40B4-BE49-F238E27FC236}">
                <a16:creationId xmlns:a16="http://schemas.microsoft.com/office/drawing/2014/main" id="{615D7303-149D-415D-BF2F-6D9B00A2C8C3}"/>
              </a:ext>
            </a:extLst>
          </p:cNvPr>
          <p:cNvPicPr>
            <a:picLocks noChangeAspect="1"/>
          </p:cNvPicPr>
          <p:nvPr/>
        </p:nvPicPr>
        <p:blipFill>
          <a:blip r:embed="rId3"/>
          <a:stretch>
            <a:fillRect/>
          </a:stretch>
        </p:blipFill>
        <p:spPr>
          <a:xfrm>
            <a:off x="809932" y="2887801"/>
            <a:ext cx="10309561" cy="1861861"/>
          </a:xfrm>
          <a:prstGeom prst="rect">
            <a:avLst/>
          </a:prstGeom>
        </p:spPr>
      </p:pic>
    </p:spTree>
    <p:extLst>
      <p:ext uri="{BB962C8B-B14F-4D97-AF65-F5344CB8AC3E}">
        <p14:creationId xmlns:p14="http://schemas.microsoft.com/office/powerpoint/2010/main" val="36020341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內容版面配置區 9">
            <a:extLst>
              <a:ext uri="{FF2B5EF4-FFF2-40B4-BE49-F238E27FC236}">
                <a16:creationId xmlns:a16="http://schemas.microsoft.com/office/drawing/2014/main" id="{E9F14F84-D8FE-4F41-9BC7-0D212AAA4B32}"/>
              </a:ext>
            </a:extLst>
          </p:cNvPr>
          <p:cNvPicPr>
            <a:picLocks noGrp="1" noChangeAspect="1"/>
          </p:cNvPicPr>
          <p:nvPr>
            <p:ph idx="1"/>
          </p:nvPr>
        </p:nvPicPr>
        <p:blipFill>
          <a:blip r:embed="rId2"/>
          <a:stretch>
            <a:fillRect/>
          </a:stretch>
        </p:blipFill>
        <p:spPr>
          <a:xfrm>
            <a:off x="472140" y="1631308"/>
            <a:ext cx="11371768" cy="3172185"/>
          </a:xfrm>
        </p:spPr>
      </p:pic>
      <p:sp>
        <p:nvSpPr>
          <p:cNvPr id="2" name="標題 1">
            <a:extLst>
              <a:ext uri="{FF2B5EF4-FFF2-40B4-BE49-F238E27FC236}">
                <a16:creationId xmlns:a16="http://schemas.microsoft.com/office/drawing/2014/main" id="{0DE8019B-8329-43F1-98E0-F52C5855B09C}"/>
              </a:ext>
            </a:extLst>
          </p:cNvPr>
          <p:cNvSpPr>
            <a:spLocks noGrp="1"/>
          </p:cNvSpPr>
          <p:nvPr>
            <p:ph type="title"/>
          </p:nvPr>
        </p:nvSpPr>
        <p:spPr/>
        <p:txBody>
          <a:bodyPr/>
          <a:lstStyle/>
          <a:p>
            <a:r>
              <a:rPr lang="en-US" altLang="zh-TW" sz="3600" dirty="0"/>
              <a:t>Transformers Example: Imports + Model Loading</a:t>
            </a:r>
            <a:endParaRPr lang="zh-TW" altLang="en-US" sz="3600" dirty="0"/>
          </a:p>
        </p:txBody>
      </p:sp>
      <p:sp>
        <p:nvSpPr>
          <p:cNvPr id="4" name="投影片編號版面配置區 3">
            <a:extLst>
              <a:ext uri="{FF2B5EF4-FFF2-40B4-BE49-F238E27FC236}">
                <a16:creationId xmlns:a16="http://schemas.microsoft.com/office/drawing/2014/main" id="{295EEFDF-C76B-446B-A32B-480740EB0F67}"/>
              </a:ext>
            </a:extLst>
          </p:cNvPr>
          <p:cNvSpPr>
            <a:spLocks noGrp="1"/>
          </p:cNvSpPr>
          <p:nvPr>
            <p:ph type="sldNum" sz="quarter" idx="10"/>
          </p:nvPr>
        </p:nvSpPr>
        <p:spPr/>
        <p:txBody>
          <a:bodyPr/>
          <a:lstStyle/>
          <a:p>
            <a:pPr>
              <a:defRPr/>
            </a:pPr>
            <a:fld id="{CF627BE3-1269-44D5-A349-82FD5D94EBD8}" type="slidenum">
              <a:rPr lang="en-US" altLang="zh-TW" smtClean="0"/>
              <a:pPr>
                <a:defRPr/>
              </a:pPr>
              <a:t>72</a:t>
            </a:fld>
            <a:endParaRPr lang="en-US" altLang="zh-TW"/>
          </a:p>
        </p:txBody>
      </p:sp>
      <p:sp>
        <p:nvSpPr>
          <p:cNvPr id="5" name="TextBox 4">
            <a:extLst>
              <a:ext uri="{FF2B5EF4-FFF2-40B4-BE49-F238E27FC236}">
                <a16:creationId xmlns:a16="http://schemas.microsoft.com/office/drawing/2014/main" id="{37A16218-0628-F8A6-4B61-26AD49EF79DD}"/>
              </a:ext>
            </a:extLst>
          </p:cNvPr>
          <p:cNvSpPr txBox="1"/>
          <p:nvPr/>
        </p:nvSpPr>
        <p:spPr>
          <a:xfrm>
            <a:off x="4079439" y="4802011"/>
            <a:ext cx="7680761" cy="646331"/>
          </a:xfrm>
          <a:prstGeom prst="rect">
            <a:avLst/>
          </a:prstGeom>
          <a:noFill/>
          <a:ln>
            <a:solidFill>
              <a:schemeClr val="tx1"/>
            </a:solidFill>
          </a:ln>
        </p:spPr>
        <p:txBody>
          <a:bodyPr wrap="square" rtlCol="0">
            <a:spAutoFit/>
          </a:bodyPr>
          <a:lstStyle/>
          <a:p>
            <a:r>
              <a:rPr lang="en-US" dirty="0"/>
              <a:t>Replace “google/…” with the path to the folder containing your LLM if you want to load your model + tokenizer from local file</a:t>
            </a:r>
          </a:p>
        </p:txBody>
      </p:sp>
      <p:sp>
        <p:nvSpPr>
          <p:cNvPr id="6" name="Right Brace 5">
            <a:extLst>
              <a:ext uri="{FF2B5EF4-FFF2-40B4-BE49-F238E27FC236}">
                <a16:creationId xmlns:a16="http://schemas.microsoft.com/office/drawing/2014/main" id="{B9864E9A-A9B8-16A0-D7E7-9A1B45A75D7C}"/>
              </a:ext>
            </a:extLst>
          </p:cNvPr>
          <p:cNvSpPr/>
          <p:nvPr/>
        </p:nvSpPr>
        <p:spPr bwMode="auto">
          <a:xfrm>
            <a:off x="4988690" y="2835797"/>
            <a:ext cx="351770" cy="472997"/>
          </a:xfrm>
          <a:prstGeom prst="rightBrace">
            <a:avLst>
              <a:gd name="adj1" fmla="val 27035"/>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新細明體" pitchFamily="18" charset="-120"/>
            </a:endParaRPr>
          </a:p>
        </p:txBody>
      </p:sp>
      <p:sp>
        <p:nvSpPr>
          <p:cNvPr id="8" name="文字方塊 7">
            <a:extLst>
              <a:ext uri="{FF2B5EF4-FFF2-40B4-BE49-F238E27FC236}">
                <a16:creationId xmlns:a16="http://schemas.microsoft.com/office/drawing/2014/main" id="{9C4046A0-4CC6-4EB2-BF37-694E10E2A926}"/>
              </a:ext>
            </a:extLst>
          </p:cNvPr>
          <p:cNvSpPr txBox="1"/>
          <p:nvPr/>
        </p:nvSpPr>
        <p:spPr>
          <a:xfrm>
            <a:off x="3104694" y="6038507"/>
            <a:ext cx="6151944" cy="369332"/>
          </a:xfrm>
          <a:prstGeom prst="rect">
            <a:avLst/>
          </a:prstGeom>
          <a:noFill/>
        </p:spPr>
        <p:txBody>
          <a:bodyPr wrap="square">
            <a:spAutoFit/>
          </a:bodyPr>
          <a:lstStyle/>
          <a:p>
            <a:pPr algn="ctr"/>
            <a:r>
              <a:rPr lang="en-US" altLang="zh-TW" dirty="0"/>
              <a:t>Source code: </a:t>
            </a:r>
            <a:r>
              <a:rPr lang="zh-TW" altLang="en-US" dirty="0"/>
              <a:t>inference_transformers.py</a:t>
            </a:r>
          </a:p>
        </p:txBody>
      </p:sp>
      <p:sp>
        <p:nvSpPr>
          <p:cNvPr id="13" name="TextBox 4">
            <a:extLst>
              <a:ext uri="{FF2B5EF4-FFF2-40B4-BE49-F238E27FC236}">
                <a16:creationId xmlns:a16="http://schemas.microsoft.com/office/drawing/2014/main" id="{87C4380D-91C7-4359-8D9E-9F6F7663D4F2}"/>
              </a:ext>
            </a:extLst>
          </p:cNvPr>
          <p:cNvSpPr txBox="1"/>
          <p:nvPr/>
        </p:nvSpPr>
        <p:spPr>
          <a:xfrm>
            <a:off x="5340459" y="2622205"/>
            <a:ext cx="6089541" cy="923330"/>
          </a:xfrm>
          <a:prstGeom prst="rect">
            <a:avLst/>
          </a:prstGeom>
          <a:noFill/>
        </p:spPr>
        <p:txBody>
          <a:bodyPr wrap="square" rtlCol="0">
            <a:spAutoFit/>
          </a:bodyPr>
          <a:lstStyle/>
          <a:p>
            <a:r>
              <a:rPr lang="en-US" dirty="0"/>
              <a:t>If your system doesn’t support P2P GPU communication or InfiniBand (IB), set these environment variables otherwise your program may crash</a:t>
            </a:r>
          </a:p>
        </p:txBody>
      </p:sp>
    </p:spTree>
    <p:extLst>
      <p:ext uri="{BB962C8B-B14F-4D97-AF65-F5344CB8AC3E}">
        <p14:creationId xmlns:p14="http://schemas.microsoft.com/office/powerpoint/2010/main" val="25332719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10868618" cy="1758697"/>
          </a:xfrm>
        </p:spPr>
        <p:txBody>
          <a:bodyPr/>
          <a:lstStyle/>
          <a:p>
            <a:r>
              <a:rPr lang="en-US" altLang="zh-TW" sz="5400" dirty="0"/>
              <a:t>LLM Deployment Using Transformers</a:t>
            </a:r>
            <a:endParaRPr lang="zh-TW" altLang="en-US" sz="5400" dirty="0"/>
          </a:p>
        </p:txBody>
      </p:sp>
    </p:spTree>
    <p:extLst>
      <p:ext uri="{BB962C8B-B14F-4D97-AF65-F5344CB8AC3E}">
        <p14:creationId xmlns:p14="http://schemas.microsoft.com/office/powerpoint/2010/main" val="16153653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B41038-3836-410E-AE8B-13EC98E77E9F}"/>
              </a:ext>
            </a:extLst>
          </p:cNvPr>
          <p:cNvSpPr>
            <a:spLocks noGrp="1"/>
          </p:cNvSpPr>
          <p:nvPr>
            <p:ph type="title"/>
          </p:nvPr>
        </p:nvSpPr>
        <p:spPr/>
        <p:txBody>
          <a:bodyPr/>
          <a:lstStyle/>
          <a:p>
            <a:r>
              <a:rPr lang="en-US" altLang="zh-TW" dirty="0"/>
              <a:t>Inferencing with Transformers</a:t>
            </a:r>
            <a:endParaRPr lang="zh-TW" altLang="en-US" dirty="0"/>
          </a:p>
        </p:txBody>
      </p:sp>
      <p:sp>
        <p:nvSpPr>
          <p:cNvPr id="3" name="內容版面配置區 2">
            <a:extLst>
              <a:ext uri="{FF2B5EF4-FFF2-40B4-BE49-F238E27FC236}">
                <a16:creationId xmlns:a16="http://schemas.microsoft.com/office/drawing/2014/main" id="{5DAAA527-DEAF-43DF-8E1A-96FA9DA1FCBE}"/>
              </a:ext>
            </a:extLst>
          </p:cNvPr>
          <p:cNvSpPr>
            <a:spLocks noGrp="1"/>
          </p:cNvSpPr>
          <p:nvPr>
            <p:ph idx="1"/>
          </p:nvPr>
        </p:nvSpPr>
        <p:spPr/>
        <p:txBody>
          <a:bodyPr/>
          <a:lstStyle/>
          <a:p>
            <a:r>
              <a:rPr lang="en-US" altLang="zh-TW" dirty="0"/>
              <a:t>Now that we have loaded our model, we can proceed to inferencing</a:t>
            </a:r>
          </a:p>
          <a:p>
            <a:r>
              <a:rPr lang="en-US" altLang="zh-TW" dirty="0"/>
              <a:t>Five main steps:</a:t>
            </a:r>
          </a:p>
          <a:p>
            <a:pPr marL="971550" lvl="1" indent="-514350">
              <a:buFont typeface="+mj-lt"/>
              <a:buAutoNum type="arabicPeriod"/>
            </a:pPr>
            <a:r>
              <a:rPr lang="en-US" altLang="zh-TW" dirty="0"/>
              <a:t>Generation configuration</a:t>
            </a:r>
          </a:p>
          <a:p>
            <a:pPr marL="971550" lvl="1" indent="-514350">
              <a:buFont typeface="+mj-lt"/>
              <a:buAutoNum type="arabicPeriod"/>
            </a:pPr>
            <a:r>
              <a:rPr lang="en-US" altLang="zh-TW" dirty="0"/>
              <a:t>Query formatting</a:t>
            </a:r>
          </a:p>
          <a:p>
            <a:pPr marL="971550" lvl="1" indent="-514350">
              <a:buFont typeface="+mj-lt"/>
              <a:buAutoNum type="arabicPeriod"/>
            </a:pPr>
            <a:r>
              <a:rPr lang="en-US" altLang="zh-TW" dirty="0"/>
              <a:t>Tokenize</a:t>
            </a:r>
          </a:p>
          <a:p>
            <a:pPr marL="971550" lvl="1" indent="-514350">
              <a:buFont typeface="+mj-lt"/>
              <a:buAutoNum type="arabicPeriod"/>
            </a:pPr>
            <a:r>
              <a:rPr lang="en-US" altLang="zh-TW" dirty="0"/>
              <a:t>Generate/inference</a:t>
            </a:r>
          </a:p>
          <a:p>
            <a:pPr marL="971550" lvl="1" indent="-514350">
              <a:buFont typeface="+mj-lt"/>
              <a:buAutoNum type="arabicPeriod"/>
            </a:pPr>
            <a:r>
              <a:rPr lang="en-US" altLang="zh-TW" dirty="0"/>
              <a:t>Decode</a:t>
            </a:r>
            <a:endParaRPr lang="zh-TW" altLang="en-US" dirty="0"/>
          </a:p>
        </p:txBody>
      </p:sp>
      <p:sp>
        <p:nvSpPr>
          <p:cNvPr id="4" name="投影片編號版面配置區 3">
            <a:extLst>
              <a:ext uri="{FF2B5EF4-FFF2-40B4-BE49-F238E27FC236}">
                <a16:creationId xmlns:a16="http://schemas.microsoft.com/office/drawing/2014/main" id="{AF69DE00-BA0E-48C1-B2C0-F81877A9E976}"/>
              </a:ext>
            </a:extLst>
          </p:cNvPr>
          <p:cNvSpPr>
            <a:spLocks noGrp="1"/>
          </p:cNvSpPr>
          <p:nvPr>
            <p:ph type="sldNum" sz="quarter" idx="10"/>
          </p:nvPr>
        </p:nvSpPr>
        <p:spPr/>
        <p:txBody>
          <a:bodyPr/>
          <a:lstStyle/>
          <a:p>
            <a:pPr>
              <a:defRPr/>
            </a:pPr>
            <a:fld id="{CF627BE3-1269-44D5-A349-82FD5D94EBD8}" type="slidenum">
              <a:rPr lang="en-US" altLang="zh-TW" smtClean="0"/>
              <a:pPr>
                <a:defRPr/>
              </a:pPr>
              <a:t>74</a:t>
            </a:fld>
            <a:endParaRPr lang="en-US" altLang="zh-TW"/>
          </a:p>
        </p:txBody>
      </p:sp>
    </p:spTree>
    <p:extLst>
      <p:ext uri="{BB962C8B-B14F-4D97-AF65-F5344CB8AC3E}">
        <p14:creationId xmlns:p14="http://schemas.microsoft.com/office/powerpoint/2010/main" val="20820295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E8019B-8329-43F1-98E0-F52C5855B09C}"/>
              </a:ext>
            </a:extLst>
          </p:cNvPr>
          <p:cNvSpPr>
            <a:spLocks noGrp="1"/>
          </p:cNvSpPr>
          <p:nvPr>
            <p:ph type="title"/>
          </p:nvPr>
        </p:nvSpPr>
        <p:spPr>
          <a:xfrm>
            <a:off x="601133" y="0"/>
            <a:ext cx="11159067" cy="908548"/>
          </a:xfrm>
        </p:spPr>
        <p:txBody>
          <a:bodyPr/>
          <a:lstStyle/>
          <a:p>
            <a:r>
              <a:rPr lang="en-US" altLang="zh-TW" sz="2400" dirty="0"/>
              <a:t>Inference Code Example (modified inference_transformers.py to fit on screen)</a:t>
            </a:r>
            <a:endParaRPr lang="zh-TW" altLang="en-US" sz="2400" dirty="0"/>
          </a:p>
        </p:txBody>
      </p:sp>
      <p:sp>
        <p:nvSpPr>
          <p:cNvPr id="4" name="投影片編號版面配置區 3">
            <a:extLst>
              <a:ext uri="{FF2B5EF4-FFF2-40B4-BE49-F238E27FC236}">
                <a16:creationId xmlns:a16="http://schemas.microsoft.com/office/drawing/2014/main" id="{295EEFDF-C76B-446B-A32B-480740EB0F67}"/>
              </a:ext>
            </a:extLst>
          </p:cNvPr>
          <p:cNvSpPr>
            <a:spLocks noGrp="1"/>
          </p:cNvSpPr>
          <p:nvPr>
            <p:ph type="sldNum" sz="quarter" idx="10"/>
          </p:nvPr>
        </p:nvSpPr>
        <p:spPr/>
        <p:txBody>
          <a:bodyPr/>
          <a:lstStyle/>
          <a:p>
            <a:pPr>
              <a:defRPr/>
            </a:pPr>
            <a:fld id="{CF627BE3-1269-44D5-A349-82FD5D94EBD8}" type="slidenum">
              <a:rPr lang="en-US" altLang="zh-TW" smtClean="0"/>
              <a:pPr>
                <a:defRPr/>
              </a:pPr>
              <a:t>75</a:t>
            </a:fld>
            <a:endParaRPr lang="en-US" altLang="zh-TW"/>
          </a:p>
        </p:txBody>
      </p:sp>
      <p:pic>
        <p:nvPicPr>
          <p:cNvPr id="6" name="內容版面配置區 5">
            <a:extLst>
              <a:ext uri="{FF2B5EF4-FFF2-40B4-BE49-F238E27FC236}">
                <a16:creationId xmlns:a16="http://schemas.microsoft.com/office/drawing/2014/main" id="{94F060E3-C4DA-47BC-915F-490C7B71F089}"/>
              </a:ext>
            </a:extLst>
          </p:cNvPr>
          <p:cNvPicPr>
            <a:picLocks noGrp="1" noChangeAspect="1"/>
          </p:cNvPicPr>
          <p:nvPr>
            <p:ph idx="1"/>
          </p:nvPr>
        </p:nvPicPr>
        <p:blipFill>
          <a:blip r:embed="rId3"/>
          <a:stretch>
            <a:fillRect/>
          </a:stretch>
        </p:blipFill>
        <p:spPr>
          <a:xfrm>
            <a:off x="1969207" y="612549"/>
            <a:ext cx="8253585" cy="5847649"/>
          </a:xfrm>
        </p:spPr>
      </p:pic>
      <p:cxnSp>
        <p:nvCxnSpPr>
          <p:cNvPr id="5" name="Straight Arrow Connector 4">
            <a:extLst>
              <a:ext uri="{FF2B5EF4-FFF2-40B4-BE49-F238E27FC236}">
                <a16:creationId xmlns:a16="http://schemas.microsoft.com/office/drawing/2014/main" id="{FC1E9D2F-7045-F7B0-A52F-0FD9C38C0094}"/>
              </a:ext>
            </a:extLst>
          </p:cNvPr>
          <p:cNvCxnSpPr/>
          <p:nvPr/>
        </p:nvCxnSpPr>
        <p:spPr bwMode="auto">
          <a:xfrm flipH="1">
            <a:off x="3840480" y="2613414"/>
            <a:ext cx="102058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 name="TextBox 6">
            <a:extLst>
              <a:ext uri="{FF2B5EF4-FFF2-40B4-BE49-F238E27FC236}">
                <a16:creationId xmlns:a16="http://schemas.microsoft.com/office/drawing/2014/main" id="{AE64D6D8-B5FF-42A8-0D9F-35763713585B}"/>
              </a:ext>
            </a:extLst>
          </p:cNvPr>
          <p:cNvSpPr txBox="1"/>
          <p:nvPr/>
        </p:nvSpPr>
        <p:spPr>
          <a:xfrm>
            <a:off x="4861068" y="2428748"/>
            <a:ext cx="5332227" cy="369332"/>
          </a:xfrm>
          <a:prstGeom prst="rect">
            <a:avLst/>
          </a:prstGeom>
          <a:noFill/>
        </p:spPr>
        <p:txBody>
          <a:bodyPr wrap="square" rtlCol="0">
            <a:spAutoFit/>
          </a:bodyPr>
          <a:lstStyle/>
          <a:p>
            <a:r>
              <a:rPr lang="en-US" dirty="0"/>
              <a:t>1. Sets the maximum length of the LLM’s response</a:t>
            </a:r>
          </a:p>
        </p:txBody>
      </p:sp>
      <p:cxnSp>
        <p:nvCxnSpPr>
          <p:cNvPr id="8" name="Straight Arrow Connector 7">
            <a:extLst>
              <a:ext uri="{FF2B5EF4-FFF2-40B4-BE49-F238E27FC236}">
                <a16:creationId xmlns:a16="http://schemas.microsoft.com/office/drawing/2014/main" id="{59F8E9CD-8471-3198-9A15-3DED2A6D7B58}"/>
              </a:ext>
            </a:extLst>
          </p:cNvPr>
          <p:cNvCxnSpPr/>
          <p:nvPr/>
        </p:nvCxnSpPr>
        <p:spPr bwMode="auto">
          <a:xfrm flipH="1">
            <a:off x="6045855" y="3933886"/>
            <a:ext cx="102058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TextBox 8">
            <a:extLst>
              <a:ext uri="{FF2B5EF4-FFF2-40B4-BE49-F238E27FC236}">
                <a16:creationId xmlns:a16="http://schemas.microsoft.com/office/drawing/2014/main" id="{7D6C4C76-CB00-BDBD-1D77-8EF4FA6B92AA}"/>
              </a:ext>
            </a:extLst>
          </p:cNvPr>
          <p:cNvSpPr txBox="1"/>
          <p:nvPr/>
        </p:nvSpPr>
        <p:spPr>
          <a:xfrm>
            <a:off x="7066443" y="3610720"/>
            <a:ext cx="5005952" cy="646331"/>
          </a:xfrm>
          <a:prstGeom prst="rect">
            <a:avLst/>
          </a:prstGeom>
          <a:noFill/>
        </p:spPr>
        <p:txBody>
          <a:bodyPr wrap="square" rtlCol="0">
            <a:spAutoFit/>
          </a:bodyPr>
          <a:lstStyle/>
          <a:p>
            <a:r>
              <a:rPr lang="en-US" dirty="0"/>
              <a:t>2. Generate a new chat session + specify whom (system/user/LLM) this string belongs to</a:t>
            </a:r>
          </a:p>
        </p:txBody>
      </p:sp>
      <p:cxnSp>
        <p:nvCxnSpPr>
          <p:cNvPr id="10" name="Straight Arrow Connector 9">
            <a:extLst>
              <a:ext uri="{FF2B5EF4-FFF2-40B4-BE49-F238E27FC236}">
                <a16:creationId xmlns:a16="http://schemas.microsoft.com/office/drawing/2014/main" id="{D0E9EB4E-5EF3-100C-F657-1601685219A0}"/>
              </a:ext>
            </a:extLst>
          </p:cNvPr>
          <p:cNvCxnSpPr/>
          <p:nvPr/>
        </p:nvCxnSpPr>
        <p:spPr bwMode="auto">
          <a:xfrm flipH="1">
            <a:off x="5075412" y="4684934"/>
            <a:ext cx="102058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1" name="TextBox 10">
            <a:extLst>
              <a:ext uri="{FF2B5EF4-FFF2-40B4-BE49-F238E27FC236}">
                <a16:creationId xmlns:a16="http://schemas.microsoft.com/office/drawing/2014/main" id="{BF8399E5-FD1A-0F44-F4E3-ABA9E3163E4B}"/>
              </a:ext>
            </a:extLst>
          </p:cNvPr>
          <p:cNvSpPr txBox="1"/>
          <p:nvPr/>
        </p:nvSpPr>
        <p:spPr>
          <a:xfrm>
            <a:off x="6096000" y="4500268"/>
            <a:ext cx="5332227" cy="369332"/>
          </a:xfrm>
          <a:prstGeom prst="rect">
            <a:avLst/>
          </a:prstGeom>
          <a:noFill/>
        </p:spPr>
        <p:txBody>
          <a:bodyPr wrap="square" rtlCol="0">
            <a:spAutoFit/>
          </a:bodyPr>
          <a:lstStyle/>
          <a:p>
            <a:r>
              <a:rPr lang="en-US" dirty="0"/>
              <a:t>3. Tokenize: convert chat log (string) to tokens</a:t>
            </a:r>
          </a:p>
        </p:txBody>
      </p:sp>
      <p:cxnSp>
        <p:nvCxnSpPr>
          <p:cNvPr id="12" name="Straight Arrow Connector 11">
            <a:extLst>
              <a:ext uri="{FF2B5EF4-FFF2-40B4-BE49-F238E27FC236}">
                <a16:creationId xmlns:a16="http://schemas.microsoft.com/office/drawing/2014/main" id="{E02C1C86-040F-1ED0-EE33-2CC061F2611B}"/>
              </a:ext>
            </a:extLst>
          </p:cNvPr>
          <p:cNvCxnSpPr/>
          <p:nvPr/>
        </p:nvCxnSpPr>
        <p:spPr bwMode="auto">
          <a:xfrm flipH="1">
            <a:off x="5075412" y="5375406"/>
            <a:ext cx="102058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3" name="TextBox 12">
            <a:extLst>
              <a:ext uri="{FF2B5EF4-FFF2-40B4-BE49-F238E27FC236}">
                <a16:creationId xmlns:a16="http://schemas.microsoft.com/office/drawing/2014/main" id="{2A9E489F-B12E-87C9-0F3E-D280F204CA5B}"/>
              </a:ext>
            </a:extLst>
          </p:cNvPr>
          <p:cNvSpPr txBox="1"/>
          <p:nvPr/>
        </p:nvSpPr>
        <p:spPr>
          <a:xfrm>
            <a:off x="6096000" y="5190740"/>
            <a:ext cx="5332227" cy="369332"/>
          </a:xfrm>
          <a:prstGeom prst="rect">
            <a:avLst/>
          </a:prstGeom>
          <a:noFill/>
        </p:spPr>
        <p:txBody>
          <a:bodyPr wrap="square" rtlCol="0">
            <a:spAutoFit/>
          </a:bodyPr>
          <a:lstStyle/>
          <a:p>
            <a:r>
              <a:rPr lang="en-US" dirty="0"/>
              <a:t>4. Inference step (output is tokens)</a:t>
            </a:r>
          </a:p>
        </p:txBody>
      </p:sp>
      <p:cxnSp>
        <p:nvCxnSpPr>
          <p:cNvPr id="14" name="Straight Arrow Connector 13">
            <a:extLst>
              <a:ext uri="{FF2B5EF4-FFF2-40B4-BE49-F238E27FC236}">
                <a16:creationId xmlns:a16="http://schemas.microsoft.com/office/drawing/2014/main" id="{B5BF9D11-00A0-B427-AE7E-1850C6126188}"/>
              </a:ext>
            </a:extLst>
          </p:cNvPr>
          <p:cNvCxnSpPr/>
          <p:nvPr/>
        </p:nvCxnSpPr>
        <p:spPr bwMode="auto">
          <a:xfrm flipH="1">
            <a:off x="7198196" y="5987955"/>
            <a:ext cx="102058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5" name="TextBox 14">
            <a:extLst>
              <a:ext uri="{FF2B5EF4-FFF2-40B4-BE49-F238E27FC236}">
                <a16:creationId xmlns:a16="http://schemas.microsoft.com/office/drawing/2014/main" id="{9964BCDF-5B1C-D9DF-FED8-448471E5E916}"/>
              </a:ext>
            </a:extLst>
          </p:cNvPr>
          <p:cNvSpPr txBox="1"/>
          <p:nvPr/>
        </p:nvSpPr>
        <p:spPr>
          <a:xfrm>
            <a:off x="8218784" y="5803289"/>
            <a:ext cx="5332227" cy="369332"/>
          </a:xfrm>
          <a:prstGeom prst="rect">
            <a:avLst/>
          </a:prstGeom>
          <a:noFill/>
        </p:spPr>
        <p:txBody>
          <a:bodyPr wrap="square" rtlCol="0">
            <a:spAutoFit/>
          </a:bodyPr>
          <a:lstStyle/>
          <a:p>
            <a:r>
              <a:rPr lang="en-US" dirty="0"/>
              <a:t>5. Convert output tokens to string</a:t>
            </a:r>
          </a:p>
        </p:txBody>
      </p:sp>
      <p:cxnSp>
        <p:nvCxnSpPr>
          <p:cNvPr id="18" name="Straight Arrow Connector 4">
            <a:extLst>
              <a:ext uri="{FF2B5EF4-FFF2-40B4-BE49-F238E27FC236}">
                <a16:creationId xmlns:a16="http://schemas.microsoft.com/office/drawing/2014/main" id="{D3C44B8F-D5E8-4338-B98B-CBAD2E82F205}"/>
              </a:ext>
            </a:extLst>
          </p:cNvPr>
          <p:cNvCxnSpPr/>
          <p:nvPr/>
        </p:nvCxnSpPr>
        <p:spPr bwMode="auto">
          <a:xfrm flipH="1">
            <a:off x="3840480" y="1740326"/>
            <a:ext cx="102058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 name="TextBox 6">
            <a:extLst>
              <a:ext uri="{FF2B5EF4-FFF2-40B4-BE49-F238E27FC236}">
                <a16:creationId xmlns:a16="http://schemas.microsoft.com/office/drawing/2014/main" id="{53774B65-1D86-4F58-B589-210B578449F6}"/>
              </a:ext>
            </a:extLst>
          </p:cNvPr>
          <p:cNvSpPr txBox="1"/>
          <p:nvPr/>
        </p:nvSpPr>
        <p:spPr>
          <a:xfrm>
            <a:off x="4861068" y="1555660"/>
            <a:ext cx="6729798" cy="646331"/>
          </a:xfrm>
          <a:prstGeom prst="rect">
            <a:avLst/>
          </a:prstGeom>
          <a:noFill/>
        </p:spPr>
        <p:txBody>
          <a:bodyPr wrap="square" rtlCol="0">
            <a:spAutoFit/>
          </a:bodyPr>
          <a:lstStyle/>
          <a:p>
            <a:r>
              <a:rPr lang="en-US" dirty="0"/>
              <a:t>1. Set temperature to 0 (or </a:t>
            </a:r>
            <a:r>
              <a:rPr lang="en-US" dirty="0" err="1"/>
              <a:t>do_sample</a:t>
            </a:r>
            <a:r>
              <a:rPr lang="en-US" dirty="0"/>
              <a:t> to False) for deterministic outputs</a:t>
            </a:r>
          </a:p>
        </p:txBody>
      </p:sp>
      <p:cxnSp>
        <p:nvCxnSpPr>
          <p:cNvPr id="21" name="Straight Arrow Connector 4">
            <a:extLst>
              <a:ext uri="{FF2B5EF4-FFF2-40B4-BE49-F238E27FC236}">
                <a16:creationId xmlns:a16="http://schemas.microsoft.com/office/drawing/2014/main" id="{0656C3A5-E513-4A25-9837-C9A95D9E5932}"/>
              </a:ext>
            </a:extLst>
          </p:cNvPr>
          <p:cNvCxnSpPr/>
          <p:nvPr/>
        </p:nvCxnSpPr>
        <p:spPr bwMode="auto">
          <a:xfrm flipH="1">
            <a:off x="3840480" y="2300515"/>
            <a:ext cx="102058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2" name="TextBox 6">
            <a:extLst>
              <a:ext uri="{FF2B5EF4-FFF2-40B4-BE49-F238E27FC236}">
                <a16:creationId xmlns:a16="http://schemas.microsoft.com/office/drawing/2014/main" id="{E4A2EC0C-02A1-4C59-B369-AE029FF17464}"/>
              </a:ext>
            </a:extLst>
          </p:cNvPr>
          <p:cNvSpPr txBox="1"/>
          <p:nvPr/>
        </p:nvSpPr>
        <p:spPr>
          <a:xfrm>
            <a:off x="4861068" y="2115849"/>
            <a:ext cx="6899132" cy="369332"/>
          </a:xfrm>
          <a:prstGeom prst="rect">
            <a:avLst/>
          </a:prstGeom>
          <a:noFill/>
        </p:spPr>
        <p:txBody>
          <a:bodyPr wrap="square" rtlCol="0">
            <a:spAutoFit/>
          </a:bodyPr>
          <a:lstStyle/>
          <a:p>
            <a:r>
              <a:rPr lang="en-US" dirty="0"/>
              <a:t>1. Beam search setting: &gt;1 for less randomness, ==1 for creativity</a:t>
            </a:r>
          </a:p>
        </p:txBody>
      </p:sp>
    </p:spTree>
    <p:extLst>
      <p:ext uri="{BB962C8B-B14F-4D97-AF65-F5344CB8AC3E}">
        <p14:creationId xmlns:p14="http://schemas.microsoft.com/office/powerpoint/2010/main" val="31672026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1ED0E9C-7962-4ABB-BF57-6AE311EF7704}"/>
              </a:ext>
            </a:extLst>
          </p:cNvPr>
          <p:cNvSpPr>
            <a:spLocks noGrp="1"/>
          </p:cNvSpPr>
          <p:nvPr>
            <p:ph type="title"/>
          </p:nvPr>
        </p:nvSpPr>
        <p:spPr/>
        <p:txBody>
          <a:bodyPr/>
          <a:lstStyle/>
          <a:p>
            <a:r>
              <a:rPr lang="en-US" altLang="zh-TW" sz="2800" dirty="0"/>
              <a:t>Inference Code Example: Output (inference_transformers.py)</a:t>
            </a:r>
            <a:endParaRPr lang="zh-TW" altLang="en-US" sz="2800" dirty="0"/>
          </a:p>
        </p:txBody>
      </p:sp>
      <p:pic>
        <p:nvPicPr>
          <p:cNvPr id="6" name="內容版面配置區 5">
            <a:extLst>
              <a:ext uri="{FF2B5EF4-FFF2-40B4-BE49-F238E27FC236}">
                <a16:creationId xmlns:a16="http://schemas.microsoft.com/office/drawing/2014/main" id="{2DE533C1-224B-4D7D-BD30-CB323C8C7C1E}"/>
              </a:ext>
            </a:extLst>
          </p:cNvPr>
          <p:cNvPicPr>
            <a:picLocks noGrp="1" noChangeAspect="1"/>
          </p:cNvPicPr>
          <p:nvPr>
            <p:ph idx="1"/>
          </p:nvPr>
        </p:nvPicPr>
        <p:blipFill>
          <a:blip r:embed="rId2"/>
          <a:stretch>
            <a:fillRect/>
          </a:stretch>
        </p:blipFill>
        <p:spPr>
          <a:xfrm>
            <a:off x="846483" y="1158182"/>
            <a:ext cx="10320996" cy="4585296"/>
          </a:xfrm>
        </p:spPr>
      </p:pic>
      <p:sp>
        <p:nvSpPr>
          <p:cNvPr id="4" name="投影片編號版面配置區 3">
            <a:extLst>
              <a:ext uri="{FF2B5EF4-FFF2-40B4-BE49-F238E27FC236}">
                <a16:creationId xmlns:a16="http://schemas.microsoft.com/office/drawing/2014/main" id="{7AC22A2D-C94A-4690-872F-40471C49EAB5}"/>
              </a:ext>
            </a:extLst>
          </p:cNvPr>
          <p:cNvSpPr>
            <a:spLocks noGrp="1"/>
          </p:cNvSpPr>
          <p:nvPr>
            <p:ph type="sldNum" sz="quarter" idx="10"/>
          </p:nvPr>
        </p:nvSpPr>
        <p:spPr/>
        <p:txBody>
          <a:bodyPr/>
          <a:lstStyle/>
          <a:p>
            <a:pPr>
              <a:defRPr/>
            </a:pPr>
            <a:fld id="{CF627BE3-1269-44D5-A349-82FD5D94EBD8}" type="slidenum">
              <a:rPr lang="en-US" altLang="zh-TW" smtClean="0"/>
              <a:pPr>
                <a:defRPr/>
              </a:pPr>
              <a:t>76</a:t>
            </a:fld>
            <a:endParaRPr lang="en-US" altLang="zh-TW"/>
          </a:p>
        </p:txBody>
      </p:sp>
      <p:sp>
        <p:nvSpPr>
          <p:cNvPr id="3" name="文字方塊 2">
            <a:extLst>
              <a:ext uri="{FF2B5EF4-FFF2-40B4-BE49-F238E27FC236}">
                <a16:creationId xmlns:a16="http://schemas.microsoft.com/office/drawing/2014/main" id="{EA9C9E12-11E8-4F6A-8B52-98BA130B3443}"/>
              </a:ext>
            </a:extLst>
          </p:cNvPr>
          <p:cNvSpPr txBox="1"/>
          <p:nvPr/>
        </p:nvSpPr>
        <p:spPr>
          <a:xfrm>
            <a:off x="1504709" y="5926238"/>
            <a:ext cx="8993529" cy="369332"/>
          </a:xfrm>
          <a:prstGeom prst="rect">
            <a:avLst/>
          </a:prstGeom>
          <a:noFill/>
        </p:spPr>
        <p:txBody>
          <a:bodyPr wrap="square" rtlCol="0">
            <a:spAutoFit/>
          </a:bodyPr>
          <a:lstStyle/>
          <a:p>
            <a:pPr algn="ctr"/>
            <a:r>
              <a:rPr lang="en-US" altLang="zh-TW" dirty="0"/>
              <a:t>This query exposes the older model’s outdated knowledge base</a:t>
            </a:r>
            <a:endParaRPr lang="zh-TW" altLang="en-US" dirty="0"/>
          </a:p>
        </p:txBody>
      </p:sp>
    </p:spTree>
    <p:extLst>
      <p:ext uri="{BB962C8B-B14F-4D97-AF65-F5344CB8AC3E}">
        <p14:creationId xmlns:p14="http://schemas.microsoft.com/office/powerpoint/2010/main" val="4739565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89982" y="2584703"/>
            <a:ext cx="10032347" cy="1758697"/>
          </a:xfrm>
        </p:spPr>
        <p:txBody>
          <a:bodyPr/>
          <a:lstStyle/>
          <a:p>
            <a:r>
              <a:rPr lang="en-US" altLang="zh-TW" sz="5400" dirty="0"/>
              <a:t>LLM Deployment Alternatives</a:t>
            </a:r>
            <a:endParaRPr lang="zh-TW" altLang="en-US" sz="5400" dirty="0"/>
          </a:p>
        </p:txBody>
      </p:sp>
    </p:spTree>
    <p:extLst>
      <p:ext uri="{BB962C8B-B14F-4D97-AF65-F5344CB8AC3E}">
        <p14:creationId xmlns:p14="http://schemas.microsoft.com/office/powerpoint/2010/main" val="41165440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7ACD0-2D96-471D-A96A-B7AEBEC914E5}"/>
              </a:ext>
            </a:extLst>
          </p:cNvPr>
          <p:cNvSpPr>
            <a:spLocks noGrp="1"/>
          </p:cNvSpPr>
          <p:nvPr>
            <p:ph type="title"/>
          </p:nvPr>
        </p:nvSpPr>
        <p:spPr>
          <a:xfrm>
            <a:off x="601133" y="191603"/>
            <a:ext cx="11159067" cy="908548"/>
          </a:xfrm>
        </p:spPr>
        <p:txBody>
          <a:bodyPr/>
          <a:lstStyle/>
          <a:p>
            <a:r>
              <a:rPr lang="en-US" altLang="zh-TW" dirty="0"/>
              <a:t>LLM Deployment Tools</a:t>
            </a:r>
            <a:endParaRPr lang="zh-TW" altLang="en-US" dirty="0"/>
          </a:p>
        </p:txBody>
      </p:sp>
      <p:graphicFrame>
        <p:nvGraphicFramePr>
          <p:cNvPr id="5" name="表格 5">
            <a:extLst>
              <a:ext uri="{FF2B5EF4-FFF2-40B4-BE49-F238E27FC236}">
                <a16:creationId xmlns:a16="http://schemas.microsoft.com/office/drawing/2014/main" id="{4D3CA43E-5898-4D19-BC8D-E09F3CAD33DA}"/>
              </a:ext>
            </a:extLst>
          </p:cNvPr>
          <p:cNvGraphicFramePr>
            <a:graphicFrameLocks noGrp="1"/>
          </p:cNvGraphicFramePr>
          <p:nvPr>
            <p:ph idx="1"/>
            <p:extLst>
              <p:ext uri="{D42A27DB-BD31-4B8C-83A1-F6EECF244321}">
                <p14:modId xmlns:p14="http://schemas.microsoft.com/office/powerpoint/2010/main" val="2437312264"/>
              </p:ext>
            </p:extLst>
          </p:nvPr>
        </p:nvGraphicFramePr>
        <p:xfrm>
          <a:off x="431800" y="1052696"/>
          <a:ext cx="11328400" cy="4490720"/>
        </p:xfrm>
        <a:graphic>
          <a:graphicData uri="http://schemas.openxmlformats.org/drawingml/2006/table">
            <a:tbl>
              <a:tblPr firstRow="1" bandRow="1">
                <a:tableStyleId>{073A0DAA-6AF3-43AB-8588-CEC1D06C72B9}</a:tableStyleId>
              </a:tblPr>
              <a:tblGrid>
                <a:gridCol w="2832100">
                  <a:extLst>
                    <a:ext uri="{9D8B030D-6E8A-4147-A177-3AD203B41FA5}">
                      <a16:colId xmlns:a16="http://schemas.microsoft.com/office/drawing/2014/main" val="922997739"/>
                    </a:ext>
                  </a:extLst>
                </a:gridCol>
                <a:gridCol w="2832100">
                  <a:extLst>
                    <a:ext uri="{9D8B030D-6E8A-4147-A177-3AD203B41FA5}">
                      <a16:colId xmlns:a16="http://schemas.microsoft.com/office/drawing/2014/main" val="4285946544"/>
                    </a:ext>
                  </a:extLst>
                </a:gridCol>
                <a:gridCol w="2832100">
                  <a:extLst>
                    <a:ext uri="{9D8B030D-6E8A-4147-A177-3AD203B41FA5}">
                      <a16:colId xmlns:a16="http://schemas.microsoft.com/office/drawing/2014/main" val="3443379100"/>
                    </a:ext>
                  </a:extLst>
                </a:gridCol>
                <a:gridCol w="2832100">
                  <a:extLst>
                    <a:ext uri="{9D8B030D-6E8A-4147-A177-3AD203B41FA5}">
                      <a16:colId xmlns:a16="http://schemas.microsoft.com/office/drawing/2014/main" val="68184548"/>
                    </a:ext>
                  </a:extLst>
                </a:gridCol>
              </a:tblGrid>
              <a:tr h="370840">
                <a:tc>
                  <a:txBody>
                    <a:bodyPr/>
                    <a:lstStyle/>
                    <a:p>
                      <a:r>
                        <a:rPr lang="en-US" b="1" i="0" dirty="0">
                          <a:effectLst/>
                        </a:rPr>
                        <a:t>Feature</a:t>
                      </a:r>
                    </a:p>
                  </a:txBody>
                  <a:tcPr marL="99060" marR="99060" anchor="ctr"/>
                </a:tc>
                <a:tc>
                  <a:txBody>
                    <a:bodyPr/>
                    <a:lstStyle/>
                    <a:p>
                      <a:r>
                        <a:rPr lang="en-US" b="1" i="0" dirty="0">
                          <a:effectLst/>
                        </a:rPr>
                        <a:t>Transformers</a:t>
                      </a:r>
                    </a:p>
                  </a:txBody>
                  <a:tcPr marL="99060" marR="99060" anchor="ctr"/>
                </a:tc>
                <a:tc>
                  <a:txBody>
                    <a:bodyPr/>
                    <a:lstStyle/>
                    <a:p>
                      <a:r>
                        <a:rPr lang="en-US" b="1" i="0" dirty="0" err="1">
                          <a:effectLst/>
                        </a:rPr>
                        <a:t>Ollama</a:t>
                      </a:r>
                      <a:endParaRPr lang="en-US" b="1" i="0" dirty="0">
                        <a:effectLst/>
                      </a:endParaRPr>
                    </a:p>
                  </a:txBody>
                  <a:tcPr marL="99060" marR="99060" anchor="ctr"/>
                </a:tc>
                <a:tc>
                  <a:txBody>
                    <a:bodyPr/>
                    <a:lstStyle/>
                    <a:p>
                      <a:r>
                        <a:rPr lang="en-US" b="1" i="0" dirty="0" err="1">
                          <a:effectLst/>
                        </a:rPr>
                        <a:t>vLLM</a:t>
                      </a:r>
                      <a:endParaRPr lang="en-US" b="1" i="0" dirty="0">
                        <a:effectLst/>
                      </a:endParaRPr>
                    </a:p>
                  </a:txBody>
                  <a:tcPr marL="99060" marR="99060" anchor="ctr"/>
                </a:tc>
                <a:extLst>
                  <a:ext uri="{0D108BD9-81ED-4DB2-BD59-A6C34878D82A}">
                    <a16:rowId xmlns:a16="http://schemas.microsoft.com/office/drawing/2014/main" val="3285794799"/>
                  </a:ext>
                </a:extLst>
              </a:tr>
              <a:tr h="370840">
                <a:tc>
                  <a:txBody>
                    <a:bodyPr/>
                    <a:lstStyle/>
                    <a:p>
                      <a:r>
                        <a:rPr lang="en-US" b="1" i="0" dirty="0">
                          <a:effectLst/>
                        </a:rPr>
                        <a:t>Primary Use</a:t>
                      </a:r>
                    </a:p>
                  </a:txBody>
                  <a:tcPr marL="99060" marR="99060" anchor="ctr"/>
                </a:tc>
                <a:tc>
                  <a:txBody>
                    <a:bodyPr/>
                    <a:lstStyle/>
                    <a:p>
                      <a:r>
                        <a:rPr lang="en-US" dirty="0">
                          <a:effectLst/>
                        </a:rPr>
                        <a:t>Running, fine-tuning, and deploying LLMs</a:t>
                      </a:r>
                    </a:p>
                  </a:txBody>
                  <a:tcPr marL="99060" marR="99060" anchor="ctr"/>
                </a:tc>
                <a:tc>
                  <a:txBody>
                    <a:bodyPr/>
                    <a:lstStyle/>
                    <a:p>
                      <a:r>
                        <a:rPr lang="en-US">
                          <a:effectLst/>
                        </a:rPr>
                        <a:t>Local, easy-to-use deployment of LLMs</a:t>
                      </a:r>
                    </a:p>
                  </a:txBody>
                  <a:tcPr marL="99060" marR="99060" anchor="ctr"/>
                </a:tc>
                <a:tc>
                  <a:txBody>
                    <a:bodyPr/>
                    <a:lstStyle/>
                    <a:p>
                      <a:r>
                        <a:rPr lang="en-US" altLang="zh-TW" dirty="0"/>
                        <a:t>High-performance LLM inference and serving</a:t>
                      </a:r>
                      <a:endParaRPr lang="en-US" dirty="0">
                        <a:effectLst/>
                      </a:endParaRPr>
                    </a:p>
                  </a:txBody>
                  <a:tcPr marL="99060" marR="99060" anchor="ctr"/>
                </a:tc>
                <a:extLst>
                  <a:ext uri="{0D108BD9-81ED-4DB2-BD59-A6C34878D82A}">
                    <a16:rowId xmlns:a16="http://schemas.microsoft.com/office/drawing/2014/main" val="2512805582"/>
                  </a:ext>
                </a:extLst>
              </a:tr>
              <a:tr h="370840">
                <a:tc>
                  <a:txBody>
                    <a:bodyPr/>
                    <a:lstStyle/>
                    <a:p>
                      <a:r>
                        <a:rPr lang="en-US" b="1" i="0" dirty="0">
                          <a:effectLst/>
                        </a:rPr>
                        <a:t>User Interface</a:t>
                      </a:r>
                    </a:p>
                  </a:txBody>
                  <a:tcPr marL="99060" marR="99060" anchor="ctr"/>
                </a:tc>
                <a:tc>
                  <a:txBody>
                    <a:bodyPr/>
                    <a:lstStyle/>
                    <a:p>
                      <a:r>
                        <a:rPr lang="en-US" dirty="0">
                          <a:effectLst/>
                        </a:rPr>
                        <a:t>Python code (CLI/Script-based)</a:t>
                      </a:r>
                    </a:p>
                  </a:txBody>
                  <a:tcPr marL="99060" marR="99060" anchor="ctr"/>
                </a:tc>
                <a:tc>
                  <a:txBody>
                    <a:bodyPr/>
                    <a:lstStyle/>
                    <a:p>
                      <a:r>
                        <a:rPr lang="en-US">
                          <a:effectLst/>
                        </a:rPr>
                        <a:t>CLI-based, simple for local models</a:t>
                      </a:r>
                    </a:p>
                  </a:txBody>
                  <a:tcPr marL="99060" marR="99060" anchor="ctr"/>
                </a:tc>
                <a:tc>
                  <a:txBody>
                    <a:bodyPr/>
                    <a:lstStyle/>
                    <a:p>
                      <a:r>
                        <a:rPr lang="en-US" dirty="0">
                          <a:effectLst/>
                        </a:rPr>
                        <a:t>API server / CLI-based, </a:t>
                      </a:r>
                      <a:r>
                        <a:rPr lang="en-US" dirty="0" err="1">
                          <a:effectLst/>
                        </a:rPr>
                        <a:t>OpenAI</a:t>
                      </a:r>
                      <a:r>
                        <a:rPr lang="en-US" dirty="0">
                          <a:effectLst/>
                        </a:rPr>
                        <a:t>-compatible serving</a:t>
                      </a:r>
                    </a:p>
                  </a:txBody>
                  <a:tcPr marL="99060" marR="99060" anchor="ctr"/>
                </a:tc>
                <a:extLst>
                  <a:ext uri="{0D108BD9-81ED-4DB2-BD59-A6C34878D82A}">
                    <a16:rowId xmlns:a16="http://schemas.microsoft.com/office/drawing/2014/main" val="2299883921"/>
                  </a:ext>
                </a:extLst>
              </a:tr>
              <a:tr h="370840">
                <a:tc>
                  <a:txBody>
                    <a:bodyPr/>
                    <a:lstStyle/>
                    <a:p>
                      <a:r>
                        <a:rPr lang="en-US" b="1" i="0" dirty="0">
                          <a:effectLst/>
                        </a:rPr>
                        <a:t>Hardware Requirements</a:t>
                      </a:r>
                    </a:p>
                  </a:txBody>
                  <a:tcPr marL="99060" marR="99060" anchor="ctr"/>
                </a:tc>
                <a:tc>
                  <a:txBody>
                    <a:bodyPr/>
                    <a:lstStyle/>
                    <a:p>
                      <a:r>
                        <a:rPr lang="en-US">
                          <a:effectLst/>
                        </a:rPr>
                        <a:t>Flexible (depends on model)</a:t>
                      </a:r>
                    </a:p>
                  </a:txBody>
                  <a:tcPr marL="99060" marR="99060" anchor="ctr"/>
                </a:tc>
                <a:tc>
                  <a:txBody>
                    <a:bodyPr/>
                    <a:lstStyle/>
                    <a:p>
                      <a:r>
                        <a:rPr lang="en-US">
                          <a:effectLst/>
                        </a:rPr>
                        <a:t>Light-weight, works on most systems</a:t>
                      </a:r>
                    </a:p>
                  </a:txBody>
                  <a:tcPr marL="99060" marR="99060" anchor="ctr"/>
                </a:tc>
                <a:tc>
                  <a:txBody>
                    <a:bodyPr/>
                    <a:lstStyle/>
                    <a:p>
                      <a:r>
                        <a:rPr lang="en-US" dirty="0">
                          <a:effectLst/>
                        </a:rPr>
                        <a:t>Best with modern GPUs; optimized for high-VRAM / multi-GPU setups</a:t>
                      </a:r>
                    </a:p>
                  </a:txBody>
                  <a:tcPr marL="99060" marR="99060" anchor="ctr"/>
                </a:tc>
                <a:extLst>
                  <a:ext uri="{0D108BD9-81ED-4DB2-BD59-A6C34878D82A}">
                    <a16:rowId xmlns:a16="http://schemas.microsoft.com/office/drawing/2014/main" val="2642354163"/>
                  </a:ext>
                </a:extLst>
              </a:tr>
              <a:tr h="370840">
                <a:tc>
                  <a:txBody>
                    <a:bodyPr/>
                    <a:lstStyle/>
                    <a:p>
                      <a:r>
                        <a:rPr lang="en-US" b="1" i="0" dirty="0">
                          <a:effectLst/>
                        </a:rPr>
                        <a:t>Deployment Scale</a:t>
                      </a:r>
                    </a:p>
                  </a:txBody>
                  <a:tcPr marL="99060" marR="99060" anchor="ctr"/>
                </a:tc>
                <a:tc>
                  <a:txBody>
                    <a:bodyPr/>
                    <a:lstStyle/>
                    <a:p>
                      <a:r>
                        <a:rPr lang="en-US" dirty="0">
                          <a:effectLst/>
                        </a:rPr>
                        <a:t>Small to large-scale (with proper setup)</a:t>
                      </a:r>
                    </a:p>
                  </a:txBody>
                  <a:tcPr marL="99060" marR="99060" anchor="ctr"/>
                </a:tc>
                <a:tc>
                  <a:txBody>
                    <a:bodyPr/>
                    <a:lstStyle/>
                    <a:p>
                      <a:r>
                        <a:rPr lang="en-US">
                          <a:effectLst/>
                        </a:rPr>
                        <a:t>Small to medium-scale (local use)</a:t>
                      </a:r>
                    </a:p>
                  </a:txBody>
                  <a:tcPr marL="99060" marR="99060" anchor="ctr"/>
                </a:tc>
                <a:tc>
                  <a:txBody>
                    <a:bodyPr/>
                    <a:lstStyle/>
                    <a:p>
                      <a:r>
                        <a:rPr lang="en-US" altLang="zh-TW" dirty="0"/>
                        <a:t>Medium to large-scale production serving</a:t>
                      </a:r>
                      <a:endParaRPr lang="en-US" dirty="0">
                        <a:effectLst/>
                      </a:endParaRPr>
                    </a:p>
                  </a:txBody>
                  <a:tcPr marL="99060" marR="99060" anchor="ctr"/>
                </a:tc>
                <a:extLst>
                  <a:ext uri="{0D108BD9-81ED-4DB2-BD59-A6C34878D82A}">
                    <a16:rowId xmlns:a16="http://schemas.microsoft.com/office/drawing/2014/main" val="3702005691"/>
                  </a:ext>
                </a:extLst>
              </a:tr>
              <a:tr h="370840">
                <a:tc>
                  <a:txBody>
                    <a:bodyPr/>
                    <a:lstStyle/>
                    <a:p>
                      <a:r>
                        <a:rPr lang="en-US" b="1" i="0" dirty="0">
                          <a:effectLst/>
                        </a:rPr>
                        <a:t>Target</a:t>
                      </a:r>
                    </a:p>
                  </a:txBody>
                  <a:tcPr marL="99060" marR="99060" anchor="ctr"/>
                </a:tc>
                <a:tc>
                  <a:txBody>
                    <a:bodyPr/>
                    <a:lstStyle/>
                    <a:p>
                      <a:r>
                        <a:rPr lang="en-US" dirty="0">
                          <a:effectLst/>
                        </a:rPr>
                        <a:t>Flexibility and ease of use for researchers</a:t>
                      </a:r>
                    </a:p>
                  </a:txBody>
                  <a:tcPr marL="99060" marR="99060" anchor="ctr"/>
                </a:tc>
                <a:tc>
                  <a:txBody>
                    <a:bodyPr/>
                    <a:lstStyle/>
                    <a:p>
                      <a:r>
                        <a:rPr lang="en-US" dirty="0">
                          <a:effectLst/>
                        </a:rPr>
                        <a:t>Simplicity and accessibility</a:t>
                      </a:r>
                    </a:p>
                  </a:txBody>
                  <a:tcPr marL="99060" marR="99060" anchor="ctr"/>
                </a:tc>
                <a:tc>
                  <a:txBody>
                    <a:bodyPr/>
                    <a:lstStyle/>
                    <a:p>
                      <a:r>
                        <a:rPr lang="en-US" dirty="0">
                          <a:effectLst/>
                        </a:rPr>
                        <a:t>Fast inference, batching, and scalable API serving</a:t>
                      </a:r>
                    </a:p>
                  </a:txBody>
                  <a:tcPr marL="99060" marR="99060" anchor="ctr"/>
                </a:tc>
                <a:extLst>
                  <a:ext uri="{0D108BD9-81ED-4DB2-BD59-A6C34878D82A}">
                    <a16:rowId xmlns:a16="http://schemas.microsoft.com/office/drawing/2014/main" val="4011335285"/>
                  </a:ext>
                </a:extLst>
              </a:tr>
              <a:tr h="370840">
                <a:tc>
                  <a:txBody>
                    <a:bodyPr/>
                    <a:lstStyle/>
                    <a:p>
                      <a:r>
                        <a:rPr lang="en-US" b="1" i="0" dirty="0"/>
                        <a:t>Performance</a:t>
                      </a:r>
                    </a:p>
                  </a:txBody>
                  <a:tcPr anchor="ctr"/>
                </a:tc>
                <a:tc>
                  <a:txBody>
                    <a:bodyPr/>
                    <a:lstStyle/>
                    <a:p>
                      <a:r>
                        <a:rPr lang="en-US" dirty="0"/>
                        <a:t>Slow</a:t>
                      </a:r>
                    </a:p>
                  </a:txBody>
                  <a:tcPr anchor="ctr"/>
                </a:tc>
                <a:tc>
                  <a:txBody>
                    <a:bodyPr/>
                    <a:lstStyle/>
                    <a:p>
                      <a:r>
                        <a:rPr lang="en-US" dirty="0"/>
                        <a:t>Fast</a:t>
                      </a:r>
                    </a:p>
                  </a:txBody>
                  <a:tcPr anchor="ctr"/>
                </a:tc>
                <a:tc>
                  <a:txBody>
                    <a:bodyPr/>
                    <a:lstStyle/>
                    <a:p>
                      <a:r>
                        <a:rPr lang="en-US" dirty="0"/>
                        <a:t>Very fast</a:t>
                      </a:r>
                    </a:p>
                  </a:txBody>
                  <a:tcPr anchor="ctr"/>
                </a:tc>
                <a:extLst>
                  <a:ext uri="{0D108BD9-81ED-4DB2-BD59-A6C34878D82A}">
                    <a16:rowId xmlns:a16="http://schemas.microsoft.com/office/drawing/2014/main" val="1480770114"/>
                  </a:ext>
                </a:extLst>
              </a:tr>
            </a:tbl>
          </a:graphicData>
        </a:graphic>
      </p:graphicFrame>
      <p:sp>
        <p:nvSpPr>
          <p:cNvPr id="4" name="投影片編號版面配置區 3">
            <a:extLst>
              <a:ext uri="{FF2B5EF4-FFF2-40B4-BE49-F238E27FC236}">
                <a16:creationId xmlns:a16="http://schemas.microsoft.com/office/drawing/2014/main" id="{84FC5519-21F1-4BA3-917E-36DF6B05FE30}"/>
              </a:ext>
            </a:extLst>
          </p:cNvPr>
          <p:cNvSpPr>
            <a:spLocks noGrp="1"/>
          </p:cNvSpPr>
          <p:nvPr>
            <p:ph type="sldNum" sz="quarter" idx="10"/>
          </p:nvPr>
        </p:nvSpPr>
        <p:spPr/>
        <p:txBody>
          <a:bodyPr/>
          <a:lstStyle/>
          <a:p>
            <a:pPr>
              <a:defRPr/>
            </a:pPr>
            <a:fld id="{CF627BE3-1269-44D5-A349-82FD5D94EBD8}" type="slidenum">
              <a:rPr lang="en-US" altLang="zh-TW" smtClean="0"/>
              <a:pPr>
                <a:defRPr/>
              </a:pPr>
              <a:t>78</a:t>
            </a:fld>
            <a:endParaRPr lang="en-US" altLang="zh-TW"/>
          </a:p>
        </p:txBody>
      </p:sp>
      <p:sp>
        <p:nvSpPr>
          <p:cNvPr id="6" name="文字方塊 5">
            <a:extLst>
              <a:ext uri="{FF2B5EF4-FFF2-40B4-BE49-F238E27FC236}">
                <a16:creationId xmlns:a16="http://schemas.microsoft.com/office/drawing/2014/main" id="{87124B65-EB53-4506-8C0B-A99985B05E0F}"/>
              </a:ext>
            </a:extLst>
          </p:cNvPr>
          <p:cNvSpPr txBox="1"/>
          <p:nvPr/>
        </p:nvSpPr>
        <p:spPr>
          <a:xfrm>
            <a:off x="601133" y="5686792"/>
            <a:ext cx="11159067" cy="646331"/>
          </a:xfrm>
          <a:prstGeom prst="rect">
            <a:avLst/>
          </a:prstGeom>
          <a:noFill/>
        </p:spPr>
        <p:txBody>
          <a:bodyPr wrap="square">
            <a:spAutoFit/>
          </a:bodyPr>
          <a:lstStyle/>
          <a:p>
            <a:pPr algn="ctr"/>
            <a:r>
              <a:rPr lang="en-US" altLang="zh-TW" dirty="0"/>
              <a:t>Out of all the deployment options, transformers is the </a:t>
            </a:r>
            <a:r>
              <a:rPr lang="en-US" altLang="zh-TW" b="1" dirty="0"/>
              <a:t>slowest</a:t>
            </a:r>
            <a:r>
              <a:rPr lang="en-US" altLang="zh-TW" dirty="0"/>
              <a:t>, transformers is mostly intended for development and not deployment</a:t>
            </a:r>
            <a:endParaRPr lang="zh-TW" altLang="en-US" b="1" dirty="0"/>
          </a:p>
        </p:txBody>
      </p:sp>
    </p:spTree>
    <p:extLst>
      <p:ext uri="{BB962C8B-B14F-4D97-AF65-F5344CB8AC3E}">
        <p14:creationId xmlns:p14="http://schemas.microsoft.com/office/powerpoint/2010/main" val="37092171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8D673D-255F-4A2E-81FA-C173B4727615}"/>
              </a:ext>
            </a:extLst>
          </p:cNvPr>
          <p:cNvSpPr>
            <a:spLocks noGrp="1"/>
          </p:cNvSpPr>
          <p:nvPr>
            <p:ph type="title"/>
          </p:nvPr>
        </p:nvSpPr>
        <p:spPr/>
        <p:txBody>
          <a:bodyPr/>
          <a:lstStyle/>
          <a:p>
            <a:r>
              <a:rPr lang="en-US" altLang="zh-TW" dirty="0" err="1"/>
              <a:t>Ollama</a:t>
            </a:r>
            <a:endParaRPr lang="zh-TW" altLang="en-US" dirty="0"/>
          </a:p>
        </p:txBody>
      </p:sp>
      <p:sp>
        <p:nvSpPr>
          <p:cNvPr id="3" name="內容版面配置區 2">
            <a:extLst>
              <a:ext uri="{FF2B5EF4-FFF2-40B4-BE49-F238E27FC236}">
                <a16:creationId xmlns:a16="http://schemas.microsoft.com/office/drawing/2014/main" id="{E8C88F0B-7AEA-483A-859E-EB9851F89B74}"/>
              </a:ext>
            </a:extLst>
          </p:cNvPr>
          <p:cNvSpPr>
            <a:spLocks noGrp="1"/>
          </p:cNvSpPr>
          <p:nvPr>
            <p:ph idx="1"/>
          </p:nvPr>
        </p:nvSpPr>
        <p:spPr/>
        <p:txBody>
          <a:bodyPr/>
          <a:lstStyle/>
          <a:p>
            <a:r>
              <a:rPr lang="en-US" altLang="zh-TW" sz="2400" dirty="0"/>
              <a:t>Great tool for hosting LLMs locally</a:t>
            </a:r>
          </a:p>
          <a:p>
            <a:r>
              <a:rPr lang="en-US" altLang="zh-TW" sz="2400" dirty="0"/>
              <a:t>Based on llama.cpp – optimized for speed</a:t>
            </a:r>
          </a:p>
          <a:p>
            <a:r>
              <a:rPr lang="en-US" altLang="zh-TW" sz="2400" dirty="0"/>
              <a:t>Works on Linux, Windows, macOS</a:t>
            </a:r>
          </a:p>
          <a:p>
            <a:r>
              <a:rPr lang="en-US" altLang="zh-TW" sz="2400" dirty="0"/>
              <a:t>Supports a wide variety of models – if you can’t find the model you are looking for, you can import your own model (in GGUF format)</a:t>
            </a:r>
            <a:endParaRPr lang="zh-TW" altLang="en-US" sz="2400" dirty="0"/>
          </a:p>
        </p:txBody>
      </p:sp>
      <p:sp>
        <p:nvSpPr>
          <p:cNvPr id="4" name="投影片編號版面配置區 3">
            <a:extLst>
              <a:ext uri="{FF2B5EF4-FFF2-40B4-BE49-F238E27FC236}">
                <a16:creationId xmlns:a16="http://schemas.microsoft.com/office/drawing/2014/main" id="{9A9EA638-CFA3-4478-867E-3C5CD5187DE8}"/>
              </a:ext>
            </a:extLst>
          </p:cNvPr>
          <p:cNvSpPr>
            <a:spLocks noGrp="1"/>
          </p:cNvSpPr>
          <p:nvPr>
            <p:ph type="sldNum" sz="quarter" idx="10"/>
          </p:nvPr>
        </p:nvSpPr>
        <p:spPr/>
        <p:txBody>
          <a:bodyPr/>
          <a:lstStyle/>
          <a:p>
            <a:pPr>
              <a:defRPr/>
            </a:pPr>
            <a:fld id="{CF627BE3-1269-44D5-A349-82FD5D94EBD8}" type="slidenum">
              <a:rPr lang="en-US" altLang="zh-TW" smtClean="0"/>
              <a:pPr>
                <a:defRPr/>
              </a:pPr>
              <a:t>79</a:t>
            </a:fld>
            <a:endParaRPr lang="en-US" altLang="zh-TW"/>
          </a:p>
        </p:txBody>
      </p:sp>
    </p:spTree>
    <p:extLst>
      <p:ext uri="{BB962C8B-B14F-4D97-AF65-F5344CB8AC3E}">
        <p14:creationId xmlns:p14="http://schemas.microsoft.com/office/powerpoint/2010/main" val="29212814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39A7E7-E246-4868-B543-5BA47755755D}"/>
              </a:ext>
            </a:extLst>
          </p:cNvPr>
          <p:cNvSpPr>
            <a:spLocks noGrp="1"/>
          </p:cNvSpPr>
          <p:nvPr>
            <p:ph type="title"/>
          </p:nvPr>
        </p:nvSpPr>
        <p:spPr/>
        <p:txBody>
          <a:bodyPr/>
          <a:lstStyle/>
          <a:p>
            <a:r>
              <a:rPr lang="en-US" altLang="zh-TW" dirty="0"/>
              <a:t>Setting Up </a:t>
            </a:r>
            <a:r>
              <a:rPr lang="en-US" altLang="zh-TW" dirty="0" err="1"/>
              <a:t>Ollama</a:t>
            </a:r>
            <a:r>
              <a:rPr lang="en-US" altLang="zh-TW" dirty="0"/>
              <a:t> (Linux)</a:t>
            </a:r>
            <a:endParaRPr lang="zh-TW" altLang="en-US" dirty="0"/>
          </a:p>
        </p:txBody>
      </p:sp>
      <p:sp>
        <p:nvSpPr>
          <p:cNvPr id="4" name="投影片編號版面配置區 3">
            <a:extLst>
              <a:ext uri="{FF2B5EF4-FFF2-40B4-BE49-F238E27FC236}">
                <a16:creationId xmlns:a16="http://schemas.microsoft.com/office/drawing/2014/main" id="{1B6547DA-8D1F-4BFC-BB41-A4D9A8089ABB}"/>
              </a:ext>
            </a:extLst>
          </p:cNvPr>
          <p:cNvSpPr>
            <a:spLocks noGrp="1"/>
          </p:cNvSpPr>
          <p:nvPr>
            <p:ph type="sldNum" sz="quarter" idx="10"/>
          </p:nvPr>
        </p:nvSpPr>
        <p:spPr/>
        <p:txBody>
          <a:bodyPr/>
          <a:lstStyle/>
          <a:p>
            <a:pPr>
              <a:defRPr/>
            </a:pPr>
            <a:fld id="{CF627BE3-1269-44D5-A349-82FD5D94EBD8}" type="slidenum">
              <a:rPr lang="en-US" altLang="zh-TW" smtClean="0"/>
              <a:pPr>
                <a:defRPr/>
              </a:pPr>
              <a:t>80</a:t>
            </a:fld>
            <a:endParaRPr lang="en-US" altLang="zh-TW"/>
          </a:p>
        </p:txBody>
      </p:sp>
      <p:sp>
        <p:nvSpPr>
          <p:cNvPr id="6" name="文字方塊 5">
            <a:extLst>
              <a:ext uri="{FF2B5EF4-FFF2-40B4-BE49-F238E27FC236}">
                <a16:creationId xmlns:a16="http://schemas.microsoft.com/office/drawing/2014/main" id="{BA960110-F8BC-4990-B48F-39FF6DE2EC2B}"/>
              </a:ext>
            </a:extLst>
          </p:cNvPr>
          <p:cNvSpPr txBox="1"/>
          <p:nvPr/>
        </p:nvSpPr>
        <p:spPr>
          <a:xfrm>
            <a:off x="601133" y="1796533"/>
            <a:ext cx="6727370" cy="3477875"/>
          </a:xfrm>
          <a:prstGeom prst="rect">
            <a:avLst/>
          </a:prstGeom>
          <a:noFill/>
        </p:spPr>
        <p:txBody>
          <a:bodyPr wrap="square">
            <a:spAutoFit/>
          </a:bodyPr>
          <a:lstStyle/>
          <a:p>
            <a:r>
              <a:rPr lang="zh-TW" altLang="en-US" sz="2000" dirty="0"/>
              <a:t>curl -fsSL https://ollama.com/install.sh | sh</a:t>
            </a:r>
            <a:endParaRPr lang="en-US" altLang="zh-TW" sz="2000" dirty="0"/>
          </a:p>
          <a:p>
            <a:endParaRPr lang="en-US" altLang="zh-TW" sz="2000" dirty="0"/>
          </a:p>
          <a:p>
            <a:r>
              <a:rPr lang="en-US" altLang="zh-TW" sz="2000" b="1" dirty="0"/>
              <a:t>Downloading a model:</a:t>
            </a:r>
          </a:p>
          <a:p>
            <a:r>
              <a:rPr lang="en-US" altLang="zh-TW" sz="2000" dirty="0" err="1"/>
              <a:t>ollama</a:t>
            </a:r>
            <a:r>
              <a:rPr lang="en-US" altLang="zh-TW" sz="2000" dirty="0"/>
              <a:t> pull gemma3:1b-it-qat</a:t>
            </a:r>
          </a:p>
          <a:p>
            <a:endParaRPr lang="en-US" altLang="zh-TW" sz="2000" dirty="0"/>
          </a:p>
          <a:p>
            <a:r>
              <a:rPr lang="en-US" altLang="zh-TW" sz="2000" b="1" dirty="0"/>
              <a:t>Running a model:</a:t>
            </a:r>
          </a:p>
          <a:p>
            <a:r>
              <a:rPr lang="en-US" altLang="zh-TW" sz="2000" dirty="0" err="1"/>
              <a:t>ollama</a:t>
            </a:r>
            <a:r>
              <a:rPr lang="en-US" altLang="zh-TW" sz="2000" dirty="0"/>
              <a:t> run gemma3:1b-it-qat</a:t>
            </a:r>
          </a:p>
          <a:p>
            <a:endParaRPr lang="en-US" altLang="zh-TW" sz="2000" dirty="0"/>
          </a:p>
          <a:p>
            <a:r>
              <a:rPr lang="en-US" altLang="zh-TW" sz="2000" b="1" dirty="0"/>
              <a:t>Print out all available (downloaded) models</a:t>
            </a:r>
          </a:p>
          <a:p>
            <a:r>
              <a:rPr lang="en-US" altLang="zh-TW" sz="2000" dirty="0" err="1"/>
              <a:t>ollama</a:t>
            </a:r>
            <a:r>
              <a:rPr lang="en-US" altLang="zh-TW" sz="2000" dirty="0"/>
              <a:t> list</a:t>
            </a:r>
          </a:p>
          <a:p>
            <a:endParaRPr lang="en-US" altLang="zh-TW" sz="2000" dirty="0"/>
          </a:p>
        </p:txBody>
      </p:sp>
      <p:sp>
        <p:nvSpPr>
          <p:cNvPr id="7" name="文字方塊 6">
            <a:extLst>
              <a:ext uri="{FF2B5EF4-FFF2-40B4-BE49-F238E27FC236}">
                <a16:creationId xmlns:a16="http://schemas.microsoft.com/office/drawing/2014/main" id="{F3BBBABE-2EC1-4F50-A410-B4AFF99D7D56}"/>
              </a:ext>
            </a:extLst>
          </p:cNvPr>
          <p:cNvSpPr txBox="1"/>
          <p:nvPr/>
        </p:nvSpPr>
        <p:spPr>
          <a:xfrm>
            <a:off x="601133" y="1427201"/>
            <a:ext cx="6727370" cy="400110"/>
          </a:xfrm>
          <a:prstGeom prst="rect">
            <a:avLst/>
          </a:prstGeom>
          <a:noFill/>
        </p:spPr>
        <p:txBody>
          <a:bodyPr wrap="square">
            <a:spAutoFit/>
          </a:bodyPr>
          <a:lstStyle/>
          <a:p>
            <a:r>
              <a:rPr lang="en-US" altLang="zh-TW" sz="2000" b="1" dirty="0"/>
              <a:t>Installation:</a:t>
            </a:r>
            <a:endParaRPr lang="zh-TW" altLang="en-US" sz="2000" b="1" dirty="0"/>
          </a:p>
        </p:txBody>
      </p:sp>
      <p:pic>
        <p:nvPicPr>
          <p:cNvPr id="10" name="圖片 9">
            <a:extLst>
              <a:ext uri="{FF2B5EF4-FFF2-40B4-BE49-F238E27FC236}">
                <a16:creationId xmlns:a16="http://schemas.microsoft.com/office/drawing/2014/main" id="{103644A3-B44E-421C-89A8-2DAE21590E87}"/>
              </a:ext>
            </a:extLst>
          </p:cNvPr>
          <p:cNvPicPr>
            <a:picLocks noChangeAspect="1"/>
          </p:cNvPicPr>
          <p:nvPr/>
        </p:nvPicPr>
        <p:blipFill rotWithShape="1">
          <a:blip r:embed="rId2"/>
          <a:srcRect b="612"/>
          <a:stretch/>
        </p:blipFill>
        <p:spPr>
          <a:xfrm>
            <a:off x="6141592" y="1061702"/>
            <a:ext cx="5618608" cy="4763838"/>
          </a:xfrm>
          <a:prstGeom prst="rect">
            <a:avLst/>
          </a:prstGeom>
        </p:spPr>
      </p:pic>
      <p:sp>
        <p:nvSpPr>
          <p:cNvPr id="11" name="文字方塊 10">
            <a:extLst>
              <a:ext uri="{FF2B5EF4-FFF2-40B4-BE49-F238E27FC236}">
                <a16:creationId xmlns:a16="http://schemas.microsoft.com/office/drawing/2014/main" id="{29B155D0-CC30-4D5E-BE20-9638BA079AA7}"/>
              </a:ext>
            </a:extLst>
          </p:cNvPr>
          <p:cNvSpPr txBox="1"/>
          <p:nvPr/>
        </p:nvSpPr>
        <p:spPr>
          <a:xfrm>
            <a:off x="6141592" y="5853376"/>
            <a:ext cx="5618608" cy="369332"/>
          </a:xfrm>
          <a:prstGeom prst="rect">
            <a:avLst/>
          </a:prstGeom>
          <a:noFill/>
        </p:spPr>
        <p:txBody>
          <a:bodyPr wrap="square">
            <a:spAutoFit/>
          </a:bodyPr>
          <a:lstStyle/>
          <a:p>
            <a:pPr algn="ctr"/>
            <a:r>
              <a:rPr lang="en-US" altLang="zh-TW" dirty="0"/>
              <a:t>A non-exhaustive list of readily available models</a:t>
            </a:r>
            <a:endParaRPr lang="zh-TW" altLang="en-US" dirty="0"/>
          </a:p>
        </p:txBody>
      </p:sp>
    </p:spTree>
    <p:extLst>
      <p:ext uri="{BB962C8B-B14F-4D97-AF65-F5344CB8AC3E}">
        <p14:creationId xmlns:p14="http://schemas.microsoft.com/office/powerpoint/2010/main" val="23019528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39A7E7-E246-4868-B543-5BA47755755D}"/>
              </a:ext>
            </a:extLst>
          </p:cNvPr>
          <p:cNvSpPr>
            <a:spLocks noGrp="1"/>
          </p:cNvSpPr>
          <p:nvPr>
            <p:ph type="title"/>
          </p:nvPr>
        </p:nvSpPr>
        <p:spPr/>
        <p:txBody>
          <a:bodyPr/>
          <a:lstStyle/>
          <a:p>
            <a:r>
              <a:rPr lang="en-US" altLang="zh-TW" dirty="0"/>
              <a:t>Setting Up </a:t>
            </a:r>
            <a:r>
              <a:rPr lang="en-US" altLang="zh-TW" dirty="0" err="1"/>
              <a:t>Ollama</a:t>
            </a:r>
            <a:r>
              <a:rPr lang="en-US" altLang="zh-TW" dirty="0"/>
              <a:t> (Windows)</a:t>
            </a:r>
            <a:endParaRPr lang="zh-TW" altLang="en-US" dirty="0"/>
          </a:p>
        </p:txBody>
      </p:sp>
      <p:sp>
        <p:nvSpPr>
          <p:cNvPr id="4" name="投影片編號版面配置區 3">
            <a:extLst>
              <a:ext uri="{FF2B5EF4-FFF2-40B4-BE49-F238E27FC236}">
                <a16:creationId xmlns:a16="http://schemas.microsoft.com/office/drawing/2014/main" id="{1B6547DA-8D1F-4BFC-BB41-A4D9A8089ABB}"/>
              </a:ext>
            </a:extLst>
          </p:cNvPr>
          <p:cNvSpPr>
            <a:spLocks noGrp="1"/>
          </p:cNvSpPr>
          <p:nvPr>
            <p:ph type="sldNum" sz="quarter" idx="10"/>
          </p:nvPr>
        </p:nvSpPr>
        <p:spPr/>
        <p:txBody>
          <a:bodyPr/>
          <a:lstStyle/>
          <a:p>
            <a:pPr>
              <a:defRPr/>
            </a:pPr>
            <a:fld id="{CF627BE3-1269-44D5-A349-82FD5D94EBD8}" type="slidenum">
              <a:rPr lang="en-US" altLang="zh-TW" smtClean="0"/>
              <a:pPr>
                <a:defRPr/>
              </a:pPr>
              <a:t>81</a:t>
            </a:fld>
            <a:endParaRPr lang="en-US" altLang="zh-TW"/>
          </a:p>
        </p:txBody>
      </p:sp>
      <p:sp>
        <p:nvSpPr>
          <p:cNvPr id="11" name="文字方塊 10">
            <a:extLst>
              <a:ext uri="{FF2B5EF4-FFF2-40B4-BE49-F238E27FC236}">
                <a16:creationId xmlns:a16="http://schemas.microsoft.com/office/drawing/2014/main" id="{29B155D0-CC30-4D5E-BE20-9638BA079AA7}"/>
              </a:ext>
            </a:extLst>
          </p:cNvPr>
          <p:cNvSpPr txBox="1"/>
          <p:nvPr/>
        </p:nvSpPr>
        <p:spPr>
          <a:xfrm>
            <a:off x="1363507" y="5960924"/>
            <a:ext cx="9634317" cy="369332"/>
          </a:xfrm>
          <a:prstGeom prst="rect">
            <a:avLst/>
          </a:prstGeom>
          <a:noFill/>
        </p:spPr>
        <p:txBody>
          <a:bodyPr wrap="square">
            <a:spAutoFit/>
          </a:bodyPr>
          <a:lstStyle/>
          <a:p>
            <a:pPr algn="ctr"/>
            <a:r>
              <a:rPr lang="en-US" altLang="zh-TW" dirty="0"/>
              <a:t>A straightforward installer is available for Windows (simply download and run)</a:t>
            </a:r>
            <a:endParaRPr lang="zh-TW" altLang="en-US" dirty="0"/>
          </a:p>
        </p:txBody>
      </p:sp>
      <p:pic>
        <p:nvPicPr>
          <p:cNvPr id="5" name="圖片 4">
            <a:extLst>
              <a:ext uri="{FF2B5EF4-FFF2-40B4-BE49-F238E27FC236}">
                <a16:creationId xmlns:a16="http://schemas.microsoft.com/office/drawing/2014/main" id="{96FEE0F7-7866-45F5-AD4B-5523F7FEFA0F}"/>
              </a:ext>
            </a:extLst>
          </p:cNvPr>
          <p:cNvPicPr>
            <a:picLocks noChangeAspect="1"/>
          </p:cNvPicPr>
          <p:nvPr/>
        </p:nvPicPr>
        <p:blipFill>
          <a:blip r:embed="rId2"/>
          <a:stretch>
            <a:fillRect/>
          </a:stretch>
        </p:blipFill>
        <p:spPr>
          <a:xfrm>
            <a:off x="2475995" y="1113581"/>
            <a:ext cx="7409341" cy="4630838"/>
          </a:xfrm>
          <a:prstGeom prst="rect">
            <a:avLst/>
          </a:prstGeom>
        </p:spPr>
      </p:pic>
    </p:spTree>
    <p:extLst>
      <p:ext uri="{BB962C8B-B14F-4D97-AF65-F5344CB8AC3E}">
        <p14:creationId xmlns:p14="http://schemas.microsoft.com/office/powerpoint/2010/main" val="37663287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39A7E7-E246-4868-B543-5BA47755755D}"/>
              </a:ext>
            </a:extLst>
          </p:cNvPr>
          <p:cNvSpPr>
            <a:spLocks noGrp="1"/>
          </p:cNvSpPr>
          <p:nvPr>
            <p:ph type="title"/>
          </p:nvPr>
        </p:nvSpPr>
        <p:spPr/>
        <p:txBody>
          <a:bodyPr/>
          <a:lstStyle/>
          <a:p>
            <a:r>
              <a:rPr lang="en-US" altLang="zh-TW" dirty="0"/>
              <a:t>Running </a:t>
            </a:r>
            <a:r>
              <a:rPr lang="en-US" altLang="zh-TW" dirty="0" err="1"/>
              <a:t>Ollama</a:t>
            </a:r>
            <a:r>
              <a:rPr lang="en-US" altLang="zh-TW" dirty="0"/>
              <a:t> as a Chatbot on Command Line</a:t>
            </a:r>
            <a:endParaRPr lang="zh-TW" altLang="en-US" dirty="0"/>
          </a:p>
        </p:txBody>
      </p:sp>
      <p:sp>
        <p:nvSpPr>
          <p:cNvPr id="4" name="投影片編號版面配置區 3">
            <a:extLst>
              <a:ext uri="{FF2B5EF4-FFF2-40B4-BE49-F238E27FC236}">
                <a16:creationId xmlns:a16="http://schemas.microsoft.com/office/drawing/2014/main" id="{1B6547DA-8D1F-4BFC-BB41-A4D9A8089ABB}"/>
              </a:ext>
            </a:extLst>
          </p:cNvPr>
          <p:cNvSpPr>
            <a:spLocks noGrp="1"/>
          </p:cNvSpPr>
          <p:nvPr>
            <p:ph type="sldNum" sz="quarter" idx="10"/>
          </p:nvPr>
        </p:nvSpPr>
        <p:spPr/>
        <p:txBody>
          <a:bodyPr/>
          <a:lstStyle/>
          <a:p>
            <a:pPr>
              <a:defRPr/>
            </a:pPr>
            <a:fld id="{CF627BE3-1269-44D5-A349-82FD5D94EBD8}" type="slidenum">
              <a:rPr lang="en-US" altLang="zh-TW" smtClean="0"/>
              <a:pPr>
                <a:defRPr/>
              </a:pPr>
              <a:t>82</a:t>
            </a:fld>
            <a:endParaRPr lang="en-US" altLang="zh-TW"/>
          </a:p>
        </p:txBody>
      </p:sp>
      <p:sp>
        <p:nvSpPr>
          <p:cNvPr id="6" name="文字方塊 5">
            <a:extLst>
              <a:ext uri="{FF2B5EF4-FFF2-40B4-BE49-F238E27FC236}">
                <a16:creationId xmlns:a16="http://schemas.microsoft.com/office/drawing/2014/main" id="{BA960110-F8BC-4990-B48F-39FF6DE2EC2B}"/>
              </a:ext>
            </a:extLst>
          </p:cNvPr>
          <p:cNvSpPr txBox="1"/>
          <p:nvPr/>
        </p:nvSpPr>
        <p:spPr>
          <a:xfrm>
            <a:off x="2816981" y="5842337"/>
            <a:ext cx="6727370" cy="707886"/>
          </a:xfrm>
          <a:prstGeom prst="rect">
            <a:avLst/>
          </a:prstGeom>
          <a:noFill/>
        </p:spPr>
        <p:txBody>
          <a:bodyPr wrap="square">
            <a:spAutoFit/>
          </a:bodyPr>
          <a:lstStyle/>
          <a:p>
            <a:pPr algn="ctr"/>
            <a:r>
              <a:rPr lang="en-US" altLang="zh-TW" sz="2000" dirty="0"/>
              <a:t>Use the command:</a:t>
            </a:r>
            <a:r>
              <a:rPr lang="en-US" altLang="zh-TW" sz="2000" b="1" dirty="0"/>
              <a:t> </a:t>
            </a:r>
            <a:r>
              <a:rPr lang="en-US" altLang="zh-TW" sz="2000" b="1" dirty="0" err="1"/>
              <a:t>ollama</a:t>
            </a:r>
            <a:r>
              <a:rPr lang="en-US" altLang="zh-TW" sz="2000" b="1" dirty="0"/>
              <a:t> run</a:t>
            </a:r>
            <a:r>
              <a:rPr lang="en-US" altLang="zh-TW" sz="2000" dirty="0"/>
              <a:t> gemma3:1b-it-qat</a:t>
            </a:r>
          </a:p>
          <a:p>
            <a:endParaRPr lang="en-US" altLang="zh-TW" sz="2000" dirty="0"/>
          </a:p>
        </p:txBody>
      </p:sp>
      <p:pic>
        <p:nvPicPr>
          <p:cNvPr id="5" name="圖片 4">
            <a:extLst>
              <a:ext uri="{FF2B5EF4-FFF2-40B4-BE49-F238E27FC236}">
                <a16:creationId xmlns:a16="http://schemas.microsoft.com/office/drawing/2014/main" id="{41133749-4F75-4C87-A792-D46F1988692E}"/>
              </a:ext>
            </a:extLst>
          </p:cNvPr>
          <p:cNvPicPr>
            <a:picLocks noChangeAspect="1"/>
          </p:cNvPicPr>
          <p:nvPr/>
        </p:nvPicPr>
        <p:blipFill rotWithShape="1">
          <a:blip r:embed="rId2"/>
          <a:srcRect l="12693" t="23460" r="8931" b="23375"/>
          <a:stretch/>
        </p:blipFill>
        <p:spPr>
          <a:xfrm>
            <a:off x="601132" y="1124283"/>
            <a:ext cx="10872409" cy="4609433"/>
          </a:xfrm>
          <a:prstGeom prst="rect">
            <a:avLst/>
          </a:prstGeom>
        </p:spPr>
      </p:pic>
    </p:spTree>
    <p:extLst>
      <p:ext uri="{BB962C8B-B14F-4D97-AF65-F5344CB8AC3E}">
        <p14:creationId xmlns:p14="http://schemas.microsoft.com/office/powerpoint/2010/main" val="6088412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39A7E7-E246-4868-B543-5BA47755755D}"/>
              </a:ext>
            </a:extLst>
          </p:cNvPr>
          <p:cNvSpPr>
            <a:spLocks noGrp="1"/>
          </p:cNvSpPr>
          <p:nvPr>
            <p:ph type="title"/>
          </p:nvPr>
        </p:nvSpPr>
        <p:spPr/>
        <p:txBody>
          <a:bodyPr/>
          <a:lstStyle/>
          <a:p>
            <a:r>
              <a:rPr lang="en-US" altLang="zh-TW" dirty="0"/>
              <a:t>Working With </a:t>
            </a:r>
            <a:r>
              <a:rPr lang="en-US" altLang="zh-TW" dirty="0" err="1"/>
              <a:t>Modelfiles</a:t>
            </a:r>
            <a:r>
              <a:rPr lang="en-US" altLang="zh-TW" dirty="0"/>
              <a:t> in </a:t>
            </a:r>
            <a:r>
              <a:rPr lang="en-US" altLang="zh-TW" dirty="0" err="1"/>
              <a:t>Ollama</a:t>
            </a:r>
            <a:r>
              <a:rPr lang="en-US" altLang="zh-TW" dirty="0"/>
              <a:t> (Linux)</a:t>
            </a:r>
            <a:endParaRPr lang="zh-TW" altLang="en-US" dirty="0"/>
          </a:p>
        </p:txBody>
      </p:sp>
      <p:sp>
        <p:nvSpPr>
          <p:cNvPr id="4" name="投影片編號版面配置區 3">
            <a:extLst>
              <a:ext uri="{FF2B5EF4-FFF2-40B4-BE49-F238E27FC236}">
                <a16:creationId xmlns:a16="http://schemas.microsoft.com/office/drawing/2014/main" id="{1B6547DA-8D1F-4BFC-BB41-A4D9A8089ABB}"/>
              </a:ext>
            </a:extLst>
          </p:cNvPr>
          <p:cNvSpPr>
            <a:spLocks noGrp="1"/>
          </p:cNvSpPr>
          <p:nvPr>
            <p:ph type="sldNum" sz="quarter" idx="10"/>
          </p:nvPr>
        </p:nvSpPr>
        <p:spPr/>
        <p:txBody>
          <a:bodyPr/>
          <a:lstStyle/>
          <a:p>
            <a:pPr>
              <a:defRPr/>
            </a:pPr>
            <a:fld id="{CF627BE3-1269-44D5-A349-82FD5D94EBD8}" type="slidenum">
              <a:rPr lang="en-US" altLang="zh-TW" smtClean="0"/>
              <a:pPr>
                <a:defRPr/>
              </a:pPr>
              <a:t>83</a:t>
            </a:fld>
            <a:endParaRPr lang="en-US" altLang="zh-TW"/>
          </a:p>
        </p:txBody>
      </p:sp>
      <p:sp>
        <p:nvSpPr>
          <p:cNvPr id="6" name="文字方塊 5">
            <a:extLst>
              <a:ext uri="{FF2B5EF4-FFF2-40B4-BE49-F238E27FC236}">
                <a16:creationId xmlns:a16="http://schemas.microsoft.com/office/drawing/2014/main" id="{BA960110-F8BC-4990-B48F-39FF6DE2EC2B}"/>
              </a:ext>
            </a:extLst>
          </p:cNvPr>
          <p:cNvSpPr txBox="1"/>
          <p:nvPr/>
        </p:nvSpPr>
        <p:spPr>
          <a:xfrm>
            <a:off x="514046" y="1693592"/>
            <a:ext cx="7846181" cy="2862322"/>
          </a:xfrm>
          <a:prstGeom prst="rect">
            <a:avLst/>
          </a:prstGeom>
          <a:noFill/>
        </p:spPr>
        <p:txBody>
          <a:bodyPr wrap="square">
            <a:spAutoFit/>
          </a:bodyPr>
          <a:lstStyle/>
          <a:p>
            <a:endParaRPr lang="en-US" altLang="zh-TW" sz="2000" dirty="0"/>
          </a:p>
          <a:p>
            <a:r>
              <a:rPr lang="en-US" altLang="zh-TW" sz="2000" b="1" dirty="0"/>
              <a:t>Running your own model:</a:t>
            </a:r>
          </a:p>
          <a:p>
            <a:r>
              <a:rPr lang="en-US" altLang="zh-TW" sz="2000" dirty="0"/>
              <a:t>&gt;&gt;&gt;</a:t>
            </a:r>
            <a:r>
              <a:rPr lang="zh-TW" altLang="en-US" sz="2000" dirty="0"/>
              <a:t> </a:t>
            </a:r>
            <a:r>
              <a:rPr lang="en-US" altLang="zh-TW" sz="2000" dirty="0" err="1"/>
              <a:t>ollama</a:t>
            </a:r>
            <a:r>
              <a:rPr lang="en-US" altLang="zh-TW" sz="2000" dirty="0"/>
              <a:t> create </a:t>
            </a:r>
            <a:r>
              <a:rPr lang="en-US" altLang="zh-TW" sz="2000" dirty="0" err="1"/>
              <a:t>mymodel</a:t>
            </a:r>
            <a:r>
              <a:rPr lang="en-US" altLang="zh-TW" sz="2000" dirty="0"/>
              <a:t> –f modelfile.txt</a:t>
            </a:r>
          </a:p>
          <a:p>
            <a:r>
              <a:rPr lang="en-US" altLang="zh-TW" sz="2000" dirty="0"/>
              <a:t>&gt;&gt;&gt;</a:t>
            </a:r>
            <a:r>
              <a:rPr lang="zh-TW" altLang="en-US" sz="2000" dirty="0"/>
              <a:t> </a:t>
            </a:r>
            <a:r>
              <a:rPr lang="en-US" altLang="zh-TW" sz="2000" dirty="0" err="1"/>
              <a:t>ollama</a:t>
            </a:r>
            <a:r>
              <a:rPr lang="en-US" altLang="zh-TW" sz="2000" dirty="0"/>
              <a:t> run </a:t>
            </a:r>
            <a:r>
              <a:rPr lang="en-US" altLang="zh-TW" sz="2000" dirty="0" err="1"/>
              <a:t>mymodel</a:t>
            </a:r>
            <a:endParaRPr lang="en-US" altLang="zh-TW" sz="2000" dirty="0"/>
          </a:p>
          <a:p>
            <a:endParaRPr lang="en-US" altLang="zh-TW" sz="2000" dirty="0"/>
          </a:p>
          <a:p>
            <a:r>
              <a:rPr lang="en-US" altLang="zh-TW" sz="2000" b="1" dirty="0"/>
              <a:t>Quantizing a model:</a:t>
            </a:r>
          </a:p>
          <a:p>
            <a:r>
              <a:rPr lang="en-US" altLang="zh-TW" sz="2000" dirty="0"/>
              <a:t>&gt;&gt;&gt;</a:t>
            </a:r>
            <a:r>
              <a:rPr lang="zh-TW" altLang="en-US" sz="2000" dirty="0"/>
              <a:t> </a:t>
            </a:r>
            <a:r>
              <a:rPr lang="it-IT" altLang="zh-TW" sz="2000" dirty="0"/>
              <a:t>ollama create --quantize q4_K_M mymodel_q –f </a:t>
            </a:r>
            <a:r>
              <a:rPr lang="en-US" altLang="zh-TW" sz="2000" dirty="0"/>
              <a:t>modelfile.txt</a:t>
            </a:r>
            <a:endParaRPr lang="it-IT" altLang="zh-TW" sz="2000" dirty="0"/>
          </a:p>
          <a:p>
            <a:r>
              <a:rPr lang="en-US" altLang="zh-TW" sz="2000" dirty="0"/>
              <a:t>&gt;&gt;&gt;</a:t>
            </a:r>
            <a:r>
              <a:rPr lang="zh-TW" altLang="en-US" sz="2000" dirty="0"/>
              <a:t> </a:t>
            </a:r>
            <a:r>
              <a:rPr lang="en-US" altLang="zh-TW" sz="2000" dirty="0" err="1"/>
              <a:t>ollama</a:t>
            </a:r>
            <a:r>
              <a:rPr lang="en-US" altLang="zh-TW" sz="2000" dirty="0"/>
              <a:t> run </a:t>
            </a:r>
            <a:r>
              <a:rPr lang="it-IT" altLang="zh-TW" sz="2000" dirty="0"/>
              <a:t>mymodel_q </a:t>
            </a:r>
            <a:endParaRPr lang="en-US" altLang="zh-TW" sz="2000" dirty="0"/>
          </a:p>
          <a:p>
            <a:endParaRPr lang="en-US" altLang="zh-TW" sz="2000" dirty="0"/>
          </a:p>
        </p:txBody>
      </p:sp>
      <p:sp>
        <p:nvSpPr>
          <p:cNvPr id="7" name="文字方塊 6">
            <a:extLst>
              <a:ext uri="{FF2B5EF4-FFF2-40B4-BE49-F238E27FC236}">
                <a16:creationId xmlns:a16="http://schemas.microsoft.com/office/drawing/2014/main" id="{F3BBBABE-2EC1-4F50-A410-B4AFF99D7D56}"/>
              </a:ext>
            </a:extLst>
          </p:cNvPr>
          <p:cNvSpPr txBox="1"/>
          <p:nvPr/>
        </p:nvSpPr>
        <p:spPr>
          <a:xfrm>
            <a:off x="514047" y="1324260"/>
            <a:ext cx="10330542" cy="400110"/>
          </a:xfrm>
          <a:prstGeom prst="rect">
            <a:avLst/>
          </a:prstGeom>
          <a:noFill/>
        </p:spPr>
        <p:txBody>
          <a:bodyPr wrap="square">
            <a:spAutoFit/>
          </a:bodyPr>
          <a:lstStyle/>
          <a:p>
            <a:r>
              <a:rPr lang="en-US" altLang="zh-TW" sz="2000" b="1" dirty="0"/>
              <a:t>With </a:t>
            </a:r>
            <a:r>
              <a:rPr lang="en-US" altLang="zh-TW" sz="2000" b="1" dirty="0" err="1"/>
              <a:t>Modelfiles</a:t>
            </a:r>
            <a:r>
              <a:rPr lang="en-US" altLang="zh-TW" sz="2000" b="1" dirty="0"/>
              <a:t>, you can have greater control over the LLM hosted on </a:t>
            </a:r>
            <a:r>
              <a:rPr lang="en-US" altLang="zh-TW" sz="2000" b="1" dirty="0" err="1"/>
              <a:t>Ollama</a:t>
            </a:r>
            <a:endParaRPr lang="zh-TW" altLang="en-US" sz="2000" b="1" dirty="0"/>
          </a:p>
        </p:txBody>
      </p:sp>
      <p:sp>
        <p:nvSpPr>
          <p:cNvPr id="11" name="文字方塊 10">
            <a:extLst>
              <a:ext uri="{FF2B5EF4-FFF2-40B4-BE49-F238E27FC236}">
                <a16:creationId xmlns:a16="http://schemas.microsoft.com/office/drawing/2014/main" id="{29B155D0-CC30-4D5E-BE20-9638BA079AA7}"/>
              </a:ext>
            </a:extLst>
          </p:cNvPr>
          <p:cNvSpPr txBox="1"/>
          <p:nvPr/>
        </p:nvSpPr>
        <p:spPr>
          <a:xfrm>
            <a:off x="8087362" y="5266830"/>
            <a:ext cx="3977640" cy="923330"/>
          </a:xfrm>
          <a:prstGeom prst="rect">
            <a:avLst/>
          </a:prstGeom>
          <a:noFill/>
        </p:spPr>
        <p:txBody>
          <a:bodyPr wrap="square">
            <a:spAutoFit/>
          </a:bodyPr>
          <a:lstStyle/>
          <a:p>
            <a:pPr algn="ctr"/>
            <a:r>
              <a:rPr lang="en-US" altLang="zh-TW" dirty="0"/>
              <a:t>An example of what a </a:t>
            </a:r>
            <a:r>
              <a:rPr lang="en-US" altLang="zh-TW" dirty="0" err="1"/>
              <a:t>Modelfile</a:t>
            </a:r>
            <a:r>
              <a:rPr lang="en-US" altLang="zh-TW" dirty="0"/>
              <a:t> would look like. The FROM line is mandatory (path to the model)</a:t>
            </a:r>
            <a:endParaRPr lang="zh-TW" altLang="en-US" dirty="0"/>
          </a:p>
        </p:txBody>
      </p:sp>
      <p:pic>
        <p:nvPicPr>
          <p:cNvPr id="8" name="圖片 7">
            <a:extLst>
              <a:ext uri="{FF2B5EF4-FFF2-40B4-BE49-F238E27FC236}">
                <a16:creationId xmlns:a16="http://schemas.microsoft.com/office/drawing/2014/main" id="{2D4A79E0-8C4F-426C-96A6-EBC3E5755398}"/>
              </a:ext>
            </a:extLst>
          </p:cNvPr>
          <p:cNvPicPr>
            <a:picLocks noChangeAspect="1"/>
          </p:cNvPicPr>
          <p:nvPr/>
        </p:nvPicPr>
        <p:blipFill rotWithShape="1">
          <a:blip r:embed="rId2"/>
          <a:srcRect l="3208" r="70430" b="13499"/>
          <a:stretch/>
        </p:blipFill>
        <p:spPr>
          <a:xfrm>
            <a:off x="8087362" y="1799724"/>
            <a:ext cx="3977640" cy="3423957"/>
          </a:xfrm>
          <a:prstGeom prst="rect">
            <a:avLst/>
          </a:prstGeom>
        </p:spPr>
      </p:pic>
    </p:spTree>
    <p:extLst>
      <p:ext uri="{BB962C8B-B14F-4D97-AF65-F5344CB8AC3E}">
        <p14:creationId xmlns:p14="http://schemas.microsoft.com/office/powerpoint/2010/main" val="23495824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17B23F-48D3-4F10-BEC7-BB4CAAAEB1F4}"/>
              </a:ext>
            </a:extLst>
          </p:cNvPr>
          <p:cNvSpPr>
            <a:spLocks noGrp="1"/>
          </p:cNvSpPr>
          <p:nvPr>
            <p:ph type="title"/>
          </p:nvPr>
        </p:nvSpPr>
        <p:spPr/>
        <p:txBody>
          <a:bodyPr/>
          <a:lstStyle/>
          <a:p>
            <a:r>
              <a:rPr lang="en-US" altLang="zh-TW" dirty="0"/>
              <a:t>Using </a:t>
            </a:r>
            <a:r>
              <a:rPr lang="en-US" altLang="zh-TW" dirty="0" err="1"/>
              <a:t>Ollama</a:t>
            </a:r>
            <a:r>
              <a:rPr lang="en-US" altLang="zh-TW" dirty="0"/>
              <a:t> as a Server</a:t>
            </a:r>
            <a:endParaRPr lang="zh-TW" altLang="en-US" dirty="0"/>
          </a:p>
        </p:txBody>
      </p:sp>
      <p:sp>
        <p:nvSpPr>
          <p:cNvPr id="3" name="內容版面配置區 2">
            <a:extLst>
              <a:ext uri="{FF2B5EF4-FFF2-40B4-BE49-F238E27FC236}">
                <a16:creationId xmlns:a16="http://schemas.microsoft.com/office/drawing/2014/main" id="{F90C46FD-F674-482A-B82F-CEE188EF4689}"/>
              </a:ext>
            </a:extLst>
          </p:cNvPr>
          <p:cNvSpPr>
            <a:spLocks noGrp="1"/>
          </p:cNvSpPr>
          <p:nvPr>
            <p:ph idx="1"/>
          </p:nvPr>
        </p:nvSpPr>
        <p:spPr/>
        <p:txBody>
          <a:bodyPr/>
          <a:lstStyle/>
          <a:p>
            <a:r>
              <a:rPr lang="en-US" altLang="zh-TW" sz="2800" dirty="0"/>
              <a:t>A command line chatbot isn’t very useful, but </a:t>
            </a:r>
            <a:r>
              <a:rPr lang="en-US" altLang="zh-TW" sz="2800" dirty="0" err="1"/>
              <a:t>Ollama</a:t>
            </a:r>
            <a:r>
              <a:rPr lang="en-US" altLang="zh-TW" sz="2800" dirty="0"/>
              <a:t> can be used as a server to handle query requests</a:t>
            </a:r>
          </a:p>
          <a:p>
            <a:r>
              <a:rPr lang="en-US" altLang="zh-TW" sz="2800" dirty="0"/>
              <a:t>How do we set up an </a:t>
            </a:r>
            <a:r>
              <a:rPr lang="en-US" altLang="zh-TW" sz="2800" dirty="0" err="1"/>
              <a:t>Ollama</a:t>
            </a:r>
            <a:r>
              <a:rPr lang="en-US" altLang="zh-TW" sz="2800" dirty="0"/>
              <a:t> server?</a:t>
            </a:r>
          </a:p>
          <a:p>
            <a:pPr lvl="1"/>
            <a:r>
              <a:rPr lang="en-US" altLang="zh-TW" sz="2400" dirty="0"/>
              <a:t>On your machine’s bootup, </a:t>
            </a:r>
            <a:r>
              <a:rPr lang="en-US" altLang="zh-TW" sz="2400" dirty="0" err="1"/>
              <a:t>Ollama</a:t>
            </a:r>
            <a:r>
              <a:rPr lang="en-US" altLang="zh-TW" sz="2400" dirty="0"/>
              <a:t> should already be running by default, if not, run </a:t>
            </a:r>
            <a:r>
              <a:rPr lang="en-US" altLang="zh-TW" sz="2400" dirty="0" err="1">
                <a:latin typeface="Consolas" panose="020B0609020204030204" pitchFamily="49" charset="0"/>
              </a:rPr>
              <a:t>ollama</a:t>
            </a:r>
            <a:r>
              <a:rPr lang="en-US" altLang="zh-TW" sz="2400" dirty="0">
                <a:latin typeface="Consolas" panose="020B0609020204030204" pitchFamily="49" charset="0"/>
              </a:rPr>
              <a:t> serve</a:t>
            </a:r>
          </a:p>
          <a:p>
            <a:r>
              <a:rPr lang="en-US" altLang="zh-TW" sz="2800" dirty="0"/>
              <a:t>What models are available?</a:t>
            </a:r>
          </a:p>
          <a:p>
            <a:pPr lvl="1"/>
            <a:r>
              <a:rPr lang="en-US" altLang="zh-TW" sz="2400" dirty="0"/>
              <a:t>All of the model listed when you call </a:t>
            </a:r>
            <a:r>
              <a:rPr lang="en-US" altLang="zh-TW" sz="2400" dirty="0" err="1">
                <a:latin typeface="Consolas" panose="020B0609020204030204" pitchFamily="49" charset="0"/>
              </a:rPr>
              <a:t>ollama</a:t>
            </a:r>
            <a:r>
              <a:rPr lang="en-US" altLang="zh-TW" sz="2400" dirty="0">
                <a:latin typeface="Consolas" panose="020B0609020204030204" pitchFamily="49" charset="0"/>
              </a:rPr>
              <a:t> list</a:t>
            </a:r>
            <a:endParaRPr lang="en-US" altLang="zh-TW" sz="2400" dirty="0"/>
          </a:p>
          <a:p>
            <a:r>
              <a:rPr lang="en-US" altLang="zh-TW" sz="2800" dirty="0"/>
              <a:t>What is the server’s address?</a:t>
            </a:r>
          </a:p>
          <a:p>
            <a:pPr lvl="1"/>
            <a:r>
              <a:rPr lang="en-US" altLang="zh-TW" sz="2400" dirty="0"/>
              <a:t>By default, the </a:t>
            </a:r>
            <a:r>
              <a:rPr lang="en-US" altLang="zh-TW" sz="2400" dirty="0" err="1"/>
              <a:t>Ollama</a:t>
            </a:r>
            <a:r>
              <a:rPr lang="en-US" altLang="zh-TW" sz="2400" dirty="0"/>
              <a:t> server is posted on </a:t>
            </a:r>
            <a:r>
              <a:rPr lang="en-US" altLang="zh-TW" sz="2400" dirty="0">
                <a:hlinkClick r:id="rId2"/>
              </a:rPr>
              <a:t>http://localhost:11434/v1</a:t>
            </a:r>
            <a:r>
              <a:rPr lang="en-US" altLang="zh-TW" sz="2400" dirty="0"/>
              <a:t> </a:t>
            </a:r>
            <a:endParaRPr lang="zh-TW" altLang="en-US" sz="2400" dirty="0"/>
          </a:p>
        </p:txBody>
      </p:sp>
      <p:sp>
        <p:nvSpPr>
          <p:cNvPr id="4" name="投影片編號版面配置區 3">
            <a:extLst>
              <a:ext uri="{FF2B5EF4-FFF2-40B4-BE49-F238E27FC236}">
                <a16:creationId xmlns:a16="http://schemas.microsoft.com/office/drawing/2014/main" id="{FF71D4C1-E7A0-4C36-938F-DF1C236759B4}"/>
              </a:ext>
            </a:extLst>
          </p:cNvPr>
          <p:cNvSpPr>
            <a:spLocks noGrp="1"/>
          </p:cNvSpPr>
          <p:nvPr>
            <p:ph type="sldNum" sz="quarter" idx="10"/>
          </p:nvPr>
        </p:nvSpPr>
        <p:spPr/>
        <p:txBody>
          <a:bodyPr/>
          <a:lstStyle/>
          <a:p>
            <a:pPr>
              <a:defRPr/>
            </a:pPr>
            <a:fld id="{CF627BE3-1269-44D5-A349-82FD5D94EBD8}" type="slidenum">
              <a:rPr lang="en-US" altLang="zh-TW" smtClean="0"/>
              <a:pPr>
                <a:defRPr/>
              </a:pPr>
              <a:t>84</a:t>
            </a:fld>
            <a:endParaRPr lang="en-US" altLang="zh-TW"/>
          </a:p>
        </p:txBody>
      </p:sp>
    </p:spTree>
    <p:extLst>
      <p:ext uri="{BB962C8B-B14F-4D97-AF65-F5344CB8AC3E}">
        <p14:creationId xmlns:p14="http://schemas.microsoft.com/office/powerpoint/2010/main" val="40520569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17B23F-48D3-4F10-BEC7-BB4CAAAEB1F4}"/>
              </a:ext>
            </a:extLst>
          </p:cNvPr>
          <p:cNvSpPr>
            <a:spLocks noGrp="1"/>
          </p:cNvSpPr>
          <p:nvPr>
            <p:ph type="title"/>
          </p:nvPr>
        </p:nvSpPr>
        <p:spPr/>
        <p:txBody>
          <a:bodyPr/>
          <a:lstStyle/>
          <a:p>
            <a:r>
              <a:rPr lang="en-US" altLang="zh-TW" sz="2800" dirty="0"/>
              <a:t>Sending a Query to Your </a:t>
            </a:r>
            <a:r>
              <a:rPr lang="en-US" altLang="zh-TW" sz="2800" dirty="0" err="1"/>
              <a:t>Ollama</a:t>
            </a:r>
            <a:r>
              <a:rPr lang="en-US" altLang="zh-TW" sz="2800" dirty="0"/>
              <a:t> Server (inference_ollama.py)</a:t>
            </a:r>
            <a:endParaRPr lang="zh-TW" altLang="en-US" sz="2800" dirty="0"/>
          </a:p>
        </p:txBody>
      </p:sp>
      <p:sp>
        <p:nvSpPr>
          <p:cNvPr id="4" name="投影片編號版面配置區 3">
            <a:extLst>
              <a:ext uri="{FF2B5EF4-FFF2-40B4-BE49-F238E27FC236}">
                <a16:creationId xmlns:a16="http://schemas.microsoft.com/office/drawing/2014/main" id="{FF71D4C1-E7A0-4C36-938F-DF1C236759B4}"/>
              </a:ext>
            </a:extLst>
          </p:cNvPr>
          <p:cNvSpPr>
            <a:spLocks noGrp="1"/>
          </p:cNvSpPr>
          <p:nvPr>
            <p:ph type="sldNum" sz="quarter" idx="10"/>
          </p:nvPr>
        </p:nvSpPr>
        <p:spPr/>
        <p:txBody>
          <a:bodyPr/>
          <a:lstStyle/>
          <a:p>
            <a:pPr>
              <a:defRPr/>
            </a:pPr>
            <a:fld id="{CF627BE3-1269-44D5-A349-82FD5D94EBD8}" type="slidenum">
              <a:rPr lang="en-US" altLang="zh-TW" smtClean="0"/>
              <a:pPr>
                <a:defRPr/>
              </a:pPr>
              <a:t>85</a:t>
            </a:fld>
            <a:endParaRPr lang="en-US" altLang="zh-TW"/>
          </a:p>
        </p:txBody>
      </p:sp>
      <p:pic>
        <p:nvPicPr>
          <p:cNvPr id="7" name="內容版面配置區 6">
            <a:extLst>
              <a:ext uri="{FF2B5EF4-FFF2-40B4-BE49-F238E27FC236}">
                <a16:creationId xmlns:a16="http://schemas.microsoft.com/office/drawing/2014/main" id="{279B6DF6-D8A4-4A80-8004-C623DD4436A9}"/>
              </a:ext>
            </a:extLst>
          </p:cNvPr>
          <p:cNvPicPr>
            <a:picLocks noGrp="1" noChangeAspect="1"/>
          </p:cNvPicPr>
          <p:nvPr>
            <p:ph idx="1"/>
          </p:nvPr>
        </p:nvPicPr>
        <p:blipFill>
          <a:blip r:embed="rId2"/>
          <a:stretch>
            <a:fillRect/>
          </a:stretch>
        </p:blipFill>
        <p:spPr>
          <a:xfrm>
            <a:off x="126998" y="3298784"/>
            <a:ext cx="9737112" cy="2766349"/>
          </a:xfrm>
        </p:spPr>
      </p:pic>
      <p:pic>
        <p:nvPicPr>
          <p:cNvPr id="9" name="圖片 8">
            <a:extLst>
              <a:ext uri="{FF2B5EF4-FFF2-40B4-BE49-F238E27FC236}">
                <a16:creationId xmlns:a16="http://schemas.microsoft.com/office/drawing/2014/main" id="{A5C53D4B-D69E-43EC-90A8-B9026ABD83C1}"/>
              </a:ext>
            </a:extLst>
          </p:cNvPr>
          <p:cNvPicPr>
            <a:picLocks noChangeAspect="1"/>
          </p:cNvPicPr>
          <p:nvPr/>
        </p:nvPicPr>
        <p:blipFill>
          <a:blip r:embed="rId3"/>
          <a:stretch>
            <a:fillRect/>
          </a:stretch>
        </p:blipFill>
        <p:spPr>
          <a:xfrm>
            <a:off x="219709" y="1151519"/>
            <a:ext cx="9019914" cy="1823175"/>
          </a:xfrm>
          <a:prstGeom prst="rect">
            <a:avLst/>
          </a:prstGeom>
        </p:spPr>
      </p:pic>
      <p:sp>
        <p:nvSpPr>
          <p:cNvPr id="10" name="文字方塊 9">
            <a:extLst>
              <a:ext uri="{FF2B5EF4-FFF2-40B4-BE49-F238E27FC236}">
                <a16:creationId xmlns:a16="http://schemas.microsoft.com/office/drawing/2014/main" id="{646E6160-A243-40DF-B2D7-9463BA6B28F9}"/>
              </a:ext>
            </a:extLst>
          </p:cNvPr>
          <p:cNvSpPr txBox="1"/>
          <p:nvPr/>
        </p:nvSpPr>
        <p:spPr>
          <a:xfrm>
            <a:off x="9341496" y="1878440"/>
            <a:ext cx="2630795" cy="369332"/>
          </a:xfrm>
          <a:prstGeom prst="rect">
            <a:avLst/>
          </a:prstGeom>
          <a:noFill/>
        </p:spPr>
        <p:txBody>
          <a:bodyPr wrap="square">
            <a:spAutoFit/>
          </a:bodyPr>
          <a:lstStyle/>
          <a:p>
            <a:pPr algn="ctr"/>
            <a:r>
              <a:rPr lang="en-US" altLang="zh-TW" dirty="0"/>
              <a:t>List of available LLMs</a:t>
            </a:r>
            <a:endParaRPr lang="zh-TW" altLang="en-US" dirty="0"/>
          </a:p>
        </p:txBody>
      </p:sp>
      <p:sp>
        <p:nvSpPr>
          <p:cNvPr id="11" name="文字方塊 10">
            <a:extLst>
              <a:ext uri="{FF2B5EF4-FFF2-40B4-BE49-F238E27FC236}">
                <a16:creationId xmlns:a16="http://schemas.microsoft.com/office/drawing/2014/main" id="{9F207945-B0B2-40FE-AF6F-DA07CD42BDD0}"/>
              </a:ext>
            </a:extLst>
          </p:cNvPr>
          <p:cNvSpPr txBox="1"/>
          <p:nvPr/>
        </p:nvSpPr>
        <p:spPr>
          <a:xfrm>
            <a:off x="8529549" y="5578603"/>
            <a:ext cx="3379081" cy="646331"/>
          </a:xfrm>
          <a:prstGeom prst="rect">
            <a:avLst/>
          </a:prstGeom>
          <a:noFill/>
        </p:spPr>
        <p:txBody>
          <a:bodyPr wrap="square">
            <a:spAutoFit/>
          </a:bodyPr>
          <a:lstStyle/>
          <a:p>
            <a:r>
              <a:rPr lang="en-US" altLang="zh-TW" dirty="0"/>
              <a:t>The model name should match that shown in </a:t>
            </a:r>
            <a:r>
              <a:rPr lang="en-US" altLang="zh-TW" dirty="0" err="1"/>
              <a:t>ollama</a:t>
            </a:r>
            <a:r>
              <a:rPr lang="en-US" altLang="zh-TW" dirty="0"/>
              <a:t> list</a:t>
            </a:r>
            <a:endParaRPr lang="zh-TW" altLang="en-US" dirty="0"/>
          </a:p>
        </p:txBody>
      </p:sp>
    </p:spTree>
    <p:extLst>
      <p:ext uri="{BB962C8B-B14F-4D97-AF65-F5344CB8AC3E}">
        <p14:creationId xmlns:p14="http://schemas.microsoft.com/office/powerpoint/2010/main" val="201470192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17B23F-48D3-4F10-BEC7-BB4CAAAEB1F4}"/>
              </a:ext>
            </a:extLst>
          </p:cNvPr>
          <p:cNvSpPr>
            <a:spLocks noGrp="1"/>
          </p:cNvSpPr>
          <p:nvPr>
            <p:ph type="title"/>
          </p:nvPr>
        </p:nvSpPr>
        <p:spPr/>
        <p:txBody>
          <a:bodyPr/>
          <a:lstStyle/>
          <a:p>
            <a:r>
              <a:rPr kumimoji="1" lang="en-US" altLang="zh-TW" sz="2800" b="0" i="0" u="none" strike="noStrike" kern="0" cap="none" spc="0" normalizeH="0" baseline="0" noProof="0" dirty="0">
                <a:ln>
                  <a:noFill/>
                </a:ln>
                <a:solidFill>
                  <a:srgbClr val="000000">
                    <a:lumMod val="75000"/>
                    <a:lumOff val="25000"/>
                  </a:srgbClr>
                </a:solidFill>
                <a:effectLst/>
                <a:uLnTx/>
                <a:uFillTx/>
                <a:latin typeface="Arial"/>
                <a:ea typeface="微軟正黑體"/>
                <a:cs typeface="+mj-cs"/>
              </a:rPr>
              <a:t>Sending a Query to Your </a:t>
            </a:r>
            <a:r>
              <a:rPr kumimoji="1" lang="en-US" altLang="zh-TW" sz="2800" b="0" i="0" u="none" strike="noStrike" kern="0" cap="none" spc="0" normalizeH="0" baseline="0" noProof="0" dirty="0" err="1">
                <a:ln>
                  <a:noFill/>
                </a:ln>
                <a:solidFill>
                  <a:srgbClr val="000000">
                    <a:lumMod val="75000"/>
                    <a:lumOff val="25000"/>
                  </a:srgbClr>
                </a:solidFill>
                <a:effectLst/>
                <a:uLnTx/>
                <a:uFillTx/>
                <a:latin typeface="Arial"/>
                <a:ea typeface="微軟正黑體"/>
                <a:cs typeface="+mj-cs"/>
              </a:rPr>
              <a:t>Ollama</a:t>
            </a:r>
            <a:r>
              <a:rPr kumimoji="1" lang="en-US" altLang="zh-TW" sz="2800" b="0" i="0" u="none" strike="noStrike" kern="0" cap="none" spc="0" normalizeH="0" baseline="0" noProof="0" dirty="0">
                <a:ln>
                  <a:noFill/>
                </a:ln>
                <a:solidFill>
                  <a:srgbClr val="000000">
                    <a:lumMod val="75000"/>
                    <a:lumOff val="25000"/>
                  </a:srgbClr>
                </a:solidFill>
                <a:effectLst/>
                <a:uLnTx/>
                <a:uFillTx/>
                <a:latin typeface="Arial"/>
                <a:ea typeface="微軟正黑體"/>
                <a:cs typeface="+mj-cs"/>
              </a:rPr>
              <a:t> Server (inference_ollama.py)</a:t>
            </a:r>
            <a:endParaRPr lang="zh-TW" altLang="en-US" dirty="0"/>
          </a:p>
        </p:txBody>
      </p:sp>
      <p:sp>
        <p:nvSpPr>
          <p:cNvPr id="4" name="投影片編號版面配置區 3">
            <a:extLst>
              <a:ext uri="{FF2B5EF4-FFF2-40B4-BE49-F238E27FC236}">
                <a16:creationId xmlns:a16="http://schemas.microsoft.com/office/drawing/2014/main" id="{FF71D4C1-E7A0-4C36-938F-DF1C236759B4}"/>
              </a:ext>
            </a:extLst>
          </p:cNvPr>
          <p:cNvSpPr>
            <a:spLocks noGrp="1"/>
          </p:cNvSpPr>
          <p:nvPr>
            <p:ph type="sldNum" sz="quarter" idx="10"/>
          </p:nvPr>
        </p:nvSpPr>
        <p:spPr/>
        <p:txBody>
          <a:bodyPr/>
          <a:lstStyle/>
          <a:p>
            <a:pPr>
              <a:defRPr/>
            </a:pPr>
            <a:fld id="{CF627BE3-1269-44D5-A349-82FD5D94EBD8}" type="slidenum">
              <a:rPr lang="en-US" altLang="zh-TW" smtClean="0"/>
              <a:pPr>
                <a:defRPr/>
              </a:pPr>
              <a:t>86</a:t>
            </a:fld>
            <a:endParaRPr lang="en-US" altLang="zh-TW"/>
          </a:p>
        </p:txBody>
      </p:sp>
      <p:sp>
        <p:nvSpPr>
          <p:cNvPr id="10" name="文字方塊 9">
            <a:extLst>
              <a:ext uri="{FF2B5EF4-FFF2-40B4-BE49-F238E27FC236}">
                <a16:creationId xmlns:a16="http://schemas.microsoft.com/office/drawing/2014/main" id="{646E6160-A243-40DF-B2D7-9463BA6B28F9}"/>
              </a:ext>
            </a:extLst>
          </p:cNvPr>
          <p:cNvSpPr txBox="1"/>
          <p:nvPr/>
        </p:nvSpPr>
        <p:spPr>
          <a:xfrm>
            <a:off x="6818215" y="1774268"/>
            <a:ext cx="5090415" cy="646331"/>
          </a:xfrm>
          <a:prstGeom prst="rect">
            <a:avLst/>
          </a:prstGeom>
          <a:noFill/>
        </p:spPr>
        <p:txBody>
          <a:bodyPr wrap="square">
            <a:spAutoFit/>
          </a:bodyPr>
          <a:lstStyle/>
          <a:p>
            <a:r>
              <a:rPr lang="en-US" altLang="zh-TW" dirty="0"/>
              <a:t>Label your query and add any system prompts you wish</a:t>
            </a:r>
            <a:endParaRPr lang="zh-TW" altLang="en-US" dirty="0"/>
          </a:p>
        </p:txBody>
      </p:sp>
      <p:pic>
        <p:nvPicPr>
          <p:cNvPr id="6" name="內容版面配置區 5">
            <a:extLst>
              <a:ext uri="{FF2B5EF4-FFF2-40B4-BE49-F238E27FC236}">
                <a16:creationId xmlns:a16="http://schemas.microsoft.com/office/drawing/2014/main" id="{6CAED913-C797-4B1A-84B4-58123BD575B7}"/>
              </a:ext>
            </a:extLst>
          </p:cNvPr>
          <p:cNvPicPr>
            <a:picLocks noGrp="1" noChangeAspect="1"/>
          </p:cNvPicPr>
          <p:nvPr>
            <p:ph idx="1"/>
          </p:nvPr>
        </p:nvPicPr>
        <p:blipFill>
          <a:blip r:embed="rId2"/>
          <a:stretch>
            <a:fillRect/>
          </a:stretch>
        </p:blipFill>
        <p:spPr>
          <a:xfrm>
            <a:off x="675808" y="1144031"/>
            <a:ext cx="5973287" cy="5442329"/>
          </a:xfrm>
        </p:spPr>
      </p:pic>
      <p:sp>
        <p:nvSpPr>
          <p:cNvPr id="12" name="文字方塊 11">
            <a:extLst>
              <a:ext uri="{FF2B5EF4-FFF2-40B4-BE49-F238E27FC236}">
                <a16:creationId xmlns:a16="http://schemas.microsoft.com/office/drawing/2014/main" id="{CA4494A6-603D-4A00-A604-9365BBD52F8B}"/>
              </a:ext>
            </a:extLst>
          </p:cNvPr>
          <p:cNvSpPr txBox="1"/>
          <p:nvPr/>
        </p:nvSpPr>
        <p:spPr>
          <a:xfrm>
            <a:off x="5984341" y="2642186"/>
            <a:ext cx="5090415" cy="369332"/>
          </a:xfrm>
          <a:prstGeom prst="rect">
            <a:avLst/>
          </a:prstGeom>
          <a:noFill/>
        </p:spPr>
        <p:txBody>
          <a:bodyPr wrap="square">
            <a:spAutoFit/>
          </a:bodyPr>
          <a:lstStyle/>
          <a:p>
            <a:r>
              <a:rPr lang="en-US" altLang="zh-TW" dirty="0"/>
              <a:t>Create a client pointing to your </a:t>
            </a:r>
            <a:r>
              <a:rPr lang="en-US" altLang="zh-TW" dirty="0" err="1"/>
              <a:t>Ollama</a:t>
            </a:r>
            <a:r>
              <a:rPr lang="en-US" altLang="zh-TW" dirty="0"/>
              <a:t> server</a:t>
            </a:r>
            <a:endParaRPr lang="zh-TW" altLang="en-US" dirty="0"/>
          </a:p>
        </p:txBody>
      </p:sp>
      <p:sp>
        <p:nvSpPr>
          <p:cNvPr id="13" name="文字方塊 12">
            <a:extLst>
              <a:ext uri="{FF2B5EF4-FFF2-40B4-BE49-F238E27FC236}">
                <a16:creationId xmlns:a16="http://schemas.microsoft.com/office/drawing/2014/main" id="{C84529B6-9AEB-4479-8AA9-92100E106733}"/>
              </a:ext>
            </a:extLst>
          </p:cNvPr>
          <p:cNvSpPr txBox="1"/>
          <p:nvPr/>
        </p:nvSpPr>
        <p:spPr>
          <a:xfrm>
            <a:off x="4003848" y="3523875"/>
            <a:ext cx="6106638" cy="923330"/>
          </a:xfrm>
          <a:prstGeom prst="rect">
            <a:avLst/>
          </a:prstGeom>
          <a:noFill/>
        </p:spPr>
        <p:txBody>
          <a:bodyPr wrap="square">
            <a:spAutoFit/>
          </a:bodyPr>
          <a:lstStyle/>
          <a:p>
            <a:r>
              <a:rPr lang="en-US" altLang="zh-TW" dirty="0"/>
              <a:t>The chat completion is where you specify which model you wish to use (notice how you are not explicitly calling tokenizers now, it’s all being done beneath the hood)</a:t>
            </a:r>
            <a:endParaRPr lang="zh-TW" altLang="en-US" dirty="0"/>
          </a:p>
        </p:txBody>
      </p:sp>
      <p:sp>
        <p:nvSpPr>
          <p:cNvPr id="11" name="文字方塊 10">
            <a:extLst>
              <a:ext uri="{FF2B5EF4-FFF2-40B4-BE49-F238E27FC236}">
                <a16:creationId xmlns:a16="http://schemas.microsoft.com/office/drawing/2014/main" id="{9F207945-B0B2-40FE-AF6F-DA07CD42BDD0}"/>
              </a:ext>
            </a:extLst>
          </p:cNvPr>
          <p:cNvSpPr txBox="1"/>
          <p:nvPr/>
        </p:nvSpPr>
        <p:spPr>
          <a:xfrm>
            <a:off x="6180666" y="5543879"/>
            <a:ext cx="5090415" cy="646331"/>
          </a:xfrm>
          <a:prstGeom prst="rect">
            <a:avLst/>
          </a:prstGeom>
          <a:noFill/>
        </p:spPr>
        <p:txBody>
          <a:bodyPr wrap="square">
            <a:spAutoFit/>
          </a:bodyPr>
          <a:lstStyle/>
          <a:p>
            <a:r>
              <a:rPr lang="en-US" altLang="zh-TW" dirty="0"/>
              <a:t>Because we set stream=True, the LLM tokens will be streamed to the terminal in real time</a:t>
            </a:r>
            <a:endParaRPr lang="zh-TW" altLang="en-US" dirty="0"/>
          </a:p>
        </p:txBody>
      </p:sp>
    </p:spTree>
    <p:extLst>
      <p:ext uri="{BB962C8B-B14F-4D97-AF65-F5344CB8AC3E}">
        <p14:creationId xmlns:p14="http://schemas.microsoft.com/office/powerpoint/2010/main" val="42214267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BA25B7-5BA5-413C-BE37-BCC666048EDD}"/>
              </a:ext>
            </a:extLst>
          </p:cNvPr>
          <p:cNvSpPr>
            <a:spLocks noGrp="1"/>
          </p:cNvSpPr>
          <p:nvPr>
            <p:ph type="title"/>
          </p:nvPr>
        </p:nvSpPr>
        <p:spPr/>
        <p:txBody>
          <a:bodyPr/>
          <a:lstStyle/>
          <a:p>
            <a:r>
              <a:rPr kumimoji="1" lang="en-US" altLang="zh-TW" sz="4000" b="0" i="0" u="none" strike="noStrike" kern="0" cap="none" spc="0" normalizeH="0" baseline="0" noProof="0" dirty="0">
                <a:ln>
                  <a:noFill/>
                </a:ln>
                <a:solidFill>
                  <a:srgbClr val="000000">
                    <a:lumMod val="75000"/>
                    <a:lumOff val="25000"/>
                  </a:srgbClr>
                </a:solidFill>
                <a:effectLst/>
                <a:uLnTx/>
                <a:uFillTx/>
                <a:latin typeface="Arial"/>
                <a:ea typeface="微軟正黑體"/>
                <a:cs typeface="+mj-cs"/>
              </a:rPr>
              <a:t>Using </a:t>
            </a:r>
            <a:r>
              <a:rPr kumimoji="1" lang="en-US" altLang="zh-TW" sz="4000" b="0" i="0" u="none" strike="noStrike" kern="0" cap="none" spc="0" normalizeH="0" baseline="0" noProof="0" dirty="0" err="1">
                <a:ln>
                  <a:noFill/>
                </a:ln>
                <a:solidFill>
                  <a:srgbClr val="000000">
                    <a:lumMod val="75000"/>
                    <a:lumOff val="25000"/>
                  </a:srgbClr>
                </a:solidFill>
                <a:effectLst/>
                <a:uLnTx/>
                <a:uFillTx/>
                <a:latin typeface="Arial"/>
                <a:ea typeface="微軟正黑體"/>
                <a:cs typeface="+mj-cs"/>
              </a:rPr>
              <a:t>Ollama</a:t>
            </a:r>
            <a:r>
              <a:rPr kumimoji="1" lang="en-US" altLang="zh-TW" sz="4000" b="0" i="0" u="none" strike="noStrike" kern="0" cap="none" spc="0" normalizeH="0" baseline="0" noProof="0" dirty="0">
                <a:ln>
                  <a:noFill/>
                </a:ln>
                <a:solidFill>
                  <a:srgbClr val="000000">
                    <a:lumMod val="75000"/>
                    <a:lumOff val="25000"/>
                  </a:srgbClr>
                </a:solidFill>
                <a:effectLst/>
                <a:uLnTx/>
                <a:uFillTx/>
                <a:latin typeface="Arial"/>
                <a:ea typeface="微軟正黑體"/>
                <a:cs typeface="+mj-cs"/>
              </a:rPr>
              <a:t> as a Server (inference_ollama.py)</a:t>
            </a:r>
            <a:endParaRPr lang="zh-TW" altLang="en-US" dirty="0"/>
          </a:p>
        </p:txBody>
      </p:sp>
      <p:pic>
        <p:nvPicPr>
          <p:cNvPr id="6" name="內容版面配置區 5">
            <a:extLst>
              <a:ext uri="{FF2B5EF4-FFF2-40B4-BE49-F238E27FC236}">
                <a16:creationId xmlns:a16="http://schemas.microsoft.com/office/drawing/2014/main" id="{D662235C-4FA7-4185-BC7C-93176E2024E5}"/>
              </a:ext>
            </a:extLst>
          </p:cNvPr>
          <p:cNvPicPr>
            <a:picLocks noGrp="1" noChangeAspect="1"/>
          </p:cNvPicPr>
          <p:nvPr>
            <p:ph idx="1"/>
          </p:nvPr>
        </p:nvPicPr>
        <p:blipFill>
          <a:blip r:embed="rId2"/>
          <a:stretch>
            <a:fillRect/>
          </a:stretch>
        </p:blipFill>
        <p:spPr>
          <a:xfrm>
            <a:off x="617031" y="1648335"/>
            <a:ext cx="10957937" cy="3561329"/>
          </a:xfrm>
        </p:spPr>
      </p:pic>
      <p:sp>
        <p:nvSpPr>
          <p:cNvPr id="4" name="投影片編號版面配置區 3">
            <a:extLst>
              <a:ext uri="{FF2B5EF4-FFF2-40B4-BE49-F238E27FC236}">
                <a16:creationId xmlns:a16="http://schemas.microsoft.com/office/drawing/2014/main" id="{ADE8A5AE-85A5-435D-883C-CF0F6EE2D6CC}"/>
              </a:ext>
            </a:extLst>
          </p:cNvPr>
          <p:cNvSpPr>
            <a:spLocks noGrp="1"/>
          </p:cNvSpPr>
          <p:nvPr>
            <p:ph type="sldNum" sz="quarter" idx="10"/>
          </p:nvPr>
        </p:nvSpPr>
        <p:spPr/>
        <p:txBody>
          <a:bodyPr/>
          <a:lstStyle/>
          <a:p>
            <a:pPr>
              <a:defRPr/>
            </a:pPr>
            <a:fld id="{CF627BE3-1269-44D5-A349-82FD5D94EBD8}" type="slidenum">
              <a:rPr lang="en-US" altLang="zh-TW" smtClean="0"/>
              <a:pPr>
                <a:defRPr/>
              </a:pPr>
              <a:t>87</a:t>
            </a:fld>
            <a:endParaRPr lang="en-US" altLang="zh-TW"/>
          </a:p>
        </p:txBody>
      </p:sp>
    </p:spTree>
    <p:extLst>
      <p:ext uri="{BB962C8B-B14F-4D97-AF65-F5344CB8AC3E}">
        <p14:creationId xmlns:p14="http://schemas.microsoft.com/office/powerpoint/2010/main" val="16062504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A6CE78-53C1-483B-A562-00FC705F5C55}"/>
              </a:ext>
            </a:extLst>
          </p:cNvPr>
          <p:cNvSpPr>
            <a:spLocks noGrp="1"/>
          </p:cNvSpPr>
          <p:nvPr>
            <p:ph type="title"/>
          </p:nvPr>
        </p:nvSpPr>
        <p:spPr/>
        <p:txBody>
          <a:bodyPr/>
          <a:lstStyle/>
          <a:p>
            <a:r>
              <a:rPr lang="en-US" altLang="zh-TW" sz="3600" dirty="0"/>
              <a:t>Quiz: Function Calling Using Local LLMs (</a:t>
            </a:r>
            <a:r>
              <a:rPr lang="en-US" altLang="zh-TW" sz="3600" dirty="0" err="1"/>
              <a:t>Ollama</a:t>
            </a:r>
            <a:r>
              <a:rPr lang="en-US" altLang="zh-TW" sz="3600" dirty="0"/>
              <a:t>)</a:t>
            </a:r>
            <a:endParaRPr lang="zh-TW" altLang="en-US" sz="3600" dirty="0"/>
          </a:p>
        </p:txBody>
      </p:sp>
      <p:sp>
        <p:nvSpPr>
          <p:cNvPr id="3" name="內容版面配置區 2">
            <a:extLst>
              <a:ext uri="{FF2B5EF4-FFF2-40B4-BE49-F238E27FC236}">
                <a16:creationId xmlns:a16="http://schemas.microsoft.com/office/drawing/2014/main" id="{CEA50C01-0389-4EA8-BAA7-724101FF7D1C}"/>
              </a:ext>
            </a:extLst>
          </p:cNvPr>
          <p:cNvSpPr>
            <a:spLocks noGrp="1"/>
          </p:cNvSpPr>
          <p:nvPr>
            <p:ph idx="1"/>
          </p:nvPr>
        </p:nvSpPr>
        <p:spPr/>
        <p:txBody>
          <a:bodyPr/>
          <a:lstStyle/>
          <a:p>
            <a:r>
              <a:rPr lang="en-US" altLang="zh-TW" sz="2000" dirty="0"/>
              <a:t>Using the function calling prompt crafted earlier, successfully call the open-</a:t>
            </a:r>
            <a:r>
              <a:rPr lang="en-US" altLang="zh-TW" sz="2000" dirty="0" err="1"/>
              <a:t>meteo</a:t>
            </a:r>
            <a:r>
              <a:rPr lang="en-US" altLang="zh-TW" sz="2000" dirty="0"/>
              <a:t> API using function calling with the </a:t>
            </a:r>
            <a:r>
              <a:rPr lang="en-US" altLang="zh-TW" sz="2000" b="1" dirty="0"/>
              <a:t>gemma2:2b</a:t>
            </a:r>
            <a:r>
              <a:rPr lang="en-US" altLang="zh-TW" sz="2000" dirty="0"/>
              <a:t> model on </a:t>
            </a:r>
            <a:r>
              <a:rPr lang="en-US" altLang="zh-TW" sz="2000" dirty="0" err="1"/>
              <a:t>Ollama</a:t>
            </a:r>
            <a:r>
              <a:rPr lang="en-US" altLang="zh-TW" sz="2000" dirty="0"/>
              <a:t>.</a:t>
            </a:r>
          </a:p>
          <a:p>
            <a:pPr lvl="1"/>
            <a:r>
              <a:rPr lang="en-US" altLang="zh-TW" sz="1800" dirty="0"/>
              <a:t>Correctly configuring your </a:t>
            </a:r>
            <a:r>
              <a:rPr lang="en-US" altLang="zh-TW" sz="1800" dirty="0" err="1"/>
              <a:t>Ollama</a:t>
            </a:r>
            <a:r>
              <a:rPr lang="en-US" altLang="zh-TW" sz="1800" dirty="0"/>
              <a:t> server (20%)</a:t>
            </a:r>
          </a:p>
          <a:p>
            <a:pPr lvl="1"/>
            <a:r>
              <a:rPr lang="en-US" altLang="zh-TW" sz="1800" dirty="0"/>
              <a:t>Correctly importing the open-</a:t>
            </a:r>
            <a:r>
              <a:rPr lang="en-US" altLang="zh-TW" sz="1800" dirty="0" err="1"/>
              <a:t>meteo</a:t>
            </a:r>
            <a:r>
              <a:rPr lang="en-US" altLang="zh-TW" sz="1800" dirty="0"/>
              <a:t> API (20%)</a:t>
            </a:r>
          </a:p>
          <a:p>
            <a:pPr lvl="1"/>
            <a:r>
              <a:rPr lang="en-US" altLang="zh-TW" sz="1800" dirty="0"/>
              <a:t>Correctly parsing your LLM output as a json (you may need to do some string manipulation to get the correct formatting) (20%)</a:t>
            </a:r>
          </a:p>
          <a:p>
            <a:pPr lvl="1"/>
            <a:r>
              <a:rPr lang="en-US" altLang="zh-TW" sz="1800" dirty="0"/>
              <a:t>Using the LLM’s outputted json, call the open-</a:t>
            </a:r>
            <a:r>
              <a:rPr lang="en-US" altLang="zh-TW" sz="1800" dirty="0" err="1"/>
              <a:t>meteo</a:t>
            </a:r>
            <a:r>
              <a:rPr lang="en-US" altLang="zh-TW" sz="1800" dirty="0"/>
              <a:t> API and get the current weather in Taipei using the prompt: “What is the weather in Taipei?” (40%)</a:t>
            </a:r>
          </a:p>
          <a:p>
            <a:pPr lvl="2"/>
            <a:r>
              <a:rPr lang="en-US" altLang="zh-TW" sz="1400" dirty="0"/>
              <a:t>Hint: gemma2:2b knows the longitude and latitude coordinates of most major cities, so with the proper function calling tool list description, the LLM should automatically return Taipei’s coordinates in its function </a:t>
            </a:r>
            <a:r>
              <a:rPr lang="en-US" altLang="zh-TW" sz="1400"/>
              <a:t>calling output</a:t>
            </a:r>
            <a:endParaRPr lang="en-US" altLang="zh-TW" sz="1400" dirty="0"/>
          </a:p>
          <a:p>
            <a:endParaRPr lang="zh-TW" altLang="en-US" sz="2000" dirty="0"/>
          </a:p>
        </p:txBody>
      </p:sp>
      <p:sp>
        <p:nvSpPr>
          <p:cNvPr id="4" name="投影片編號版面配置區 3">
            <a:extLst>
              <a:ext uri="{FF2B5EF4-FFF2-40B4-BE49-F238E27FC236}">
                <a16:creationId xmlns:a16="http://schemas.microsoft.com/office/drawing/2014/main" id="{E4DA964E-37B3-4007-84EA-C6C56AF18EE6}"/>
              </a:ext>
            </a:extLst>
          </p:cNvPr>
          <p:cNvSpPr>
            <a:spLocks noGrp="1"/>
          </p:cNvSpPr>
          <p:nvPr>
            <p:ph type="sldNum" sz="quarter" idx="10"/>
          </p:nvPr>
        </p:nvSpPr>
        <p:spPr/>
        <p:txBody>
          <a:bodyPr/>
          <a:lstStyle/>
          <a:p>
            <a:pPr>
              <a:defRPr/>
            </a:pPr>
            <a:fld id="{CF627BE3-1269-44D5-A349-82FD5D94EBD8}" type="slidenum">
              <a:rPr lang="en-US" altLang="zh-TW" smtClean="0"/>
              <a:pPr>
                <a:defRPr/>
              </a:pPr>
              <a:t>88</a:t>
            </a:fld>
            <a:endParaRPr lang="en-US" altLang="zh-TW"/>
          </a:p>
        </p:txBody>
      </p:sp>
    </p:spTree>
    <p:extLst>
      <p:ext uri="{BB962C8B-B14F-4D97-AF65-F5344CB8AC3E}">
        <p14:creationId xmlns:p14="http://schemas.microsoft.com/office/powerpoint/2010/main" val="3617023513"/>
      </p:ext>
    </p:extLst>
  </p:cSld>
  <p:clrMapOvr>
    <a:masterClrMapping/>
  </p:clrMapOvr>
</p:sld>
</file>

<file path=ppt/theme/theme1.xml><?xml version="1.0" encoding="utf-8"?>
<a:theme xmlns:a="http://schemas.openxmlformats.org/drawingml/2006/main" name="簡報內頁">
  <a:themeElements>
    <a:clrScheme name="簡報內頁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簡報內頁">
      <a:majorFont>
        <a:latin typeface="Arial"/>
        <a:ea typeface="微軟正黑體"/>
        <a:cs typeface=""/>
      </a:majorFont>
      <a:minorFont>
        <a:latin typeface="Arial"/>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lnDef>
  </a:objectDefaults>
  <a:extraClrSchemeLst>
    <a:extraClrScheme>
      <a:clrScheme name="簡報內頁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簡報內頁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簡報內頁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簡報內頁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簡報內頁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簡報內頁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簡報內頁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簡報內頁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簡報內頁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簡報內頁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簡報內頁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簡報內頁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27944</TotalTime>
  <Words>6161</Words>
  <Application>Microsoft Office PowerPoint</Application>
  <PresentationFormat>Widescreen</PresentationFormat>
  <Paragraphs>772</Paragraphs>
  <Slides>88</Slides>
  <Notes>26</Notes>
  <HiddenSlides>6</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88</vt:i4>
      </vt:variant>
    </vt:vector>
  </HeadingPairs>
  <TitlesOfParts>
    <vt:vector size="98" baseType="lpstr">
      <vt:lpstr>微軟正黑體</vt:lpstr>
      <vt:lpstr>Spectral</vt:lpstr>
      <vt:lpstr>Arial</vt:lpstr>
      <vt:lpstr>Calibri</vt:lpstr>
      <vt:lpstr>Cambria Math</vt:lpstr>
      <vt:lpstr>Consolas</vt:lpstr>
      <vt:lpstr>Poppins</vt:lpstr>
      <vt:lpstr>Times New Roman</vt:lpstr>
      <vt:lpstr>Wingdings</vt:lpstr>
      <vt:lpstr>簡報內頁</vt:lpstr>
      <vt:lpstr>Introduction to LLM (Large Language Model) Applications on AMD Platforms</vt:lpstr>
      <vt:lpstr>Lesson Outline</vt:lpstr>
      <vt:lpstr>Goals</vt:lpstr>
      <vt:lpstr>Speaker Introduction</vt:lpstr>
      <vt:lpstr>Foundations of LLMs</vt:lpstr>
      <vt:lpstr>What is a LLM?</vt:lpstr>
      <vt:lpstr>Background For LLMs: Tokenizer</vt:lpstr>
      <vt:lpstr>Comparison With CNN</vt:lpstr>
      <vt:lpstr>What LLMs Are Out There?</vt:lpstr>
      <vt:lpstr>Basics of LLM Fine Tuning</vt:lpstr>
      <vt:lpstr>Full Fine Tuning</vt:lpstr>
      <vt:lpstr>Low-Rank Adaptation (LoRA)</vt:lpstr>
      <vt:lpstr>Low-Rank Adaptation (LoRA)</vt:lpstr>
      <vt:lpstr>Retrieval-Augmented Generation (RAG)</vt:lpstr>
      <vt:lpstr>What is RAG (Retrieval-Augmented Generation)?</vt:lpstr>
      <vt:lpstr>RAG Encoder</vt:lpstr>
      <vt:lpstr>An Example RAG Framework</vt:lpstr>
      <vt:lpstr>RAG At Work</vt:lpstr>
      <vt:lpstr>When to Use RAG?</vt:lpstr>
      <vt:lpstr>Function/Tool Calling: Using Natural Language to Interface with External APIs</vt:lpstr>
      <vt:lpstr>Tools/Function Calling</vt:lpstr>
      <vt:lpstr>Essential Components of Function Calling</vt:lpstr>
      <vt:lpstr>What Happens If You Lack the Essential Components?</vt:lpstr>
      <vt:lpstr>What Happens If You Lack the Essential Components?</vt:lpstr>
      <vt:lpstr>What Happens If You Lack the Essential Components?</vt:lpstr>
      <vt:lpstr>Our Model Can Call Functions, Now What? </vt:lpstr>
      <vt:lpstr>Our Model Can Call Functions, Now What? </vt:lpstr>
      <vt:lpstr>Function Calling Prompt Crafting</vt:lpstr>
      <vt:lpstr>Function Calling Prompt Crafting</vt:lpstr>
      <vt:lpstr>Function Calling Prompt Crafting</vt:lpstr>
      <vt:lpstr>Function Calling Prompt Crafting</vt:lpstr>
      <vt:lpstr>Function Calling Prompt Crafting</vt:lpstr>
      <vt:lpstr>Function Calling Prompt Crafting</vt:lpstr>
      <vt:lpstr>Putting Everything Together</vt:lpstr>
      <vt:lpstr>A More Complex Example</vt:lpstr>
      <vt:lpstr>We Have Our Model and Prompt, Now What? </vt:lpstr>
      <vt:lpstr>System Integration</vt:lpstr>
      <vt:lpstr>Before We Continue</vt:lpstr>
      <vt:lpstr>Difference Between Nvidia/CUDA and AMD/ROCm Platforms</vt:lpstr>
      <vt:lpstr>Difference Between AMD and Nvidia Platforms</vt:lpstr>
      <vt:lpstr>Setting Up Your Environment</vt:lpstr>
      <vt:lpstr>Interfacing with the MI300 Server</vt:lpstr>
      <vt:lpstr>MI300 Server Information</vt:lpstr>
      <vt:lpstr>vLLM Interface</vt:lpstr>
      <vt:lpstr>How to Access Server Resources</vt:lpstr>
      <vt:lpstr>How to Access Server Resources</vt:lpstr>
      <vt:lpstr>RAG Using MI300 Generator and Local Data</vt:lpstr>
      <vt:lpstr>Problem Rehash</vt:lpstr>
      <vt:lpstr>Building a Vector Store for Retrieving Relevant Context (vllm_rag.py)</vt:lpstr>
      <vt:lpstr>Retrieval Step (vllm_rag.py)</vt:lpstr>
      <vt:lpstr>Generating a Response using vLLM (vllm_rag.py)</vt:lpstr>
      <vt:lpstr>Putting Everything Together (vllm_rag.py)</vt:lpstr>
      <vt:lpstr>Without RAG</vt:lpstr>
      <vt:lpstr>RAG Using vLLM (vllm_rag.py)</vt:lpstr>
      <vt:lpstr>Function Calling Implementation</vt:lpstr>
      <vt:lpstr>Function Calling Example: Function Declaration (vllm_function_calling.py)</vt:lpstr>
      <vt:lpstr>Function Calling Example: API Integration (vllm_function_calling.py)</vt:lpstr>
      <vt:lpstr>Function Calling Example: Output (vllm_function_calling.py)</vt:lpstr>
      <vt:lpstr>Further Reading/Resources</vt:lpstr>
      <vt:lpstr>MLSteam Platform Application</vt:lpstr>
      <vt:lpstr>Conclusion</vt:lpstr>
      <vt:lpstr>Preparations for Working With LLMs</vt:lpstr>
      <vt:lpstr>Downloading LLMs</vt:lpstr>
      <vt:lpstr>Downloading LLMs (1) – Manual Download</vt:lpstr>
      <vt:lpstr>Downloading LLMs (2) - Git</vt:lpstr>
      <vt:lpstr>Downloading LLMs (3) – Huggingface/Transformers </vt:lpstr>
      <vt:lpstr>Huggingface Access Tokens</vt:lpstr>
      <vt:lpstr>How to Create Your Huggingface Access Tokens</vt:lpstr>
      <vt:lpstr>How to Create Your Huggingface Access Tokens</vt:lpstr>
      <vt:lpstr>How to Provide Your Huggingface Access Tokens</vt:lpstr>
      <vt:lpstr>How to Provide Your Huggingface Access Tokens</vt:lpstr>
      <vt:lpstr>Transformers Example: Imports + Model Loading</vt:lpstr>
      <vt:lpstr>LLM Deployment Using Transformers</vt:lpstr>
      <vt:lpstr>Inferencing with Transformers</vt:lpstr>
      <vt:lpstr>Inference Code Example (modified inference_transformers.py to fit on screen)</vt:lpstr>
      <vt:lpstr>Inference Code Example: Output (inference_transformers.py)</vt:lpstr>
      <vt:lpstr>LLM Deployment Alternatives</vt:lpstr>
      <vt:lpstr>LLM Deployment Tools</vt:lpstr>
      <vt:lpstr>Ollama</vt:lpstr>
      <vt:lpstr>Setting Up Ollama (Linux)</vt:lpstr>
      <vt:lpstr>Setting Up Ollama (Windows)</vt:lpstr>
      <vt:lpstr>Running Ollama as a Chatbot on Command Line</vt:lpstr>
      <vt:lpstr>Working With Modelfiles in Ollama (Linux)</vt:lpstr>
      <vt:lpstr>Using Ollama as a Server</vt:lpstr>
      <vt:lpstr>Sending a Query to Your Ollama Server (inference_ollama.py)</vt:lpstr>
      <vt:lpstr>Sending a Query to Your Ollama Server (inference_ollama.py)</vt:lpstr>
      <vt:lpstr>Using Ollama as a Server (inference_ollama.py)</vt:lpstr>
      <vt:lpstr>Quiz: Function Calling Using Local LLMs (Ollama)</vt:lpstr>
    </vt:vector>
  </TitlesOfParts>
  <Company>TAS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ITRI投影片範本B</dc:title>
  <dc:creator>ITRI</dc:creator>
  <cp:keywords>2008NewCIS</cp:keywords>
  <cp:lastModifiedBy>Sean Huang</cp:lastModifiedBy>
  <cp:revision>392</cp:revision>
  <dcterms:created xsi:type="dcterms:W3CDTF">2008-05-08T04:38:45Z</dcterms:created>
  <dcterms:modified xsi:type="dcterms:W3CDTF">2026-04-28T09:31:02Z</dcterms:modified>
</cp:coreProperties>
</file>